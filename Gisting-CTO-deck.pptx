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0">
                <a:solidFill>
                  <a:srgbClr val="9FB2B6"/>
                </a:solidFill>
                <a:latin typeface="Consolas"/>
              </a:rPr>
              <a:t>requests / minute vs concurrent sessions  (H100, mean of 3 repeats)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full prompt</c:v>
                </c:pt>
              </c:strCache>
            </c:strRef>
          </c:tx>
          <c:spPr>
            <a:ln w="38100">
              <a:solidFill>
                <a:srgbClr val="4A5A60"/>
              </a:solidFill>
            </a:ln>
          </c:spPr>
          <c:cat>
            <c:strRef>
              <c:f>Sheet1!$A$2:$A$9</c:f>
              <c:strCache>
                <c:ptCount val="8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48</c:v>
                </c:pt>
                <c:pt idx="7">
                  <c:v>64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13.1</c:v>
                </c:pt>
                <c:pt idx="1">
                  <c:v>22.7</c:v>
                </c:pt>
                <c:pt idx="2">
                  <c:v>36.9</c:v>
                </c:pt>
                <c:pt idx="3">
                  <c:v>34.7</c:v>
                </c:pt>
                <c:pt idx="4">
                  <c:v>42.7</c:v>
                </c:pt>
                <c:pt idx="5">
                  <c:v>42.7</c:v>
                </c:pt>
                <c:pt idx="6">
                  <c:v>32.0</c:v>
                </c:pt>
                <c:pt idx="7">
                  <c:v>29.3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gist 8:1</c:v>
                </c:pt>
              </c:strCache>
            </c:strRef>
          </c:tx>
          <c:spPr>
            <a:ln w="38100">
              <a:solidFill>
                <a:srgbClr val="C39BE0"/>
              </a:solidFill>
            </a:ln>
          </c:spPr>
          <c:cat>
            <c:strRef>
              <c:f>Sheet1!$A$2:$A$9</c:f>
              <c:strCache>
                <c:ptCount val="8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16</c:v>
                </c:pt>
                <c:pt idx="5">
                  <c:v>32</c:v>
                </c:pt>
                <c:pt idx="6">
                  <c:v>48</c:v>
                </c:pt>
                <c:pt idx="7">
                  <c:v>64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14.7</c:v>
                </c:pt>
                <c:pt idx="1">
                  <c:v>25.3</c:v>
                </c:pt>
                <c:pt idx="2">
                  <c:v>42.7</c:v>
                </c:pt>
                <c:pt idx="3">
                  <c:v>48.0</c:v>
                </c:pt>
                <c:pt idx="4">
                  <c:v>59.3</c:v>
                </c:pt>
                <c:pt idx="5">
                  <c:v>61.3</c:v>
                </c:pt>
                <c:pt idx="6">
                  <c:v>52.7</c:v>
                </c:pt>
                <c:pt idx="7">
                  <c:v>41.3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5333A"/>
            </a:solidFill>
          </a:ln>
        </c:spPr>
        <c:txPr>
          <a:bodyPr/>
          <a:lstStyle/>
          <a:p>
            <a:pPr>
              <a:defRPr sz="1200">
                <a:solidFill>
                  <a:srgbClr val="9FB2B6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1B262B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25333A"/>
            </a:solidFill>
          </a:ln>
        </c:spPr>
        <c:txPr>
          <a:bodyPr/>
          <a:lstStyle/>
          <a:p>
            <a:pPr>
              <a:defRPr sz="1200">
                <a:solidFill>
                  <a:srgbClr val="9FB2B6"/>
                </a:solidFill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200">
              <a:solidFill>
                <a:srgbClr val="9FB2B6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LATTICE · COST OPTIMIZATION · NEW PILLAR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5156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4400" b="1">
                <a:solidFill>
                  <a:srgbClr val="EEF3F3"/>
                </a:solidFill>
                <a:latin typeface="Georgia"/>
              </a:rPr>
              <a:t>Gisting: cutting the prompt tax every agent call pays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40480"/>
            <a:ext cx="96012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00" b="0">
                <a:solidFill>
                  <a:srgbClr val="9FB2B6"/>
                </a:solidFill>
                <a:latin typeface="Calibri"/>
              </a:rPr>
              <a:t>A learned shorthand for the fixed preamble a coding-agent harness re-sends on every model call. Proven on one harness and model pairing, and built to carry to the others.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onsolas"/>
              </a:rPr>
              <a:t>Arun Menon · arumenon@paypal.com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3FB0C6"/>
                </a:solidFill>
                <a:latin typeface="Consolas"/>
              </a:rPr>
              <a:t>First pairing: Claude Code → proxy → vLLM → Qwen3.8-27B (open weights, self-hosted)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BOTTOM LINE UP FRONT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The answer in four lines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2583180" cy="384048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39696"/>
            <a:ext cx="2071116" cy="3401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WHERE IT FITS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0">
                <a:solidFill>
                  <a:srgbClr val="EEF3F3"/>
                </a:solidFill>
                <a:latin typeface="Calibri"/>
              </a:rPr>
              <a:t>A new pillar under Lattice, alongside the meta-harness, adaptive routing and model distillation tracks. Gisting cuts the fixed prompt a coding agent re-sends on every call.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06140" y="1920240"/>
            <a:ext cx="2583180" cy="384048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62172" y="2139696"/>
            <a:ext cx="2071116" cy="3401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C39BE0"/>
                </a:solidFill>
                <a:latin typeface="Consolas"/>
              </a:rPr>
              <a:t>WHAT WE SHOWED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0">
                <a:solidFill>
                  <a:srgbClr val="EEF3F3"/>
                </a:solidFill>
                <a:latin typeface="Calibri"/>
              </a:rPr>
              <a:t>On Claude Code with Qwen: task scores held at every compression ratio, input per turn more than halved, and on an H100 2x the request rate within the latency target, +44% peak throughput.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920240"/>
            <a:ext cx="2583180" cy="384048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8232" y="2139696"/>
            <a:ext cx="2071116" cy="3401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E3B24C"/>
                </a:solidFill>
                <a:latin typeface="Consolas"/>
              </a:rPr>
              <a:t>WHAT IT ISN’T YET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0">
                <a:solidFill>
                  <a:srgbClr val="EEF3F3"/>
                </a:solidFill>
                <a:latin typeface="Calibri"/>
              </a:rPr>
              <a:t>One pairing, our own task suite, short replay windows. Savings per task are not proven, and the mechanism is still open.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38260" y="1920240"/>
            <a:ext cx="2583180" cy="384048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94292" y="2139696"/>
            <a:ext cx="2071116" cy="3401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57C08A"/>
                </a:solidFill>
                <a:latin typeface="Consolas"/>
              </a:rPr>
              <a:t>THE ASK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0">
                <a:solidFill>
                  <a:srgbClr val="EEF3F3"/>
                </a:solidFill>
                <a:latin typeface="Calibri"/>
              </a:rPr>
              <a:t>Run the same experiment suite on the next harness and distilled-model pair, validate on held-out work, then a guarded pilot.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LATTICE · COST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A new pillar under Lattice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9FB2B6"/>
                </a:solidFill>
                <a:latin typeface="Calibri"/>
              </a:rPr>
              <a:t>Gisting’s lever on total cost: the model reads fewer tokens on every agent call, so the same GPU does more work.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26080"/>
            <a:ext cx="2583180" cy="21945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3145536"/>
            <a:ext cx="2071116" cy="17556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META-HARNESS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Adapter that routes different harnesses to underlying models.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06140" y="2926080"/>
            <a:ext cx="2583180" cy="21945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62172" y="3145536"/>
            <a:ext cx="2071116" cy="17556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ADAPTIVE ROUTING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Research track.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926080"/>
            <a:ext cx="2583180" cy="21945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3145536"/>
            <a:ext cx="2071116" cy="17556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MODEL DISTILLATION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Research track.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38260" y="2926080"/>
            <a:ext cx="2583180" cy="21945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5A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94292" y="3145536"/>
            <a:ext cx="2071116" cy="17556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C39BE0"/>
                </a:solidFill>
                <a:latin typeface="Consolas"/>
              </a:rPr>
              <a:t>GISTING · NEW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Shrinks the fixed prompt every agent call carries. This deck.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TAX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Most of every call is the same boilerplate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286000"/>
            <a:ext cx="8460028" cy="1051560"/>
          </a:xfrm>
          <a:prstGeom prst="rect">
            <a:avLst/>
          </a:prstGeom>
          <a:solidFill>
            <a:srgbClr val="1F5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1" y="2286000"/>
            <a:ext cx="8158276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Tool schemas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~16,000 tokens  ·  &gt;90% of the block</a:t>
            </a:r>
          </a:p>
        </p:txBody>
      </p:sp>
      <p:sp>
        <p:nvSpPr>
          <p:cNvPr id="7" name="Rectangle 6"/>
          <p:cNvSpPr/>
          <p:nvPr/>
        </p:nvSpPr>
        <p:spPr>
          <a:xfrm>
            <a:off x="9127540" y="2286000"/>
            <a:ext cx="951890" cy="1051560"/>
          </a:xfrm>
          <a:prstGeom prst="rect">
            <a:avLst/>
          </a:prstGeom>
          <a:solidFill>
            <a:srgbClr val="E08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92132" y="2286000"/>
            <a:ext cx="650138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Rules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Calibri"/>
              </a:rPr>
              <a:t>~1.3k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06863" y="2286000"/>
            <a:ext cx="1387144" cy="1051560"/>
          </a:xfrm>
          <a:prstGeom prst="rect">
            <a:avLst/>
          </a:prstGeom>
          <a:solidFill>
            <a:srgbClr val="2B3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71455" y="2286000"/>
            <a:ext cx="1085392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Per-session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Calibri"/>
              </a:rPr>
              <a:t>kept raw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86200"/>
            <a:ext cx="3474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E08A4C"/>
                </a:solidFill>
                <a:latin typeface="Consolas"/>
              </a:rPr>
              <a:t>17.5–21k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453128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fixed tokens on every call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886200"/>
            <a:ext cx="3474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E08A4C"/>
                </a:solidFill>
                <a:latin typeface="Consolas"/>
              </a:rPr>
              <a:t>&gt;90%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4453128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is tool schemas, not rules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3886200"/>
            <a:ext cx="3474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3FB0C6"/>
                </a:solidFill>
                <a:latin typeface="Consolas"/>
              </a:rPr>
              <a:t>0.72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4453128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of a short session’s input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30352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alibri"/>
              </a:rPr>
              <a:t>Measured on Claude Code with the Qwen tokenizer. Any harness that exposes tools pays a version of this, but its size and makeup differ, so the span study is rerun for every harness and model pair.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RECIPE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Four steps, most of them reusable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2468880" cy="224028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92024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E08A4C"/>
                </a:solidFill>
                <a:latin typeface="Consolas"/>
              </a:rPr>
              <a:t>00 · PER PAIR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Georgia"/>
              </a:rPr>
              <a:t>Study the span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9FB2B6"/>
                </a:solidFill>
                <a:latin typeface="Calibri"/>
              </a:rPr>
              <a:t>Measure what the harness re-sends on every call: what is fixed, what is per-session, and its share of each call.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90672" y="2674620"/>
            <a:ext cx="411479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874519"/>
            <a:ext cx="2468880" cy="224028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03320" y="2103120"/>
            <a:ext cx="192024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3FB0C6"/>
                </a:solidFill>
                <a:latin typeface="Consolas"/>
              </a:rPr>
              <a:t>01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Georgia"/>
              </a:rPr>
              <a:t>Grow the vocabulary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9FB2B6"/>
                </a:solidFill>
                <a:latin typeface="Calibri"/>
              </a:rPr>
              <a:t>Add a few thousand new “gist” tokens, seeded from the block they replace.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79592" y="2674620"/>
            <a:ext cx="411479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874519"/>
            <a:ext cx="2468880" cy="224028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103120"/>
            <a:ext cx="192024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3FB0C6"/>
                </a:solidFill>
                <a:latin typeface="Consolas"/>
              </a:rPr>
              <a:t>02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Georgia"/>
              </a:rPr>
              <a:t>Self-distil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9FB2B6"/>
                </a:solidFill>
                <a:latin typeface="Calibri"/>
              </a:rPr>
              <a:t>The model learns to behave the same on the short form. Base weights frozen; only the new rows train.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68512" y="2674620"/>
            <a:ext cx="411479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40" y="1874519"/>
            <a:ext cx="2468880" cy="224028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81160" y="2103120"/>
            <a:ext cx="192024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3FB0C6"/>
                </a:solidFill>
                <a:latin typeface="Consolas"/>
              </a:rPr>
              <a:t>03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Georgia"/>
              </a:rPr>
              <a:t>Swap in a proxy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9FB2B6"/>
                </a:solidFill>
                <a:latin typeface="Calibri"/>
              </a:rPr>
              <a:t>The proxy replaces the preamble with gist tokens. No change to the harness or the engine.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43400"/>
            <a:ext cx="5349240" cy="169164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2C5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562856"/>
            <a:ext cx="4837176" cy="1252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57C08A"/>
                </a:solidFill>
                <a:latin typeface="Consolas"/>
              </a:rPr>
              <a:t>REUSED AS IS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Training loop, proxy, evaluation harness, and the automated GPU lab that runs them.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4343400"/>
            <a:ext cx="5349240" cy="169164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5A40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8232" y="4562856"/>
            <a:ext cx="4837176" cy="1252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E08A4C"/>
                </a:solidFill>
                <a:latin typeface="Consolas"/>
              </a:rPr>
              <a:t>RERUN PER PAIR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The whole experiment suite, span study first, runs again for each harness and distilled-model pair. Needs a model whose weights we host.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PROOF ON THE FIRST PAIRING · CLAUDE CODE × QWEN3.8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The short prompt did the same 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1737360" cy="109728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1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17373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3FB0C6"/>
                </a:solidFill>
                <a:latin typeface="Consolas"/>
              </a:rPr>
              <a:t>2:1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12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1920240"/>
            <a:ext cx="1737360" cy="109728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1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51760" y="2011680"/>
            <a:ext cx="17373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3FB0C6"/>
                </a:solidFill>
                <a:latin typeface="Consolas"/>
              </a:rPr>
              <a:t>4:1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12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1920240"/>
            <a:ext cx="1737360" cy="109728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1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2011680"/>
            <a:ext cx="17373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3FB0C6"/>
                </a:solidFill>
                <a:latin typeface="Consolas"/>
              </a:rPr>
              <a:t>8:1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12 / 12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1920240"/>
            <a:ext cx="1737360" cy="109728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1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2011680"/>
            <a:ext cx="17373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200" b="1">
                <a:solidFill>
                  <a:srgbClr val="3FB0C6"/>
                </a:solidFill>
                <a:latin typeface="Consolas"/>
              </a:rPr>
              <a:t>16:1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12 /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29184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9FB2B6"/>
                </a:solidFill>
                <a:latin typeface="Calibri"/>
              </a:rPr>
              <a:t>Every compression ratio matched the full prompt on the task suite, while input per turn fell from ~24k to ~9–11k tokens. We run at 8:1: 16:1 bought only about 60% of the serving gain for more risk.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3484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9FB2B6"/>
                </a:solidFill>
                <a:latin typeface="Calibri"/>
              </a:rPr>
              <a:t>The one failure that mattered: session values such as the working path must stay raw. Fixing that took a harder suite from 11/16 to 16/16.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486400"/>
            <a:ext cx="4389120" cy="45720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5A4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541264"/>
            <a:ext cx="4206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E3B24C"/>
                </a:solidFill>
                <a:latin typeface="Consolas"/>
              </a:rPr>
              <a:t>single runs · small, partly reused suites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PAYOFF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More work from the same GPU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920240"/>
          <a:ext cx="676656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680960" y="2011680"/>
            <a:ext cx="39319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C39BE0"/>
                </a:solidFill>
                <a:latin typeface="Consolas"/>
              </a:rPr>
              <a:t>2x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request rate within the latency target (18 → 36 req/min)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3FB0C6"/>
                </a:solidFill>
                <a:latin typeface="Consolas"/>
              </a:rPr>
              <a:t>+44%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peak throughput, same H100 (42.7 → 61.3 req/min)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EEF3F3"/>
                </a:solidFill>
                <a:latin typeface="Calibri"/>
              </a:rPr>
              <a:t>A capacity lever, not a speed lever: a single reply is barely faster. The gain comes on top of prefix caching.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9FB2B6"/>
                </a:solidFill>
                <a:latin typeface="Calibri"/>
              </a:rPr>
              <a:t>Short replay windows on one GPU class. On a larger H200 the peak gain was near zero, and the per-dollar comparison came out roughly even (appendix).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SYNERGY WITHIN LATTICE ·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Distil first, then gist the distilled model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1645920" cy="10515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6459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Base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2103120"/>
            <a:ext cx="41148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2103120"/>
            <a:ext cx="1463040" cy="10515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97480" y="2103120"/>
            <a:ext cx="146304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Distil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FB2B6"/>
                </a:solidFill>
                <a:latin typeface="Consolas"/>
              </a:rPr>
              <a:t>distillation track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2103120"/>
            <a:ext cx="41148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2103120"/>
            <a:ext cx="1828800" cy="10515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103120"/>
            <a:ext cx="18288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Student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103120"/>
            <a:ext cx="41148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12280" y="2103120"/>
            <a:ext cx="1371600" cy="10515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5A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12280" y="2103120"/>
            <a:ext cx="13716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C39BE0"/>
                </a:solidFill>
                <a:latin typeface="Calibri"/>
              </a:rPr>
              <a:t>Gist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9FB2B6"/>
                </a:solidFill>
                <a:latin typeface="Consolas"/>
              </a:rPr>
              <a:t>this recipe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2103120"/>
            <a:ext cx="41148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95360" y="2103120"/>
            <a:ext cx="2377440" cy="105156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2103120"/>
            <a:ext cx="237744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Smaller model, shorter prompt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6616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0">
                <a:solidFill>
                  <a:srgbClr val="9FB2B6"/>
                </a:solidFill>
                <a:latin typeface="Calibri"/>
              </a:rPr>
              <a:t>A distilled student model still receives the same fixed preamble on every call. Running the gisting recipe on it attacks both costs at once: a smaller model reading a shorter prompt.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029200"/>
            <a:ext cx="3108960" cy="45720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5A4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084064"/>
            <a:ext cx="2926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E3B24C"/>
                </a:solidFill>
                <a:latin typeface="Consolas"/>
              </a:rPr>
              <a:t>proposal · not yet tested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WHERE IT COULD LAND ·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A first home in the Jetstream inner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2412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0">
                <a:solidFill>
                  <a:srgbClr val="9FB2B6"/>
                </a:solidFill>
                <a:latin typeface="Calibri"/>
              </a:rPr>
              <a:t>The Jetstream inner loop takes a ticket to a PR through coding agents on different harnesses. We propose it as the first place to trial gisting, one harness and model pair at a time.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657600"/>
            <a:ext cx="1463040" cy="45720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5A4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712463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E3B24C"/>
                </a:solidFill>
                <a:latin typeface="Consolas"/>
              </a:rPr>
              <a:t>proposal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38912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alibri"/>
              </a:rPr>
              <a:t>Gisting applies where the agent calls a model whose weights we host.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HONEST LEDGER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What’s proven, what isn’t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5257800" cy="3977639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C5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47091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200" b="1">
                <a:solidFill>
                  <a:srgbClr val="57C08A"/>
                </a:solidFill>
                <a:latin typeface="Consolas"/>
              </a:rPr>
              <a:t>ESTABLISHED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450" b="0">
                <a:solidFill>
                  <a:srgbClr val="EEF3F3"/>
                </a:solidFill>
                <a:latin typeface="Calibri"/>
              </a:rPr>
              <a:t>▪  Equal task scores at every ratio on our suites.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450" b="0">
                <a:solidFill>
                  <a:srgbClr val="EEF3F3"/>
                </a:solidFill>
                <a:latin typeface="Calibri"/>
              </a:rPr>
              <a:t>▪  Half to two thirds fewer tokens read per turn.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450" b="0">
                <a:solidFill>
                  <a:srgbClr val="EEF3F3"/>
                </a:solidFill>
                <a:latin typeface="Calibri"/>
              </a:rPr>
              <a:t>▪  H100 replay: 2x rate within the latency target, +44% peak.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450" b="0">
                <a:solidFill>
                  <a:srgbClr val="EEF3F3"/>
                </a:solidFill>
                <a:latin typeface="Calibri"/>
              </a:rPr>
              <a:t>▪  A reusable, spend-safe lab that runs the recipe end to end.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965960"/>
            <a:ext cx="5257800" cy="3977639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5A4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59" y="2194560"/>
            <a:ext cx="470916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200" b="1">
                <a:solidFill>
                  <a:srgbClr val="E3B24C"/>
                </a:solidFill>
                <a:latin typeface="Consolas"/>
              </a:rPr>
              <a:t>NOT YET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450" b="0">
                <a:solidFill>
                  <a:srgbClr val="EEF3F3"/>
                </a:solidFill>
                <a:latin typeface="Calibri"/>
              </a:rPr>
              <a:t>▪  The experiment suite on a second harness and distilled-model pair.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450" b="0">
                <a:solidFill>
                  <a:srgbClr val="EEF3F3"/>
                </a:solidFill>
                <a:latin typeface="Calibri"/>
              </a:rPr>
              <a:t>▪  Quality on held-out work, and at production load.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450" b="0">
                <a:solidFill>
                  <a:srgbClr val="EEF3F3"/>
                </a:solidFill>
                <a:latin typeface="Calibri"/>
              </a:rPr>
              <a:t>▪  Savings per task, and why the gain happens. An external review withdrew our first explanation.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450" b="0">
                <a:solidFill>
                  <a:srgbClr val="EEF3F3"/>
                </a:solidFill>
                <a:latin typeface="Calibri"/>
              </a:rPr>
              <a:t>▪  Audit that compressed rules still bind.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CAPABILITY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The next pairing is cheap to try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77440"/>
            <a:ext cx="182880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18288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Provision GPU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377440"/>
            <a:ext cx="5029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2377440"/>
            <a:ext cx="123444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2377440"/>
            <a:ext cx="123444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Train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377440"/>
            <a:ext cx="5029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159" y="2377440"/>
            <a:ext cx="123444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9159" y="2377440"/>
            <a:ext cx="123444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Serve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377440"/>
            <a:ext cx="5029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46520" y="2377440"/>
            <a:ext cx="155448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377440"/>
            <a:ext cx="155448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Evaluate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2377440"/>
            <a:ext cx="5029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03920" y="2377440"/>
            <a:ext cx="1371600" cy="96012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0" y="2377440"/>
            <a:ext cx="13716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Destroy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0" y="2377440"/>
            <a:ext cx="5029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E08A4C"/>
                </a:solidFill>
                <a:latin typeface="Calibri"/>
              </a:rPr>
              <a:t>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378440" y="2377440"/>
            <a:ext cx="1554480" cy="96012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3A4A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378440" y="2377440"/>
            <a:ext cx="155448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alibri"/>
              </a:rPr>
              <a:t>next pairing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749039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221A11"/>
          </a:solidFill>
          <a:ln w="12700">
            <a:solidFill>
              <a:srgbClr val="5A4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749039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E08A4C"/>
                </a:solidFill>
                <a:latin typeface="Consolas"/>
              </a:rPr>
              <a:t>SPEND-SAFETY · structural  ·  idle watchdog · ledger at creation · sync-before-destroy · global deadline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93776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9FB2B6"/>
                </a:solidFill>
                <a:latin typeface="Calibri"/>
              </a:rPr>
              <a:t>One controller drives a recipe end to end, unattended. Swapping in a new harness or model changes the inputs, not the machinery.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Make gisting a Lattice pillar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3505200" cy="228600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5875">
            <a:solidFill>
              <a:srgbClr val="5A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39696"/>
            <a:ext cx="2993136" cy="1847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C39BE0"/>
                </a:solidFill>
                <a:latin typeface="Consolas"/>
              </a:rPr>
              <a:t>1 · NEXT PAIR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Run the experiment suite, span study first, on the next harness and distilled-model pair. Shows the recipe carries.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8160" y="1920240"/>
            <a:ext cx="3505200" cy="228600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84192" y="2139696"/>
            <a:ext cx="2993136" cy="1847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2 · VALIDATE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Held-out tasks, repeated runs, and quality checked at production load.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239" y="1920240"/>
            <a:ext cx="3505200" cy="2286000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2271" y="2139696"/>
            <a:ext cx="2993136" cy="1847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>
                <a:solidFill>
                  <a:srgbClr val="3FB0C6"/>
                </a:solidFill>
                <a:latin typeface="Consolas"/>
              </a:rPr>
              <a:t>3 · GUARDED PILOT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>
                <a:solidFill>
                  <a:srgbClr val="EEF3F3"/>
                </a:solidFill>
                <a:latin typeface="Calibri"/>
              </a:rPr>
              <a:t>Proposed for the Jetstream inner loop, with rule-audit and write-target checks at the serving boundary.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480560"/>
            <a:ext cx="100584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Georgia"/>
              </a:rPr>
              <a:t>The lever is real on one pairing. Next, show it carries to a distilled model on another harness.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3FB0C6"/>
                </a:solidFill>
                <a:latin typeface="Consolas"/>
              </a:rPr>
              <a:t>White paper, code and results: GitHub arunmenon/gisting-coding-agent  ·  weights and data on Hugging Face (private)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APPENDIX A · A CORRECTION WE MADE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Our first explanation of the gain was wrong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0">
                <a:solidFill>
                  <a:srgbClr val="9FB2B6"/>
                </a:solidFill>
                <a:latin typeface="Calibri"/>
              </a:rPr>
              <a:t>External review found a 100-connection limit in our own load generator, and that limit, not the GPU, produced the number our explanation rested on. A follow-up with the limit removed confirmed it. We withdrew the explanation; the throughput figures measured below that limit stand.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3756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5568" y="333756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91056" y="333756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66543" y="333756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542032" y="333756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017520" y="333756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93008" y="333756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968496" y="333756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43984" y="333756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919472" y="333756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394960" y="333756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870448" y="333756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33756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821424" y="333756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296912" y="333756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72400" y="3337560"/>
            <a:ext cx="384048" cy="384048"/>
          </a:xfrm>
          <a:prstGeom prst="roundRect">
            <a:avLst>
              <a:gd name="adj" fmla="val 6000"/>
            </a:avLst>
          </a:prstGeom>
          <a:solidFill>
            <a:srgbClr val="3FB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3813048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5568" y="3813048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591056" y="3813048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066543" y="3813048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542032" y="3813048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017520" y="3813048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493008" y="3813048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968496" y="3813048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443984" y="3813048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919472" y="3813048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394960" y="3813048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870448" y="3813048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345936" y="3813048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821424" y="3813048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296912" y="3813048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772400" y="3813048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40080" y="428853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115568" y="428853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591056" y="428853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066543" y="428853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542032" y="428853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017520" y="428853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493008" y="428853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968496" y="428853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443984" y="428853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919472" y="428853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394960" y="428853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870448" y="428853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345936" y="428853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821424" y="428853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7296912" y="428853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7772400" y="4288536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40080" y="476402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115568" y="476402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591056" y="476402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2066543" y="476402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2542032" y="476402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3017520" y="476402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3493008" y="476402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3968496" y="476402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4443984" y="476402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919472" y="476402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5394960" y="476402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5870448" y="476402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6345936" y="476402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6821424" y="476402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7296912" y="476402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7772400" y="4764024"/>
            <a:ext cx="384048" cy="384048"/>
          </a:xfrm>
          <a:prstGeom prst="roundRect">
            <a:avLst>
              <a:gd name="adj" fmla="val 6000"/>
            </a:avLst>
          </a:prstGeom>
          <a:solidFill>
            <a:srgbClr val="24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0080" y="539496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alibri"/>
              </a:rPr>
              <a:t>The model mixes 16 full-attention layers with 48 linear-attention layers, which is why its behaviour under load differs from a standard transformer. Why the gist helps on it is still open.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APPENDIX B · COST PER RENTAL DOLLAR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Roughly even across the two cards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25603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4A5A60"/>
                </a:solidFill>
                <a:latin typeface="Consolas"/>
              </a:rPr>
              <a:t>16.16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9748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H100 · full prompt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2011680"/>
            <a:ext cx="25603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C39BE0"/>
                </a:solidFill>
                <a:latin typeface="Consolas"/>
              </a:rPr>
              <a:t>23.23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269748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H100 · gist 8:1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2011680"/>
            <a:ext cx="25603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3FB0C6"/>
                </a:solidFill>
                <a:latin typeface="Consolas"/>
              </a:rPr>
              <a:t>23.38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269748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H200 · full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011680"/>
            <a:ext cx="25603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4A5A60"/>
                </a:solidFill>
                <a:latin typeface="Consolas"/>
              </a:rPr>
              <a:t>22.83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69748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H200 · gist 8:1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24612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FB2B6"/>
                </a:solidFill>
                <a:latin typeface="Consolas"/>
              </a:rPr>
              <a:t>peak replay requests per minute per dollar-hour, quoted prices: H100 $2.64/h, H200 $3.65/h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931920"/>
            <a:ext cx="10881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0">
                <a:solidFill>
                  <a:srgbClr val="EEF3F3"/>
                </a:solidFill>
                <a:latin typeface="Calibri"/>
              </a:rPr>
              <a:t>On the H100 the gist lifts output per dollar by about 44%. The H100 with the gist lands level with the H200 without it, so this does not yet show a cheaper card can replace a pricier one.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4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3FB0C6"/>
                </a:solidFill>
                <a:latin typeface="Consolas"/>
              </a:rPr>
              <a:t>APPENDIX C · THE FAILURE WE CAUGHT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4124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400" b="1">
                <a:solidFill>
                  <a:srgbClr val="EEF3F3"/>
                </a:solidFill>
                <a:latin typeface="Georgia"/>
              </a:rPr>
              <a:t>What to keep out of the gist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1280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E3B24C"/>
                </a:solidFill>
                <a:latin typeface="Consolas"/>
              </a:rPr>
              <a:t>BEFORE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0" y="2194560"/>
            <a:ext cx="393192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5A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94560" y="2194560"/>
            <a:ext cx="35661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C39BE0"/>
                </a:solidFill>
                <a:latin typeface="Consolas"/>
              </a:rPr>
              <a:t>gist: rules + …/&lt;session-id&gt;/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2194560"/>
            <a:ext cx="4572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0" y="2194560"/>
            <a:ext cx="466344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6E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0" y="2194560"/>
            <a:ext cx="4297679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E79191"/>
                </a:solidFill>
                <a:latin typeface="Consolas"/>
              </a:rPr>
              <a:t>writes to an invented directory   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29000"/>
            <a:ext cx="1280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57C08A"/>
                </a:solidFill>
                <a:latin typeface="Consolas"/>
              </a:rPr>
              <a:t>AFTER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11680" y="3291840"/>
            <a:ext cx="210312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5A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94560" y="3291840"/>
            <a:ext cx="17373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C39BE0"/>
                </a:solidFill>
                <a:latin typeface="Consolas"/>
              </a:rPr>
              <a:t>gist: rules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3291840"/>
            <a:ext cx="3657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9FB2B6"/>
                </a:solidFill>
                <a:latin typeface="Calibri"/>
              </a:rPr>
              <a:t>+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3291840"/>
            <a:ext cx="310896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53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3291840"/>
            <a:ext cx="27432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EEF3F3"/>
                </a:solidFill>
                <a:latin typeface="Consolas"/>
              </a:rPr>
              <a:t>raw: session path, date,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291840"/>
            <a:ext cx="4572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FB0C6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0" y="3291840"/>
            <a:ext cx="2926080" cy="749808"/>
          </a:xfrm>
          <a:prstGeom prst="roundRect">
            <a:avLst>
              <a:gd name="adj" fmla="val 6000"/>
            </a:avLst>
          </a:prstGeom>
          <a:solidFill>
            <a:srgbClr val="141D21"/>
          </a:solidFill>
          <a:ln w="12700">
            <a:solidFill>
              <a:srgbClr val="2C5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19" y="3291840"/>
            <a:ext cx="25603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57C08A"/>
                </a:solidFill>
                <a:latin typeface="Consolas"/>
              </a:rPr>
              <a:t>writes correctly   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52628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00" b="0">
                <a:solidFill>
                  <a:srgbClr val="EEF3F3"/>
                </a:solidFill>
                <a:latin typeface="Calibri"/>
              </a:rPr>
              <a:t>Keeping session-specific values raw restored the score 11/16 → 16/16 at 8:1.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44068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9FB2B6"/>
                </a:solidFill>
                <a:latin typeface="Calibri"/>
              </a:rPr>
              <a:t>Every new harness and model pair will hit this boundary, which is why the span study comes first.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