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0">
                <a:solidFill>
                  <a:srgbClr val="9FB2B6"/>
                </a:solidFill>
                <a:latin typeface="Consolas"/>
              </a:rPr>
              <a:t>requests / minute  (higher is better)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full prompt</c:v>
                </c:pt>
              </c:strCache>
            </c:strRef>
          </c:tx>
          <c:spPr>
            <a:solidFill>
              <a:srgbClr val="4A5A60"/>
            </a:solidFill>
          </c:spPr>
          <c:cat>
            <c:strRef>
              <c:f>Sheet1!$A$2:$A$4</c:f>
              <c:strCache>
                <c:ptCount val="3"/>
                <c:pt idx="0">
                  <c:v>c=1</c:v>
                </c:pt>
                <c:pt idx="1">
                  <c:v>c=4</c:v>
                </c:pt>
                <c:pt idx="2">
                  <c:v>c=8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6.9</c:v>
                </c:pt>
                <c:pt idx="1">
                  <c:v>16.4</c:v>
                </c:pt>
                <c:pt idx="2">
                  <c:v>20.0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gist</c:v>
                </c:pt>
              </c:strCache>
            </c:strRef>
          </c:tx>
          <c:spPr>
            <a:solidFill>
              <a:srgbClr val="3FB0C6"/>
            </a:solidFill>
          </c:spPr>
          <c:cat>
            <c:strRef>
              <c:f>Sheet1!$A$2:$A$4</c:f>
              <c:strCache>
                <c:ptCount val="3"/>
                <c:pt idx="0">
                  <c:v>c=1</c:v>
                </c:pt>
                <c:pt idx="1">
                  <c:v>c=4</c:v>
                </c:pt>
                <c:pt idx="2">
                  <c:v>c=8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7.2</c:v>
                </c:pt>
                <c:pt idx="1">
                  <c:v>18.9</c:v>
                </c:pt>
                <c:pt idx="2">
                  <c:v>23.2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solidFill>
                    <a:srgbClr val="EEF3F3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5333A"/>
            </a:solidFill>
          </a:ln>
        </c:spPr>
        <c:txPr>
          <a:bodyPr/>
          <a:lstStyle/>
          <a:p>
            <a:pPr>
              <a:defRPr sz="1200">
                <a:solidFill>
                  <a:srgbClr val="9FB2B6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1B262B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25333A"/>
            </a:solidFill>
          </a:ln>
        </c:spPr>
        <c:txPr>
          <a:bodyPr/>
          <a:lstStyle/>
          <a:p>
            <a:pPr>
              <a:defRPr sz="1200">
                <a:solidFill>
                  <a:srgbClr val="9FB2B6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9FB2B6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DEVELOPMENT STUDY · SELF-HOSTED CODING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96012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4600" b="1">
                <a:solidFill>
                  <a:srgbClr val="EEF3F3"/>
                </a:solidFill>
                <a:latin typeface="Georgia"/>
              </a:rPr>
              <a:t>Turning the prompt tax into GPU capacity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297680"/>
            <a:ext cx="8778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0">
                <a:solidFill>
                  <a:srgbClr val="9FB2B6"/>
                </a:solidFill>
                <a:latin typeface="Calibri"/>
              </a:rPr>
              <a:t>Compressing a coding agent’s fixed preamble into a handful of learned “gist” tokens — what it buys, what it costs, and what to fund next.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7784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onsolas"/>
              </a:rPr>
              <a:t>Arun Menon · arumenon@paypal.com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3FB0C6"/>
                </a:solidFill>
                <a:latin typeface="Consolas"/>
              </a:rPr>
              <a:t>Claude Code → proxy → vLLM → Qwen3.8-27B (hybrid attention) · one GPU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BOTTOM LINE UP FRONT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The answer in four lines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2606040" cy="35661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39696"/>
            <a:ext cx="2093976" cy="3127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At every step, the coding agent (Claude Code) re-sends the same fixed preamble to the model — ~17.5–21k tokens, over 90% tool schemas, about 0.72 of a short session.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920240"/>
            <a:ext cx="2606040" cy="35661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85032" y="2139696"/>
            <a:ext cx="2093976" cy="3127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Replace it with a few thousand learned tokens. Base model frozen; deployed in a proxy, no client or engine change.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920240"/>
            <a:ext cx="2606040" cy="35661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3952" y="2139696"/>
            <a:ext cx="2093976" cy="3127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~16% more throughput at eight concurrent sessions — capacity per GPU, not faster single replies.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06840" y="1920240"/>
            <a:ext cx="2606040" cy="35661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62872" y="2139696"/>
            <a:ext cx="2093976" cy="3127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A development study: the lever is real; the dollar-per-session number is not proven yet.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7150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9FB2B6"/>
                </a:solidFill>
                <a:latin typeface="Calibri"/>
              </a:rPr>
              <a:t>You can stop here. The rest is the evidence, the catch, and what it would take to bank the saving.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COST LENS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Why this is a total-cost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9FB2B6"/>
                </a:solidFill>
                <a:latin typeface="Calibri"/>
              </a:rPr>
              <a:t>For a self-hosted agent, serving cost is driven by how many tokens the model reads per turn, which caps how many sessions a GPU can carry. Three cost drivers — gisting acts on the first.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08960"/>
            <a:ext cx="3429000" cy="26517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3328415"/>
            <a:ext cx="2916936" cy="2212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GPU CAPACITY  ← GISTING ACTS HERE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Token-bound. Fewer input tokens per turn → more concurrent sessions per GPU before latency degrades.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3108960"/>
            <a:ext cx="3429000" cy="26517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7992" y="3328415"/>
            <a:ext cx="2916936" cy="2212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100" b="1">
                <a:solidFill>
                  <a:srgbClr val="9FB2B6"/>
                </a:solidFill>
                <a:latin typeface="Consolas"/>
              </a:rPr>
              <a:t>ENGINEERING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One-time: build the proxy, the template, and the training loop. The loop is reusable across models.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3108960"/>
            <a:ext cx="3429000" cy="26517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19871" y="3328415"/>
            <a:ext cx="2916936" cy="2212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100" b="1">
                <a:solidFill>
                  <a:srgbClr val="9FB2B6"/>
                </a:solidFill>
                <a:latin typeface="Consolas"/>
              </a:rPr>
              <a:t>RISK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Compressed rules are harder to audit; the benefit is model-dependent. Managed, not eliminated.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TAX, MEASURED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Most of every turn is machine-readable boilerplate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286000"/>
            <a:ext cx="8460028" cy="1051560"/>
          </a:xfrm>
          <a:prstGeom prst="rect">
            <a:avLst/>
          </a:prstGeom>
          <a:solidFill>
            <a:srgbClr val="1F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1" y="2286000"/>
            <a:ext cx="8158276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Tool schemas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~16,000 tokens  ·  &gt;90% of the block</a:t>
            </a:r>
          </a:p>
        </p:txBody>
      </p:sp>
      <p:sp>
        <p:nvSpPr>
          <p:cNvPr id="7" name="Rectangle 6"/>
          <p:cNvSpPr/>
          <p:nvPr/>
        </p:nvSpPr>
        <p:spPr>
          <a:xfrm>
            <a:off x="9127540" y="2286000"/>
            <a:ext cx="951890" cy="1051560"/>
          </a:xfrm>
          <a:prstGeom prst="rect">
            <a:avLst/>
          </a:prstGeom>
          <a:solidFill>
            <a:srgbClr val="E08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92132" y="2286000"/>
            <a:ext cx="650138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Rules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Calibri"/>
              </a:rPr>
              <a:t>~1.3k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06863" y="2286000"/>
            <a:ext cx="1387144" cy="1051560"/>
          </a:xfrm>
          <a:prstGeom prst="rect">
            <a:avLst/>
          </a:prstGeom>
          <a:solidFill>
            <a:srgbClr val="2B3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71455" y="2286000"/>
            <a:ext cx="1085392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Per-session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Calibri"/>
              </a:rPr>
              <a:t>kept raw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86200"/>
            <a:ext cx="3474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E08A4C"/>
                </a:solidFill>
                <a:latin typeface="Consolas"/>
              </a:rPr>
              <a:t>17.5–21k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453128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fixed tokens per turn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886200"/>
            <a:ext cx="3474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E08A4C"/>
                </a:solidFill>
                <a:latin typeface="Consolas"/>
              </a:rPr>
              <a:t>&gt;90%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4453128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is tool schemas, not rules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3886200"/>
            <a:ext cx="3474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3FB0C6"/>
                </a:solidFill>
                <a:latin typeface="Consolas"/>
              </a:rPr>
              <a:t>0.72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4453128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of a short session’s input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21208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alibri"/>
              </a:rPr>
              <a:t>The coding-agent harness prepends the same block, byte-for-byte, on every model call. Per-session values (paths, git status, date) are split out and kept raw.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LEVER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Teach the model a shorthand for the boilerplate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83280" cy="292608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761488"/>
            <a:ext cx="2798064" cy="23408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3FB0C6"/>
                </a:solidFill>
                <a:latin typeface="Consolas"/>
              </a:rPr>
              <a:t>01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Grow the vocabulary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FB2B6"/>
                </a:solidFill>
                <a:latin typeface="Calibri"/>
              </a:rPr>
              <a:t>Add a few thousand new “gist” tokens, seeded from the block they replace.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05072" y="3611880"/>
            <a:ext cx="411479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468880"/>
            <a:ext cx="3383280" cy="292608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36008" y="2761488"/>
            <a:ext cx="2798064" cy="23408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3FB0C6"/>
                </a:solidFill>
                <a:latin typeface="Consolas"/>
              </a:rPr>
              <a:t>02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Self-distil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FB2B6"/>
                </a:solidFill>
                <a:latin typeface="Calibri"/>
              </a:rPr>
              <a:t>The model matches its own behaviour — short gist vs. full block. All base weights frozen; only the new rows train.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8392" y="3611880"/>
            <a:ext cx="411479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19" y="2468880"/>
            <a:ext cx="3383280" cy="292608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39327" y="2761488"/>
            <a:ext cx="2798064" cy="23408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3FB0C6"/>
                </a:solidFill>
                <a:latin typeface="Consolas"/>
              </a:rPr>
              <a:t>03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Serve via a proxy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FB2B6"/>
                </a:solidFill>
                <a:latin typeface="Calibri"/>
              </a:rPr>
              <a:t>The proxy swaps the span for gist tokens. No change to the client or the engine.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62356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alibri"/>
              </a:rPr>
              <a:t>The only trained object is a small embedding tensor — cheap to produce, cheap to serve.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PROOF · PARITY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The short prompt matched the full prompt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1737360" cy="11887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1737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3FB0C6"/>
                </a:solidFill>
                <a:latin typeface="Consolas"/>
              </a:rPr>
              <a:t>2:1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12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2011680"/>
            <a:ext cx="1737360" cy="11887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51760" y="2148840"/>
            <a:ext cx="1737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3FB0C6"/>
                </a:solidFill>
                <a:latin typeface="Consolas"/>
              </a:rPr>
              <a:t>4:1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12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2011680"/>
            <a:ext cx="1737360" cy="11887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2148840"/>
            <a:ext cx="1737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3FB0C6"/>
                </a:solidFill>
                <a:latin typeface="Consolas"/>
              </a:rPr>
              <a:t>8:1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12 / 12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2011680"/>
            <a:ext cx="1737360" cy="11887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2148840"/>
            <a:ext cx="1737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3FB0C6"/>
                </a:solidFill>
                <a:latin typeface="Consolas"/>
              </a:rPr>
              <a:t>16:1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12 /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49039"/>
            <a:ext cx="104241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0">
                <a:solidFill>
                  <a:srgbClr val="9FB2B6"/>
                </a:solidFill>
                <a:latin typeface="Calibri"/>
              </a:rPr>
              <a:t>Every compression ratio and the full prompt scored a perfect 12 / 12 on the task suite, while input dropped from ~24k to ~9–11k tokens per turn.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4206240" cy="50292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5A4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285232"/>
            <a:ext cx="4023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E3B24C"/>
                </a:solidFill>
                <a:latin typeface="Consolas"/>
              </a:rPr>
              <a:t>single run · small, partly-reused suite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PROOF · CREDIBILITY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The failure that mattered — and the fix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E3B24C"/>
                </a:solidFill>
                <a:latin typeface="Consolas"/>
              </a:rPr>
              <a:t>BEFORE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0" y="2194560"/>
            <a:ext cx="393192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5A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94560" y="2194560"/>
            <a:ext cx="3566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C39BE0"/>
                </a:solidFill>
                <a:latin typeface="Consolas"/>
              </a:rPr>
              <a:t>gist: rules + …/&lt;session-id&gt;/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2194560"/>
            <a:ext cx="4572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0" y="2194560"/>
            <a:ext cx="466344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6E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0" y="2194560"/>
            <a:ext cx="4297679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E79191"/>
                </a:solidFill>
                <a:latin typeface="Consolas"/>
              </a:rPr>
              <a:t>writes to an invented directory   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29000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57C08A"/>
                </a:solidFill>
                <a:latin typeface="Consolas"/>
              </a:rPr>
              <a:t>AFTER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11680" y="3291840"/>
            <a:ext cx="210312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5A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94560" y="3291840"/>
            <a:ext cx="17373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C39BE0"/>
                </a:solidFill>
                <a:latin typeface="Consolas"/>
              </a:rPr>
              <a:t>gist: rules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3291840"/>
            <a:ext cx="3657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9FB2B6"/>
                </a:solidFill>
                <a:latin typeface="Calibri"/>
              </a:rPr>
              <a:t>+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3291840"/>
            <a:ext cx="310896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3291840"/>
            <a:ext cx="27432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EEF3F3"/>
                </a:solidFill>
                <a:latin typeface="Consolas"/>
              </a:rPr>
              <a:t>raw: session path, date,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291840"/>
            <a:ext cx="4572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0" y="3291840"/>
            <a:ext cx="292608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C5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19" y="3291840"/>
            <a:ext cx="25603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writes correctly   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52628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0">
                <a:solidFill>
                  <a:srgbClr val="EEF3F3"/>
                </a:solidFill>
                <a:latin typeface="Calibri"/>
              </a:rPr>
              <a:t>Keeping session-specific values raw restored the score 11/16 → 16/16 at 8:1.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44068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alibri"/>
              </a:rPr>
              <a:t>The productionization gotcha every deployment will hit — and evidence we were looking hard, not cherry-picking.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PAYOFF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The saving shows up as capacity under load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920240"/>
          <a:ext cx="676656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680960" y="2194560"/>
            <a:ext cx="384048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600" b="0">
                <a:solidFill>
                  <a:srgbClr val="EEF3F3"/>
                </a:solidFill>
                <a:latin typeface="Calibri"/>
              </a:rPr>
              <a:t>Throughput rises with concurrency — and the gain grows as the service gets busier. A single reply is barely faster.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9FB2B6"/>
                </a:solidFill>
                <a:latin typeface="Calibri"/>
              </a:rPr>
              <a:t>For a shared internal agent service, this is sessions per GPU — the number that sets cost.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One replay; direction, not precision.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CATCH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Why it’s capacity, not speed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9FB2B6"/>
                </a:solidFill>
                <a:latin typeface="Calibri"/>
              </a:rPr>
              <a:t>This model uses full attention in only 16 of its 64 layers. A shorter prompt saves decode work only there — so the win is more sessions in parallel, not a faster individual answer.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5568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91056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66543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542032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017520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93008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68496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43984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919472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394960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870448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821424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296912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72400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5568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591056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066543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542032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017520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493008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968496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443984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919472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394960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870448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345936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821424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296912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772400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40080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115568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591056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066543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542032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017520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493008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968496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443984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919472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394960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870448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345936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821424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7296912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7772400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40080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115568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591056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2066543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542032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3017520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3493008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3968496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4443984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919472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5394960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5870448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6345936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6821424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7296912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7772400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0080" y="53949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9FB2B6"/>
                </a:solidFill>
                <a:latin typeface="Calibri"/>
              </a:rPr>
              <a:t>■ full-attention layers (where a shorter prompt helps)      ■ linear-attention layers (fixed-size state).  The benefit is architecture-dependent: a different model shifts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CAPABILITY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We built the lab, not just the result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560320"/>
            <a:ext cx="182880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8288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Provision GPU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560320"/>
            <a:ext cx="5029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2560320"/>
            <a:ext cx="123444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2560320"/>
            <a:ext cx="123444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Train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560320"/>
            <a:ext cx="5029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59" y="2560320"/>
            <a:ext cx="123444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59" y="2560320"/>
            <a:ext cx="123444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Serve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560320"/>
            <a:ext cx="5029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46520" y="2560320"/>
            <a:ext cx="155448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560320"/>
            <a:ext cx="155448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Evaluate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2560320"/>
            <a:ext cx="5029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03920" y="2560320"/>
            <a:ext cx="137160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0" y="2560320"/>
            <a:ext cx="1371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Destroy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0" y="2560320"/>
            <a:ext cx="5029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E08A4C"/>
                </a:solidFill>
                <a:latin typeface="Calibri"/>
              </a:rPr>
              <a:t>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378440" y="2560320"/>
            <a:ext cx="1554480" cy="96012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3A4A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378440" y="2560320"/>
            <a:ext cx="155448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alibri"/>
              </a:rPr>
              <a:t>next recipe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977639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221A11"/>
          </a:solidFill>
          <a:ln w="12700">
            <a:solidFill>
              <a:srgbClr val="5A4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977639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E08A4C"/>
                </a:solidFill>
                <a:latin typeface="Consolas"/>
              </a:rPr>
              <a:t>SPEND-SAFETY · structural  —  idle watchdog · ledger at creation · sync-before-destroy · global deadline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12064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FB2B6"/>
                </a:solidFill>
                <a:latin typeface="Calibri"/>
              </a:rPr>
              <a:t>One detached controller drives every recipe end to end, unattended. Makes the next model cheap to try — the capability outlasts this study.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HONEST LEDGER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What’s proven, what isn’t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5257800" cy="3977639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C5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47091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200" b="1">
                <a:solidFill>
                  <a:srgbClr val="57C08A"/>
                </a:solidFill>
                <a:latin typeface="Consolas"/>
              </a:rPr>
              <a:t>ESTABLISHED HERE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▪  Equal task scores on our suites, every ratio.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▪  Half-to-two-thirds fewer tokens read per turn.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▪  Throughput rises under load; the fix removes the path failure.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▪  The tooling works end to end.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965960"/>
            <a:ext cx="5257800" cy="3977639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5A4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59" y="2194560"/>
            <a:ext cx="47091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200" b="1">
                <a:solidFill>
                  <a:srgbClr val="E3B24C"/>
                </a:solidFill>
                <a:latin typeface="Consolas"/>
              </a:rPr>
              <a:t>NOT YET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▪  Generalisation on unseen, held-out work.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▪  A saturation test → a real sessions-per-GPU / $ number.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▪  The cause of the serving gain (a hypothesis).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▪  Rare-tool reach (left unscored by harness faults).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▪  Audit guarantees that compressed rules still bind.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8076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alibri"/>
              </a:rPr>
              <a:t>An independent adversarial review of the whole program was run and folded into the writeup.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From “real lever” to a number you can budget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3429000" cy="31089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231136"/>
            <a:ext cx="2916936" cy="2670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A held-out eval with paired, repeated runs. Is the parity real beyond our own tasks?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2011680"/>
            <a:ext cx="3429000" cy="31089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07992" y="2231136"/>
            <a:ext cx="2916936" cy="2670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A saturation test under sustained load. Converts “throughput direction” into sessions per GPU and a cost per session.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2011680"/>
            <a:ext cx="3429000" cy="31089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19871" y="2231136"/>
            <a:ext cx="2916936" cy="2670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A guarded rollout with explicit rule-audit and write-target checks at the serving boundary.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48640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alibri"/>
              </a:rPr>
              <a:t>Bounded effort: a single GPU over days, not a new research program — the loop and serving path already exist.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The lever is real and cheap to prototype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96012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Georgia"/>
              </a:rPr>
              <a:t>Fund a short validation — eval + saturation — before any production commitment.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241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9FB2B6"/>
                </a:solidFill>
                <a:latin typeface="Calibri"/>
              </a:rPr>
              <a:t>The tooling exists, the risk is contained, and the upside is GPU capacity that compounds under load. What’s missing is a validated number, and that is days of work away, not months.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3FB0C6"/>
                </a:solidFill>
                <a:latin typeface="Consolas"/>
              </a:rPr>
              <a:t>GitHub: arunmenon/gisting-coding-agent  ·  weights &amp; data on Hugging Face (private)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