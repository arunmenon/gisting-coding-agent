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9FB2B6"/>
                </a:solidFill>
                <a:latin typeface="Consolas"/>
              </a:rPr>
              <a:t>requests / minute vs concurrent sessions  ·  mean of 3 repeats</a:t>
            </a:r>
          </a:p>
        </c:rich>
      </c:tx>
      <c:layout/>
      <c:overlay val="0"/>
    </c:title>
    <c:autoTitleDeleted val="0"/>
    <c:plotArea>
      <c:lineChart>
        <c:grouping val="standard"/>
        <c:varyColors val="0"/>
        <c:ser>
          <c:idx val="0"/>
          <c:order val="0"/>
          <c:tx>
            <c:strRef>
              <c:f>Sheet1!$B$1</c:f>
              <c:strCache>
                <c:ptCount val="1"/>
                <c:pt idx="0">
                  <c:v>full prompt</c:v>
                </c:pt>
              </c:strCache>
            </c:strRef>
          </c:tx>
          <c:spPr>
            <a:ln w="38100">
              <a:solidFill>
                <a:srgbClr val="4A5A60"/>
              </a:solidFill>
            </a:ln>
          </c:spPr>
          <c:cat>
            <c:strRef>
              <c:f>Sheet1!$A$2:$A$9</c:f>
              <c:strCache>
                <c:ptCount val="8"/>
                <c:pt idx="0">
                  <c:v>1</c:v>
                </c:pt>
                <c:pt idx="1">
                  <c:v>2</c:v>
                </c:pt>
                <c:pt idx="2">
                  <c:v>4</c:v>
                </c:pt>
                <c:pt idx="3">
                  <c:v>8</c:v>
                </c:pt>
                <c:pt idx="4">
                  <c:v>16</c:v>
                </c:pt>
                <c:pt idx="5">
                  <c:v>32</c:v>
                </c:pt>
                <c:pt idx="6">
                  <c:v>48</c:v>
                </c:pt>
                <c:pt idx="7">
                  <c:v>64</c:v>
                </c:pt>
              </c:strCache>
            </c:strRef>
          </c:cat>
          <c:val>
            <c:numRef>
              <c:f>Sheet1!$B$2:$B$9</c:f>
              <c:numCache>
                <c:formatCode>General</c:formatCode>
                <c:ptCount val="8"/>
                <c:pt idx="0">
                  <c:v>13.1</c:v>
                </c:pt>
                <c:pt idx="1">
                  <c:v>22.7</c:v>
                </c:pt>
                <c:pt idx="2">
                  <c:v>36.9</c:v>
                </c:pt>
                <c:pt idx="3">
                  <c:v>34.7</c:v>
                </c:pt>
                <c:pt idx="4">
                  <c:v>42.7</c:v>
                </c:pt>
                <c:pt idx="5">
                  <c:v>42.7</c:v>
                </c:pt>
                <c:pt idx="6">
                  <c:v>32.0</c:v>
                </c:pt>
                <c:pt idx="7">
                  <c:v>29.3</c:v>
                </c:pt>
              </c:numCache>
            </c:numRef>
          </c:val>
          <c:smooth val="0"/>
        </c:ser>
        <c:ser>
          <c:idx val="1"/>
          <c:order val="1"/>
          <c:tx>
            <c:strRef>
              <c:f>Sheet1!$C$1</c:f>
              <c:strCache>
                <c:ptCount val="1"/>
                <c:pt idx="0">
                  <c:v>Steno 8:1</c:v>
                </c:pt>
              </c:strCache>
            </c:strRef>
          </c:tx>
          <c:spPr>
            <a:ln w="38100">
              <a:solidFill>
                <a:srgbClr val="C39BE0"/>
              </a:solidFill>
            </a:ln>
          </c:spPr>
          <c:cat>
            <c:strRef>
              <c:f>Sheet1!$A$2:$A$9</c:f>
              <c:strCache>
                <c:ptCount val="8"/>
                <c:pt idx="0">
                  <c:v>1</c:v>
                </c:pt>
                <c:pt idx="1">
                  <c:v>2</c:v>
                </c:pt>
                <c:pt idx="2">
                  <c:v>4</c:v>
                </c:pt>
                <c:pt idx="3">
                  <c:v>8</c:v>
                </c:pt>
                <c:pt idx="4">
                  <c:v>16</c:v>
                </c:pt>
                <c:pt idx="5">
                  <c:v>32</c:v>
                </c:pt>
                <c:pt idx="6">
                  <c:v>48</c:v>
                </c:pt>
                <c:pt idx="7">
                  <c:v>64</c:v>
                </c:pt>
              </c:strCache>
            </c:strRef>
          </c:cat>
          <c:val>
            <c:numRef>
              <c:f>Sheet1!$C$2:$C$9</c:f>
              <c:numCache>
                <c:formatCode>General</c:formatCode>
                <c:ptCount val="8"/>
                <c:pt idx="0">
                  <c:v>14.7</c:v>
                </c:pt>
                <c:pt idx="1">
                  <c:v>25.3</c:v>
                </c:pt>
                <c:pt idx="2">
                  <c:v>42.7</c:v>
                </c:pt>
                <c:pt idx="3">
                  <c:v>48.0</c:v>
                </c:pt>
                <c:pt idx="4">
                  <c:v>59.3</c:v>
                </c:pt>
                <c:pt idx="5">
                  <c:v>61.3</c:v>
                </c:pt>
                <c:pt idx="6">
                  <c:v>52.7</c:v>
                </c:pt>
                <c:pt idx="7">
                  <c:v>41.3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25333A"/>
            </a:solidFill>
          </a:ln>
        </c:spPr>
        <c:txPr>
          <a:bodyPr/>
          <a:lstStyle/>
          <a:p>
            <a:pPr>
              <a:defRPr sz="1200">
                <a:solidFill>
                  <a:srgbClr val="9FB2B6"/>
                </a:solidFill>
              </a:defRPr>
            </a:pPr>
          </a:p>
        </c:txPr>
        <c:crossAx val="2140495176"/>
        <c:crosses val="autoZero"/>
        <c:auto val="1"/>
        <c:lblAlgn val="ctr"/>
        <c:lblOffset val="100"/>
        <c:noMultiLvlLbl val="0"/>
      </c:catAx>
      <c:valAx>
        <c:axId val="2140495176"/>
        <c:scaling/>
        <c:delete val="0"/>
        <c:axPos val="l"/>
        <c:majorGridlines>
          <c:spPr>
            <a:ln>
              <a:solidFill>
                <a:srgbClr val="1B262B"/>
              </a:solidFill>
            </a:ln>
          </c:spPr>
        </c:majorGridlines>
        <c:majorTickMark val="out"/>
        <c:minorTickMark val="none"/>
        <c:tickLblPos val="nextTo"/>
        <c:spPr>
          <a:ln>
            <a:solidFill>
              <a:srgbClr val="25333A"/>
            </a:solidFill>
          </a:ln>
        </c:spPr>
        <c:txPr>
          <a:bodyPr/>
          <a:lstStyle/>
          <a:p>
            <a:pPr>
              <a:defRPr sz="1200">
                <a:solidFill>
                  <a:srgbClr val="9FB2B6"/>
                </a:solidFill>
              </a:defRPr>
            </a:pPr>
          </a:p>
        </c:txPr>
        <c:crossAx val="2118791784"/>
        <c:crosses val="autoZero"/>
      </c:valAx>
    </c:plotArea>
    <c:legend>
      <c:legendPos val="t"/>
      <c:layout/>
      <c:overlay val="0"/>
      <c:txPr>
        <a:bodyPr/>
        <a:lstStyle/>
        <a:p>
          <a:pPr>
            <a:defRPr sz="1200">
              <a:solidFill>
                <a:srgbClr val="9FB2B6"/>
              </a:solidFill>
            </a:defRPr>
          </a:pPr>
        </a:p>
      </c:txPr>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LATTICE · COST OPTIMIZATION · NEW PILLAR</a:t>
            </a:r>
          </a:p>
        </p:txBody>
      </p:sp>
      <p:sp>
        <p:nvSpPr>
          <p:cNvPr id="4" name="TextBox 3"/>
          <p:cNvSpPr txBox="1"/>
          <p:nvPr/>
        </p:nvSpPr>
        <p:spPr>
          <a:xfrm>
            <a:off x="640080" y="1234440"/>
            <a:ext cx="10515600" cy="2377440"/>
          </a:xfrm>
          <a:prstGeom prst="rect">
            <a:avLst/>
          </a:prstGeom>
          <a:noFill/>
        </p:spPr>
        <p:txBody>
          <a:bodyPr wrap="square" anchor="t">
            <a:spAutoFit/>
          </a:bodyPr>
          <a:lstStyle/>
          <a:p>
            <a:pPr algn="l">
              <a:lnSpc>
                <a:spcPct val="102000"/>
              </a:lnSpc>
              <a:spcAft>
                <a:spcPts val="0"/>
              </a:spcAft>
            </a:pPr>
            <a:r>
              <a:rPr sz="4400" b="1">
                <a:solidFill>
                  <a:srgbClr val="EEF3F3"/>
                </a:solidFill>
                <a:latin typeface="Georgia"/>
              </a:rPr>
              <a:t>Steno: learned prompt compression for agent calls</a:t>
            </a:r>
          </a:p>
        </p:txBody>
      </p:sp>
      <p:sp>
        <p:nvSpPr>
          <p:cNvPr id="5" name="TextBox 4"/>
          <p:cNvSpPr txBox="1"/>
          <p:nvPr/>
        </p:nvSpPr>
        <p:spPr>
          <a:xfrm>
            <a:off x="640080" y="3840480"/>
            <a:ext cx="9601200" cy="1188720"/>
          </a:xfrm>
          <a:prstGeom prst="rect">
            <a:avLst/>
          </a:prstGeom>
          <a:noFill/>
        </p:spPr>
        <p:txBody>
          <a:bodyPr wrap="square" anchor="t">
            <a:spAutoFit/>
          </a:bodyPr>
          <a:lstStyle/>
          <a:p>
            <a:pPr algn="l">
              <a:lnSpc>
                <a:spcPct val="120000"/>
              </a:lnSpc>
              <a:spcAft>
                <a:spcPts val="0"/>
              </a:spcAft>
            </a:pPr>
            <a:r>
              <a:rPr sz="1800" b="0">
                <a:solidFill>
                  <a:srgbClr val="9FB2B6"/>
                </a:solidFill>
                <a:latin typeface="Calibri"/>
              </a:rPr>
              <a:t>A learned shorthand for the fixed preamble a coding agent re-sends to the model: the technique Shopify calls gisting. Shown on one harness and model pair; the next step tests whether it carries to others.</a:t>
            </a:r>
          </a:p>
        </p:txBody>
      </p:sp>
      <p:sp>
        <p:nvSpPr>
          <p:cNvPr id="6" name="TextBox 5"/>
          <p:cNvSpPr txBox="1"/>
          <p:nvPr/>
        </p:nvSpPr>
        <p:spPr>
          <a:xfrm>
            <a:off x="640080" y="5486400"/>
            <a:ext cx="10515600" cy="822960"/>
          </a:xfrm>
          <a:prstGeom prst="rect">
            <a:avLst/>
          </a:prstGeom>
          <a:noFill/>
        </p:spPr>
        <p:txBody>
          <a:bodyPr wrap="square" anchor="t">
            <a:spAutoFit/>
          </a:bodyPr>
          <a:lstStyle/>
          <a:p>
            <a:pPr algn="l">
              <a:lnSpc>
                <a:spcPct val="100000"/>
              </a:lnSpc>
              <a:spcAft>
                <a:spcPts val="0"/>
              </a:spcAft>
            </a:pPr>
            <a:r>
              <a:rPr sz="1300" b="0">
                <a:solidFill>
                  <a:srgbClr val="9FB2B6"/>
                </a:solidFill>
                <a:latin typeface="Consolas"/>
              </a:rPr>
              <a:t>PAI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BOTTOM LINE UP FRONT</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The answer in three lines</a:t>
            </a:r>
          </a:p>
        </p:txBody>
      </p:sp>
      <p:sp>
        <p:nvSpPr>
          <p:cNvPr id="5" name="Rounded Rectangle 4"/>
          <p:cNvSpPr/>
          <p:nvPr/>
        </p:nvSpPr>
        <p:spPr>
          <a:xfrm>
            <a:off x="640080" y="1920240"/>
            <a:ext cx="3505200" cy="39319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9696"/>
            <a:ext cx="2993136" cy="349300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WHERE IT FITS</a:t>
            </a:r>
          </a:p>
          <a:p>
            <a:pPr algn="l">
              <a:lnSpc>
                <a:spcPct val="115000"/>
              </a:lnSpc>
              <a:spcAft>
                <a:spcPts val="0"/>
              </a:spcAft>
            </a:pPr>
            <a:r>
              <a:rPr sz="1500" b="0">
                <a:solidFill>
                  <a:srgbClr val="EEF3F3"/>
                </a:solidFill>
                <a:latin typeface="Calibri"/>
              </a:rPr>
              <a:t>A new pillar under Lattice, alongside the meta-harness, adaptive routing and model distillation tracks. Steno shortens the fixed prompt a coding agent re-sends to the model.</a:t>
            </a:r>
          </a:p>
        </p:txBody>
      </p:sp>
      <p:sp>
        <p:nvSpPr>
          <p:cNvPr id="7" name="Rounded Rectangle 6"/>
          <p:cNvSpPr/>
          <p:nvPr/>
        </p:nvSpPr>
        <p:spPr>
          <a:xfrm>
            <a:off x="4328160" y="1920240"/>
            <a:ext cx="3505200" cy="39319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4192" y="2139696"/>
            <a:ext cx="2993136" cy="3493008"/>
          </a:xfrm>
          <a:prstGeom prst="rect">
            <a:avLst/>
          </a:prstGeom>
          <a:noFill/>
        </p:spPr>
        <p:txBody>
          <a:bodyPr wrap="square" anchor="t">
            <a:spAutoFit/>
          </a:bodyPr>
          <a:lstStyle/>
          <a:p>
            <a:pPr algn="l">
              <a:lnSpc>
                <a:spcPct val="100000"/>
              </a:lnSpc>
              <a:spcAft>
                <a:spcPts val="600"/>
              </a:spcAft>
            </a:pPr>
            <a:r>
              <a:rPr sz="1100" b="1">
                <a:solidFill>
                  <a:srgbClr val="C39BE0"/>
                </a:solidFill>
                <a:latin typeface="Consolas"/>
              </a:rPr>
              <a:t>WHAT WE SHOWED</a:t>
            </a:r>
          </a:p>
          <a:p>
            <a:pPr algn="l">
              <a:lnSpc>
                <a:spcPct val="115000"/>
              </a:lnSpc>
              <a:spcAft>
                <a:spcPts val="0"/>
              </a:spcAft>
            </a:pPr>
            <a:r>
              <a:rPr sz="1500" b="0">
                <a:solidFill>
                  <a:srgbClr val="EEF3F3"/>
                </a:solidFill>
                <a:latin typeface="Calibri"/>
              </a:rPr>
              <a:t>On Claude Code with Qwen at 8:1, input per turn fell from 24.3k to 9.4k tokens with scores matching the full prompt on our suites. Short H100 replays: 2x the request rate within each arm’s latency threshold, +44% peak throughput.</a:t>
            </a:r>
          </a:p>
        </p:txBody>
      </p:sp>
      <p:sp>
        <p:nvSpPr>
          <p:cNvPr id="9" name="Rounded Rectangle 8"/>
          <p:cNvSpPr/>
          <p:nvPr/>
        </p:nvSpPr>
        <p:spPr>
          <a:xfrm>
            <a:off x="8016239" y="1920240"/>
            <a:ext cx="3505200" cy="39319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2271" y="2139696"/>
            <a:ext cx="2993136" cy="3493008"/>
          </a:xfrm>
          <a:prstGeom prst="rect">
            <a:avLst/>
          </a:prstGeom>
          <a:noFill/>
        </p:spPr>
        <p:txBody>
          <a:bodyPr wrap="square" anchor="t">
            <a:spAutoFit/>
          </a:bodyPr>
          <a:lstStyle/>
          <a:p>
            <a:pPr algn="l">
              <a:lnSpc>
                <a:spcPct val="100000"/>
              </a:lnSpc>
              <a:spcAft>
                <a:spcPts val="600"/>
              </a:spcAft>
            </a:pPr>
            <a:r>
              <a:rPr sz="1100" b="1">
                <a:solidFill>
                  <a:srgbClr val="57C08A"/>
                </a:solidFill>
                <a:latin typeface="Consolas"/>
              </a:rPr>
              <a:t>THE ASK</a:t>
            </a:r>
          </a:p>
          <a:p>
            <a:pPr algn="l">
              <a:lnSpc>
                <a:spcPct val="115000"/>
              </a:lnSpc>
              <a:spcAft>
                <a:spcPts val="0"/>
              </a:spcAft>
            </a:pPr>
            <a:r>
              <a:rPr sz="1500" b="0">
                <a:solidFill>
                  <a:srgbClr val="EEF3F3"/>
                </a:solidFill>
                <a:latin typeface="Calibri"/>
              </a:rPr>
              <a:t>Run the same experiment suite on the next harness and distilled-model pair, validate on held-out work, then a guarded pilot.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LATTICE · COST OPTIMIZATION</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A new pillar under Lattice</a:t>
            </a:r>
          </a:p>
        </p:txBody>
      </p:sp>
      <p:sp>
        <p:nvSpPr>
          <p:cNvPr id="5" name="TextBox 4"/>
          <p:cNvSpPr txBox="1"/>
          <p:nvPr/>
        </p:nvSpPr>
        <p:spPr>
          <a:xfrm>
            <a:off x="640080" y="1828800"/>
            <a:ext cx="10607040" cy="914400"/>
          </a:xfrm>
          <a:prstGeom prst="rect">
            <a:avLst/>
          </a:prstGeom>
          <a:noFill/>
        </p:spPr>
        <p:txBody>
          <a:bodyPr wrap="square" anchor="t">
            <a:spAutoFit/>
          </a:bodyPr>
          <a:lstStyle/>
          <a:p>
            <a:pPr algn="l">
              <a:lnSpc>
                <a:spcPct val="120000"/>
              </a:lnSpc>
              <a:spcAft>
                <a:spcPts val="0"/>
              </a:spcAft>
            </a:pPr>
            <a:r>
              <a:rPr sz="1700" b="0">
                <a:solidFill>
                  <a:srgbClr val="9FB2B6"/>
                </a:solidFill>
                <a:latin typeface="Calibri"/>
              </a:rPr>
              <a:t>Steno targets serving cost by shortening repeated prompts. Short H100 replays showed higher throughput; savings per successful task are not yet proven.</a:t>
            </a:r>
          </a:p>
        </p:txBody>
      </p:sp>
      <p:sp>
        <p:nvSpPr>
          <p:cNvPr id="6" name="Rounded Rectangle 5"/>
          <p:cNvSpPr/>
          <p:nvPr/>
        </p:nvSpPr>
        <p:spPr>
          <a:xfrm>
            <a:off x="640080" y="3017520"/>
            <a:ext cx="2583180" cy="11887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00400"/>
            <a:ext cx="2071116" cy="914400"/>
          </a:xfrm>
          <a:prstGeom prst="rect">
            <a:avLst/>
          </a:prstGeom>
          <a:noFill/>
        </p:spPr>
        <p:txBody>
          <a:bodyPr wrap="square" anchor="t">
            <a:spAutoFit/>
          </a:bodyPr>
          <a:lstStyle/>
          <a:p>
            <a:pPr algn="l">
              <a:lnSpc>
                <a:spcPct val="100000"/>
              </a:lnSpc>
              <a:spcAft>
                <a:spcPts val="600"/>
              </a:spcAft>
            </a:pPr>
            <a:r>
              <a:rPr sz="1200" b="1">
                <a:solidFill>
                  <a:srgbClr val="3FB0C6"/>
                </a:solidFill>
                <a:latin typeface="Consolas"/>
              </a:rPr>
              <a:t>META-HARNESS</a:t>
            </a:r>
          </a:p>
        </p:txBody>
      </p:sp>
      <p:sp>
        <p:nvSpPr>
          <p:cNvPr id="8" name="Rounded Rectangle 7"/>
          <p:cNvSpPr/>
          <p:nvPr/>
        </p:nvSpPr>
        <p:spPr>
          <a:xfrm>
            <a:off x="3406140" y="3017520"/>
            <a:ext cx="2583180" cy="11887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62172" y="3200400"/>
            <a:ext cx="2071116" cy="914400"/>
          </a:xfrm>
          <a:prstGeom prst="rect">
            <a:avLst/>
          </a:prstGeom>
          <a:noFill/>
        </p:spPr>
        <p:txBody>
          <a:bodyPr wrap="square" anchor="t">
            <a:spAutoFit/>
          </a:bodyPr>
          <a:lstStyle/>
          <a:p>
            <a:pPr algn="l">
              <a:lnSpc>
                <a:spcPct val="100000"/>
              </a:lnSpc>
              <a:spcAft>
                <a:spcPts val="600"/>
              </a:spcAft>
            </a:pPr>
            <a:r>
              <a:rPr sz="1200" b="1">
                <a:solidFill>
                  <a:srgbClr val="3FB0C6"/>
                </a:solidFill>
                <a:latin typeface="Consolas"/>
              </a:rPr>
              <a:t>ADAPTIVE ROUTING</a:t>
            </a:r>
          </a:p>
        </p:txBody>
      </p:sp>
      <p:sp>
        <p:nvSpPr>
          <p:cNvPr id="10" name="Rounded Rectangle 9"/>
          <p:cNvSpPr/>
          <p:nvPr/>
        </p:nvSpPr>
        <p:spPr>
          <a:xfrm>
            <a:off x="6172200" y="3017520"/>
            <a:ext cx="2583180" cy="11887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3200400"/>
            <a:ext cx="2071116" cy="914400"/>
          </a:xfrm>
          <a:prstGeom prst="rect">
            <a:avLst/>
          </a:prstGeom>
          <a:noFill/>
        </p:spPr>
        <p:txBody>
          <a:bodyPr wrap="square" anchor="t">
            <a:spAutoFit/>
          </a:bodyPr>
          <a:lstStyle/>
          <a:p>
            <a:pPr algn="l">
              <a:lnSpc>
                <a:spcPct val="100000"/>
              </a:lnSpc>
              <a:spcAft>
                <a:spcPts val="600"/>
              </a:spcAft>
            </a:pPr>
            <a:r>
              <a:rPr sz="1200" b="1">
                <a:solidFill>
                  <a:srgbClr val="3FB0C6"/>
                </a:solidFill>
                <a:latin typeface="Consolas"/>
              </a:rPr>
              <a:t>MODEL DISTILLATION</a:t>
            </a:r>
          </a:p>
        </p:txBody>
      </p:sp>
      <p:sp>
        <p:nvSpPr>
          <p:cNvPr id="12" name="Rounded Rectangle 11"/>
          <p:cNvSpPr/>
          <p:nvPr/>
        </p:nvSpPr>
        <p:spPr>
          <a:xfrm>
            <a:off x="8938260" y="3017520"/>
            <a:ext cx="2583180" cy="1188720"/>
          </a:xfrm>
          <a:prstGeom prst="roundRect">
            <a:avLst>
              <a:gd name="adj" fmla="val 6000"/>
            </a:avLst>
          </a:prstGeom>
          <a:solidFill>
            <a:srgbClr val="141D21"/>
          </a:solidFill>
          <a:ln w="15875">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94292" y="3200400"/>
            <a:ext cx="2071116" cy="914400"/>
          </a:xfrm>
          <a:prstGeom prst="rect">
            <a:avLst/>
          </a:prstGeom>
          <a:noFill/>
        </p:spPr>
        <p:txBody>
          <a:bodyPr wrap="square" anchor="t">
            <a:spAutoFit/>
          </a:bodyPr>
          <a:lstStyle/>
          <a:p>
            <a:pPr algn="l">
              <a:lnSpc>
                <a:spcPct val="100000"/>
              </a:lnSpc>
              <a:spcAft>
                <a:spcPts val="600"/>
              </a:spcAft>
            </a:pPr>
            <a:r>
              <a:rPr sz="1200" b="1">
                <a:solidFill>
                  <a:srgbClr val="C39BE0"/>
                </a:solidFill>
                <a:latin typeface="Consolas"/>
              </a:rPr>
              <a:t>STENO · NEW</a:t>
            </a:r>
          </a:p>
          <a:p>
            <a:pPr algn="l">
              <a:lnSpc>
                <a:spcPct val="100000"/>
              </a:lnSpc>
              <a:spcAft>
                <a:spcPts val="0"/>
              </a:spcAft>
            </a:pPr>
            <a:r>
              <a:rPr sz="1500" b="0">
                <a:solidFill>
                  <a:srgbClr val="EEF3F3"/>
                </a:solidFill>
                <a:latin typeface="Calibri"/>
              </a:rPr>
              <a:t>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WHAT STENO IS MADE OF</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Five parts, designed for any harness and model pair</a:t>
            </a:r>
          </a:p>
        </p:txBody>
      </p:sp>
      <p:sp>
        <p:nvSpPr>
          <p:cNvPr id="5" name="Rounded Rectangle 4"/>
          <p:cNvSpPr/>
          <p:nvPr/>
        </p:nvSpPr>
        <p:spPr>
          <a:xfrm>
            <a:off x="640080" y="1828800"/>
            <a:ext cx="3505200" cy="1920240"/>
          </a:xfrm>
          <a:prstGeom prst="roundRect">
            <a:avLst>
              <a:gd name="adj" fmla="val 6000"/>
            </a:avLst>
          </a:prstGeom>
          <a:solidFill>
            <a:srgbClr val="141D21"/>
          </a:solidFill>
          <a:ln w="15875">
            <a:solidFill>
              <a:srgbClr val="5A40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048256"/>
            <a:ext cx="2993136" cy="1481328"/>
          </a:xfrm>
          <a:prstGeom prst="rect">
            <a:avLst/>
          </a:prstGeom>
          <a:noFill/>
        </p:spPr>
        <p:txBody>
          <a:bodyPr wrap="square" anchor="t">
            <a:spAutoFit/>
          </a:bodyPr>
          <a:lstStyle/>
          <a:p>
            <a:pPr algn="l">
              <a:lnSpc>
                <a:spcPct val="100000"/>
              </a:lnSpc>
              <a:spcAft>
                <a:spcPts val="600"/>
              </a:spcAft>
            </a:pPr>
            <a:r>
              <a:rPr sz="1100" b="1">
                <a:solidFill>
                  <a:srgbClr val="E08A4C"/>
                </a:solidFill>
                <a:latin typeface="Consolas"/>
              </a:rPr>
              <a:t>1 · SPAN ANALYSIS</a:t>
            </a:r>
          </a:p>
          <a:p>
            <a:pPr algn="l">
              <a:lnSpc>
                <a:spcPct val="115000"/>
              </a:lnSpc>
              <a:spcAft>
                <a:spcPts val="0"/>
              </a:spcAft>
            </a:pPr>
            <a:r>
              <a:rPr sz="1400" b="0">
                <a:solidFill>
                  <a:srgbClr val="EEF3F3"/>
                </a:solidFill>
                <a:latin typeface="Calibri"/>
              </a:rPr>
              <a:t>A harness adapter per harness feeds one shared analysis. It checks every call, splits the fixed part from per-session values, and fails on anything it cannot explain.</a:t>
            </a:r>
          </a:p>
        </p:txBody>
      </p:sp>
      <p:sp>
        <p:nvSpPr>
          <p:cNvPr id="7" name="Rounded Rectangle 6"/>
          <p:cNvSpPr/>
          <p:nvPr/>
        </p:nvSpPr>
        <p:spPr>
          <a:xfrm>
            <a:off x="4328160" y="1828800"/>
            <a:ext cx="3505200" cy="1920240"/>
          </a:xfrm>
          <a:prstGeom prst="roundRect">
            <a:avLst>
              <a:gd name="adj" fmla="val 6000"/>
            </a:avLst>
          </a:prstGeom>
          <a:solidFill>
            <a:srgbClr val="141D21"/>
          </a:solidFill>
          <a:ln w="15875">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4192" y="2048256"/>
            <a:ext cx="2993136" cy="1481328"/>
          </a:xfrm>
          <a:prstGeom prst="rect">
            <a:avLst/>
          </a:prstGeom>
          <a:noFill/>
        </p:spPr>
        <p:txBody>
          <a:bodyPr wrap="square" anchor="t">
            <a:spAutoFit/>
          </a:bodyPr>
          <a:lstStyle/>
          <a:p>
            <a:pPr algn="l">
              <a:lnSpc>
                <a:spcPct val="100000"/>
              </a:lnSpc>
              <a:spcAft>
                <a:spcPts val="600"/>
              </a:spcAft>
            </a:pPr>
            <a:r>
              <a:rPr sz="1100" b="1">
                <a:solidFill>
                  <a:srgbClr val="C39BE0"/>
                </a:solidFill>
                <a:latin typeface="Consolas"/>
              </a:rPr>
              <a:t>2 · TRAINER</a:t>
            </a:r>
          </a:p>
          <a:p>
            <a:pPr algn="l">
              <a:lnSpc>
                <a:spcPct val="115000"/>
              </a:lnSpc>
              <a:spcAft>
                <a:spcPts val="0"/>
              </a:spcAft>
            </a:pPr>
            <a:r>
              <a:rPr sz="1400" b="0">
                <a:solidFill>
                  <a:srgbClr val="EEF3F3"/>
                </a:solidFill>
                <a:latin typeface="Calibri"/>
              </a:rPr>
              <a:t>Adds new token rows to the model and trains them by self-distillation, with the base model frozen.</a:t>
            </a:r>
          </a:p>
        </p:txBody>
      </p:sp>
      <p:sp>
        <p:nvSpPr>
          <p:cNvPr id="9" name="Rounded Rectangle 8"/>
          <p:cNvSpPr/>
          <p:nvPr/>
        </p:nvSpPr>
        <p:spPr>
          <a:xfrm>
            <a:off x="8016239" y="1828800"/>
            <a:ext cx="3505200" cy="192024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2271" y="2048256"/>
            <a:ext cx="2993136" cy="148132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3 · PROXY</a:t>
            </a:r>
          </a:p>
          <a:p>
            <a:pPr algn="l">
              <a:lnSpc>
                <a:spcPct val="115000"/>
              </a:lnSpc>
              <a:spcAft>
                <a:spcPts val="0"/>
              </a:spcAft>
            </a:pPr>
            <a:r>
              <a:rPr sz="1400" b="0">
                <a:solidFill>
                  <a:srgbClr val="EEF3F3"/>
                </a:solidFill>
                <a:latin typeface="Calibri"/>
              </a:rPr>
              <a:t>Swaps the fixed span for the Steno tokens and adopts the same harness adapter. No change to the agent or the engine’s code; the served model carries the new token rows.</a:t>
            </a:r>
          </a:p>
        </p:txBody>
      </p:sp>
      <p:sp>
        <p:nvSpPr>
          <p:cNvPr id="11" name="Rounded Rectangle 10"/>
          <p:cNvSpPr/>
          <p:nvPr/>
        </p:nvSpPr>
        <p:spPr>
          <a:xfrm>
            <a:off x="640080" y="3977639"/>
            <a:ext cx="5349240" cy="178308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97096"/>
            <a:ext cx="4837176" cy="134416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4 · BENCHMARK PACK</a:t>
            </a:r>
          </a:p>
          <a:p>
            <a:pPr algn="l">
              <a:lnSpc>
                <a:spcPct val="115000"/>
              </a:lnSpc>
              <a:spcAft>
                <a:spcPts val="0"/>
              </a:spcAft>
            </a:pPr>
            <a:r>
              <a:rPr sz="1400" b="0">
                <a:solidFill>
                  <a:srgbClr val="EEF3F3"/>
                </a:solidFill>
                <a:latin typeface="Calibri"/>
              </a:rPr>
              <a:t>Task suites scored against the full prompt, plus a serving benchmark for throughput and latency.</a:t>
            </a:r>
          </a:p>
        </p:txBody>
      </p:sp>
      <p:sp>
        <p:nvSpPr>
          <p:cNvPr id="13" name="Rounded Rectangle 12"/>
          <p:cNvSpPr/>
          <p:nvPr/>
        </p:nvSpPr>
        <p:spPr>
          <a:xfrm>
            <a:off x="6172200" y="3977639"/>
            <a:ext cx="5349240" cy="1783080"/>
          </a:xfrm>
          <a:prstGeom prst="roundRect">
            <a:avLst>
              <a:gd name="adj" fmla="val 6000"/>
            </a:avLst>
          </a:prstGeom>
          <a:solidFill>
            <a:srgbClr val="141D21"/>
          </a:solidFill>
          <a:ln w="15875">
            <a:solidFill>
              <a:srgbClr val="2C5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4197096"/>
            <a:ext cx="4837176" cy="1344168"/>
          </a:xfrm>
          <a:prstGeom prst="rect">
            <a:avLst/>
          </a:prstGeom>
          <a:noFill/>
        </p:spPr>
        <p:txBody>
          <a:bodyPr wrap="square" anchor="t">
            <a:spAutoFit/>
          </a:bodyPr>
          <a:lstStyle/>
          <a:p>
            <a:pPr algn="l">
              <a:lnSpc>
                <a:spcPct val="100000"/>
              </a:lnSpc>
              <a:spcAft>
                <a:spcPts val="600"/>
              </a:spcAft>
            </a:pPr>
            <a:r>
              <a:rPr sz="1100" b="1">
                <a:solidFill>
                  <a:srgbClr val="57C08A"/>
                </a:solidFill>
                <a:latin typeface="Consolas"/>
              </a:rPr>
              <a:t>5 · AUTO LOOP</a:t>
            </a:r>
          </a:p>
          <a:p>
            <a:pPr algn="l">
              <a:lnSpc>
                <a:spcPct val="115000"/>
              </a:lnSpc>
              <a:spcAft>
                <a:spcPts val="0"/>
              </a:spcAft>
            </a:pPr>
            <a:r>
              <a:rPr sz="1400" b="0">
                <a:solidFill>
                  <a:srgbClr val="EEF3F3"/>
                </a:solidFill>
                <a:latin typeface="Calibri"/>
              </a:rPr>
              <a:t>Runs the other four as stages. Runs today: one run spec, span study first, budget and pass gates, verified teardown. Bounded self-improvement (RSI, time-boxed): failure triage, lessons turned into checks, gated promotion, and a next-recipe proposer a person approves.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THE SPAN, AND WHY IT IS PER PAIR</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What the agent re-sends, measured on one pair</a:t>
            </a:r>
          </a:p>
        </p:txBody>
      </p:sp>
      <p:sp>
        <p:nvSpPr>
          <p:cNvPr id="5" name="Rectangle 4"/>
          <p:cNvSpPr/>
          <p:nvPr/>
        </p:nvSpPr>
        <p:spPr>
          <a:xfrm>
            <a:off x="640080" y="1783080"/>
            <a:ext cx="8460028" cy="868680"/>
          </a:xfrm>
          <a:prstGeom prst="rect">
            <a:avLst/>
          </a:prstGeom>
          <a:solidFill>
            <a:srgbClr val="1F5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1783080"/>
            <a:ext cx="8158276" cy="868680"/>
          </a:xfrm>
          <a:prstGeom prst="rect">
            <a:avLst/>
          </a:prstGeom>
          <a:noFill/>
        </p:spPr>
        <p:txBody>
          <a:bodyPr wrap="square" anchor="ctr">
            <a:spAutoFit/>
          </a:bodyPr>
          <a:lstStyle/>
          <a:p>
            <a:pPr algn="l">
              <a:lnSpc>
                <a:spcPct val="100000"/>
              </a:lnSpc>
              <a:spcAft>
                <a:spcPts val="200"/>
              </a:spcAft>
            </a:pPr>
            <a:r>
              <a:rPr sz="1400" b="1">
                <a:solidFill>
                  <a:srgbClr val="FFFFFF"/>
                </a:solidFill>
                <a:latin typeface="Calibri"/>
              </a:rPr>
              <a:t>Tool schemas</a:t>
            </a:r>
          </a:p>
          <a:p>
            <a:pPr algn="l">
              <a:lnSpc>
                <a:spcPct val="100000"/>
              </a:lnSpc>
              <a:spcAft>
                <a:spcPts val="0"/>
              </a:spcAft>
            </a:pPr>
            <a:r>
              <a:rPr sz="1000" b="0">
                <a:solidFill>
                  <a:srgbClr val="FFFFFF"/>
                </a:solidFill>
                <a:latin typeface="Calibri"/>
              </a:rPr>
              <a:t>~16,000 tokens  ·  &gt;90% of the block</a:t>
            </a:r>
          </a:p>
        </p:txBody>
      </p:sp>
      <p:sp>
        <p:nvSpPr>
          <p:cNvPr id="7" name="Rectangle 6"/>
          <p:cNvSpPr/>
          <p:nvPr/>
        </p:nvSpPr>
        <p:spPr>
          <a:xfrm>
            <a:off x="9127540" y="1783080"/>
            <a:ext cx="951890" cy="868680"/>
          </a:xfrm>
          <a:prstGeom prst="rect">
            <a:avLst/>
          </a:prstGeom>
          <a:solidFill>
            <a:srgbClr val="E08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92132" y="1783080"/>
            <a:ext cx="650138" cy="868680"/>
          </a:xfrm>
          <a:prstGeom prst="rect">
            <a:avLst/>
          </a:prstGeom>
          <a:noFill/>
        </p:spPr>
        <p:txBody>
          <a:bodyPr wrap="square" anchor="ctr">
            <a:spAutoFit/>
          </a:bodyPr>
          <a:lstStyle/>
          <a:p>
            <a:pPr algn="l">
              <a:lnSpc>
                <a:spcPct val="100000"/>
              </a:lnSpc>
              <a:spcAft>
                <a:spcPts val="200"/>
              </a:spcAft>
            </a:pPr>
            <a:r>
              <a:rPr sz="1100" b="1">
                <a:solidFill>
                  <a:srgbClr val="FFFFFF"/>
                </a:solidFill>
                <a:latin typeface="Calibri"/>
              </a:rPr>
              <a:t>Rules</a:t>
            </a:r>
          </a:p>
          <a:p>
            <a:pPr algn="l">
              <a:lnSpc>
                <a:spcPct val="100000"/>
              </a:lnSpc>
              <a:spcAft>
                <a:spcPts val="0"/>
              </a:spcAft>
            </a:pPr>
            <a:r>
              <a:rPr sz="850" b="0">
                <a:solidFill>
                  <a:srgbClr val="FFFFFF"/>
                </a:solidFill>
                <a:latin typeface="Calibri"/>
              </a:rPr>
              <a:t>~1.3k</a:t>
            </a:r>
          </a:p>
        </p:txBody>
      </p:sp>
      <p:sp>
        <p:nvSpPr>
          <p:cNvPr id="9" name="Rectangle 8"/>
          <p:cNvSpPr/>
          <p:nvPr/>
        </p:nvSpPr>
        <p:spPr>
          <a:xfrm>
            <a:off x="10106863" y="1783080"/>
            <a:ext cx="1387144" cy="868680"/>
          </a:xfrm>
          <a:prstGeom prst="rect">
            <a:avLst/>
          </a:prstGeom>
          <a:solidFill>
            <a:srgbClr val="2B3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71455" y="1783080"/>
            <a:ext cx="1085392" cy="868680"/>
          </a:xfrm>
          <a:prstGeom prst="rect">
            <a:avLst/>
          </a:prstGeom>
          <a:noFill/>
        </p:spPr>
        <p:txBody>
          <a:bodyPr wrap="square" anchor="ctr">
            <a:spAutoFit/>
          </a:bodyPr>
          <a:lstStyle/>
          <a:p>
            <a:pPr algn="l">
              <a:lnSpc>
                <a:spcPct val="100000"/>
              </a:lnSpc>
              <a:spcAft>
                <a:spcPts val="200"/>
              </a:spcAft>
            </a:pPr>
            <a:r>
              <a:rPr sz="1100" b="1">
                <a:solidFill>
                  <a:srgbClr val="FFFFFF"/>
                </a:solidFill>
                <a:latin typeface="Calibri"/>
              </a:rPr>
              <a:t>Per-session</a:t>
            </a:r>
          </a:p>
          <a:p>
            <a:pPr algn="l">
              <a:lnSpc>
                <a:spcPct val="100000"/>
              </a:lnSpc>
              <a:spcAft>
                <a:spcPts val="0"/>
              </a:spcAft>
            </a:pPr>
            <a:r>
              <a:rPr sz="850" b="0">
                <a:solidFill>
                  <a:srgbClr val="FFFFFF"/>
                </a:solidFill>
                <a:latin typeface="Calibri"/>
              </a:rPr>
              <a:t>kept raw</a:t>
            </a:r>
          </a:p>
        </p:txBody>
      </p:sp>
      <p:sp>
        <p:nvSpPr>
          <p:cNvPr id="11" name="TextBox 10"/>
          <p:cNvSpPr txBox="1"/>
          <p:nvPr/>
        </p:nvSpPr>
        <p:spPr>
          <a:xfrm>
            <a:off x="640080" y="2788920"/>
            <a:ext cx="4754880" cy="548640"/>
          </a:xfrm>
          <a:prstGeom prst="rect">
            <a:avLst/>
          </a:prstGeom>
          <a:noFill/>
        </p:spPr>
        <p:txBody>
          <a:bodyPr wrap="square" anchor="t">
            <a:spAutoFit/>
          </a:bodyPr>
          <a:lstStyle/>
          <a:p>
            <a:pPr algn="l">
              <a:lnSpc>
                <a:spcPct val="100000"/>
              </a:lnSpc>
              <a:spcAft>
                <a:spcPts val="0"/>
              </a:spcAft>
            </a:pPr>
            <a:r>
              <a:rPr sz="2600" b="1">
                <a:solidFill>
                  <a:srgbClr val="E08A4C"/>
                </a:solidFill>
                <a:latin typeface="Consolas"/>
              </a:rPr>
              <a:t>17.5–21k</a:t>
            </a:r>
          </a:p>
        </p:txBody>
      </p:sp>
      <p:sp>
        <p:nvSpPr>
          <p:cNvPr id="12" name="TextBox 11"/>
          <p:cNvSpPr txBox="1"/>
          <p:nvPr/>
        </p:nvSpPr>
        <p:spPr>
          <a:xfrm>
            <a:off x="640080" y="3310128"/>
            <a:ext cx="4754880" cy="457200"/>
          </a:xfrm>
          <a:prstGeom prst="rect">
            <a:avLst/>
          </a:prstGeom>
          <a:noFill/>
        </p:spPr>
        <p:txBody>
          <a:bodyPr wrap="square" anchor="t">
            <a:spAutoFit/>
          </a:bodyPr>
          <a:lstStyle/>
          <a:p>
            <a:pPr algn="l">
              <a:lnSpc>
                <a:spcPct val="100000"/>
              </a:lnSpc>
              <a:spcAft>
                <a:spcPts val="0"/>
              </a:spcAft>
            </a:pPr>
            <a:r>
              <a:rPr sz="1100" b="0">
                <a:solidFill>
                  <a:srgbClr val="9FB2B6"/>
                </a:solidFill>
                <a:latin typeface="Consolas"/>
              </a:rPr>
              <a:t>fixed tokens per call, across the span configurations we measured</a:t>
            </a:r>
          </a:p>
        </p:txBody>
      </p:sp>
      <p:sp>
        <p:nvSpPr>
          <p:cNvPr id="13" name="TextBox 12"/>
          <p:cNvSpPr txBox="1"/>
          <p:nvPr/>
        </p:nvSpPr>
        <p:spPr>
          <a:xfrm>
            <a:off x="5669280" y="2788920"/>
            <a:ext cx="4754880" cy="548640"/>
          </a:xfrm>
          <a:prstGeom prst="rect">
            <a:avLst/>
          </a:prstGeom>
          <a:noFill/>
        </p:spPr>
        <p:txBody>
          <a:bodyPr wrap="square" anchor="t">
            <a:spAutoFit/>
          </a:bodyPr>
          <a:lstStyle/>
          <a:p>
            <a:pPr algn="l">
              <a:lnSpc>
                <a:spcPct val="100000"/>
              </a:lnSpc>
              <a:spcAft>
                <a:spcPts val="0"/>
              </a:spcAft>
            </a:pPr>
            <a:r>
              <a:rPr sz="2600" b="1">
                <a:solidFill>
                  <a:srgbClr val="3FB0C6"/>
                </a:solidFill>
                <a:latin typeface="Consolas"/>
              </a:rPr>
              <a:t>0.72</a:t>
            </a:r>
          </a:p>
        </p:txBody>
      </p:sp>
      <p:sp>
        <p:nvSpPr>
          <p:cNvPr id="14" name="TextBox 13"/>
          <p:cNvSpPr txBox="1"/>
          <p:nvPr/>
        </p:nvSpPr>
        <p:spPr>
          <a:xfrm>
            <a:off x="5669280" y="3310128"/>
            <a:ext cx="4754880" cy="457200"/>
          </a:xfrm>
          <a:prstGeom prst="rect">
            <a:avLst/>
          </a:prstGeom>
          <a:noFill/>
        </p:spPr>
        <p:txBody>
          <a:bodyPr wrap="square" anchor="t">
            <a:spAutoFit/>
          </a:bodyPr>
          <a:lstStyle/>
          <a:p>
            <a:pPr algn="l">
              <a:lnSpc>
                <a:spcPct val="100000"/>
              </a:lnSpc>
              <a:spcAft>
                <a:spcPts val="0"/>
              </a:spcAft>
            </a:pPr>
            <a:r>
              <a:rPr sz="1100" b="0">
                <a:solidFill>
                  <a:srgbClr val="9FB2B6"/>
                </a:solidFill>
                <a:latin typeface="Consolas"/>
              </a:rPr>
              <a:t>mean share of input across eight logged sessions</a:t>
            </a:r>
          </a:p>
        </p:txBody>
      </p:sp>
      <p:sp>
        <p:nvSpPr>
          <p:cNvPr id="15" name="Rounded Rectangle 14"/>
          <p:cNvSpPr/>
          <p:nvPr/>
        </p:nvSpPr>
        <p:spPr>
          <a:xfrm>
            <a:off x="640080" y="3931920"/>
            <a:ext cx="10881360" cy="1280160"/>
          </a:xfrm>
          <a:prstGeom prst="roundRect">
            <a:avLst>
              <a:gd name="adj" fmla="val 6000"/>
            </a:avLst>
          </a:prstGeom>
          <a:solidFill>
            <a:srgbClr val="141D21"/>
          </a:solidFill>
          <a:ln w="15875">
            <a:solidFill>
              <a:srgbClr val="5A40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4151376"/>
            <a:ext cx="10369296" cy="841247"/>
          </a:xfrm>
          <a:prstGeom prst="rect">
            <a:avLst/>
          </a:prstGeom>
          <a:noFill/>
        </p:spPr>
        <p:txBody>
          <a:bodyPr wrap="square" anchor="t">
            <a:spAutoFit/>
          </a:bodyPr>
          <a:lstStyle/>
          <a:p>
            <a:pPr algn="l">
              <a:lnSpc>
                <a:spcPct val="100000"/>
              </a:lnSpc>
              <a:spcAft>
                <a:spcPts val="600"/>
              </a:spcAft>
            </a:pPr>
            <a:r>
              <a:rPr sz="1100" b="1">
                <a:solidFill>
                  <a:srgbClr val="E08A4C"/>
                </a:solidFill>
                <a:latin typeface="Consolas"/>
              </a:rPr>
              <a:t>RERUN PER PAIR</a:t>
            </a:r>
          </a:p>
          <a:p>
            <a:pPr algn="l">
              <a:lnSpc>
                <a:spcPct val="115000"/>
              </a:lnSpc>
              <a:spcAft>
                <a:spcPts val="0"/>
              </a:spcAft>
            </a:pPr>
            <a:r>
              <a:rPr sz="1500" b="0">
                <a:solidFill>
                  <a:srgbClr val="EEF3F3"/>
                </a:solidFill>
                <a:latin typeface="Calibri"/>
              </a:rPr>
              <a:t>The whole experiment suite, span study first, runs again for each harness and distilled-model pair. Needs a model whose weights we host.</a:t>
            </a:r>
          </a:p>
        </p:txBody>
      </p:sp>
      <p:sp>
        <p:nvSpPr>
          <p:cNvPr id="17" name="TextBox 16"/>
          <p:cNvSpPr txBox="1"/>
          <p:nvPr/>
        </p:nvSpPr>
        <p:spPr>
          <a:xfrm>
            <a:off x="640080" y="5623560"/>
            <a:ext cx="10881360" cy="731520"/>
          </a:xfrm>
          <a:prstGeom prst="rect">
            <a:avLst/>
          </a:prstGeom>
          <a:noFill/>
        </p:spPr>
        <p:txBody>
          <a:bodyPr wrap="square" anchor="t">
            <a:spAutoFit/>
          </a:bodyPr>
          <a:lstStyle/>
          <a:p>
            <a:pPr algn="l">
              <a:lnSpc>
                <a:spcPct val="115000"/>
              </a:lnSpc>
              <a:spcAft>
                <a:spcPts val="0"/>
              </a:spcAft>
            </a:pPr>
            <a:r>
              <a:rPr sz="1250" b="0">
                <a:solidFill>
                  <a:srgbClr val="9FB2B6"/>
                </a:solidFill>
                <a:latin typeface="Calibri"/>
              </a:rPr>
              <a:t>Measured on Claude Code with the Qwen tokenizer only. For each new pair, measure the repeated prompt and check which session-specific values must remain raw.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BRINGING A NEW HARNESS ONTO STENO</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One adapter per harness, including our own</a:t>
            </a:r>
          </a:p>
        </p:txBody>
      </p:sp>
      <p:sp>
        <p:nvSpPr>
          <p:cNvPr id="5" name="Rounded Rectangle 4"/>
          <p:cNvSpPr/>
          <p:nvPr/>
        </p:nvSpPr>
        <p:spPr>
          <a:xfrm>
            <a:off x="640080" y="1828800"/>
            <a:ext cx="201168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28800"/>
            <a:ext cx="201168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Harness traffic</a:t>
            </a:r>
          </a:p>
        </p:txBody>
      </p:sp>
      <p:sp>
        <p:nvSpPr>
          <p:cNvPr id="7" name="TextBox 6"/>
          <p:cNvSpPr txBox="1"/>
          <p:nvPr/>
        </p:nvSpPr>
        <p:spPr>
          <a:xfrm>
            <a:off x="2651760" y="182880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8" name="Rounded Rectangle 7"/>
          <p:cNvSpPr/>
          <p:nvPr/>
        </p:nvSpPr>
        <p:spPr>
          <a:xfrm>
            <a:off x="3063240" y="1828800"/>
            <a:ext cx="2286000" cy="1051560"/>
          </a:xfrm>
          <a:prstGeom prst="roundRect">
            <a:avLst>
              <a:gd name="adj" fmla="val 6000"/>
            </a:avLst>
          </a:prstGeom>
          <a:solidFill>
            <a:srgbClr val="141D21"/>
          </a:solidFill>
          <a:ln w="12700">
            <a:solidFill>
              <a:srgbClr val="5A40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63240" y="1828800"/>
            <a:ext cx="2286000" cy="1051560"/>
          </a:xfrm>
          <a:prstGeom prst="rect">
            <a:avLst/>
          </a:prstGeom>
          <a:noFill/>
        </p:spPr>
        <p:txBody>
          <a:bodyPr wrap="square" anchor="ctr">
            <a:spAutoFit/>
          </a:bodyPr>
          <a:lstStyle/>
          <a:p>
            <a:pPr algn="ctr">
              <a:lnSpc>
                <a:spcPct val="100000"/>
              </a:lnSpc>
              <a:spcAft>
                <a:spcPts val="0"/>
              </a:spcAft>
            </a:pPr>
            <a:r>
              <a:rPr sz="1400" b="1">
                <a:solidFill>
                  <a:srgbClr val="E08A4C"/>
                </a:solidFill>
                <a:latin typeface="Calibri"/>
              </a:rPr>
              <a:t>Harness adapter</a:t>
            </a:r>
          </a:p>
          <a:p>
            <a:pPr algn="ctr">
              <a:lnSpc>
                <a:spcPct val="100000"/>
              </a:lnSpc>
              <a:spcAft>
                <a:spcPts val="0"/>
              </a:spcAft>
            </a:pPr>
            <a:r>
              <a:rPr sz="1000" b="0">
                <a:solidFill>
                  <a:srgbClr val="9FB2B6"/>
                </a:solidFill>
                <a:latin typeface="Consolas"/>
              </a:rPr>
              <a:t>per harness</a:t>
            </a:r>
          </a:p>
        </p:txBody>
      </p:sp>
      <p:sp>
        <p:nvSpPr>
          <p:cNvPr id="10" name="TextBox 9"/>
          <p:cNvSpPr txBox="1"/>
          <p:nvPr/>
        </p:nvSpPr>
        <p:spPr>
          <a:xfrm>
            <a:off x="5349240" y="182880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1" name="Rounded Rectangle 10"/>
          <p:cNvSpPr/>
          <p:nvPr/>
        </p:nvSpPr>
        <p:spPr>
          <a:xfrm>
            <a:off x="5760720" y="1828800"/>
            <a:ext cx="265176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0" y="1828800"/>
            <a:ext cx="265176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Shared span analysis</a:t>
            </a:r>
          </a:p>
          <a:p>
            <a:pPr algn="ctr">
              <a:lnSpc>
                <a:spcPct val="100000"/>
              </a:lnSpc>
              <a:spcAft>
                <a:spcPts val="0"/>
              </a:spcAft>
            </a:pPr>
            <a:r>
              <a:rPr sz="1000" b="0">
                <a:solidFill>
                  <a:srgbClr val="9FB2B6"/>
                </a:solidFill>
                <a:latin typeface="Consolas"/>
              </a:rPr>
              <a:t>same for all</a:t>
            </a:r>
          </a:p>
        </p:txBody>
      </p:sp>
      <p:sp>
        <p:nvSpPr>
          <p:cNvPr id="13" name="TextBox 12"/>
          <p:cNvSpPr txBox="1"/>
          <p:nvPr/>
        </p:nvSpPr>
        <p:spPr>
          <a:xfrm>
            <a:off x="8412480" y="182880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4" name="Rounded Rectangle 13"/>
          <p:cNvSpPr/>
          <p:nvPr/>
        </p:nvSpPr>
        <p:spPr>
          <a:xfrm>
            <a:off x="8823960" y="1828800"/>
            <a:ext cx="2194560" cy="1051560"/>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1828800"/>
            <a:ext cx="2194560" cy="1051560"/>
          </a:xfrm>
          <a:prstGeom prst="rect">
            <a:avLst/>
          </a:prstGeom>
          <a:noFill/>
        </p:spPr>
        <p:txBody>
          <a:bodyPr wrap="square" anchor="ctr">
            <a:spAutoFit/>
          </a:bodyPr>
          <a:lstStyle/>
          <a:p>
            <a:pPr algn="ctr">
              <a:lnSpc>
                <a:spcPct val="100000"/>
              </a:lnSpc>
              <a:spcAft>
                <a:spcPts val="0"/>
              </a:spcAft>
            </a:pPr>
            <a:r>
              <a:rPr sz="1400" b="1">
                <a:solidFill>
                  <a:srgbClr val="C39BE0"/>
                </a:solidFill>
                <a:latin typeface="Calibri"/>
              </a:rPr>
              <a:t>Model adapter</a:t>
            </a:r>
          </a:p>
          <a:p>
            <a:pPr algn="ctr">
              <a:lnSpc>
                <a:spcPct val="100000"/>
              </a:lnSpc>
              <a:spcAft>
                <a:spcPts val="0"/>
              </a:spcAft>
            </a:pPr>
            <a:r>
              <a:rPr sz="1000" b="0">
                <a:solidFill>
                  <a:srgbClr val="9FB2B6"/>
                </a:solidFill>
                <a:latin typeface="Consolas"/>
              </a:rPr>
              <a:t>per model</a:t>
            </a:r>
          </a:p>
        </p:txBody>
      </p:sp>
      <p:sp>
        <p:nvSpPr>
          <p:cNvPr id="16" name="Rounded Rectangle 15"/>
          <p:cNvSpPr/>
          <p:nvPr/>
        </p:nvSpPr>
        <p:spPr>
          <a:xfrm>
            <a:off x="640080" y="3200400"/>
            <a:ext cx="2583180" cy="201168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419856"/>
            <a:ext cx="2071116" cy="157276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1 · CAPTURE</a:t>
            </a:r>
          </a:p>
          <a:p>
            <a:pPr algn="l">
              <a:lnSpc>
                <a:spcPct val="115000"/>
              </a:lnSpc>
              <a:spcAft>
                <a:spcPts val="0"/>
              </a:spcAft>
            </a:pPr>
            <a:r>
              <a:rPr sz="1350" b="0">
                <a:solidFill>
                  <a:srgbClr val="EEF3F3"/>
                </a:solidFill>
                <a:latin typeface="Calibri"/>
              </a:rPr>
              <a:t>Record a few real sessions of the harness.</a:t>
            </a:r>
          </a:p>
        </p:txBody>
      </p:sp>
      <p:sp>
        <p:nvSpPr>
          <p:cNvPr id="18" name="Rounded Rectangle 17"/>
          <p:cNvSpPr/>
          <p:nvPr/>
        </p:nvSpPr>
        <p:spPr>
          <a:xfrm>
            <a:off x="3406140" y="3200400"/>
            <a:ext cx="2583180" cy="201168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2172" y="3419856"/>
            <a:ext cx="2071116" cy="157276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2 · ADAPTER</a:t>
            </a:r>
          </a:p>
          <a:p>
            <a:pPr algn="l">
              <a:lnSpc>
                <a:spcPct val="115000"/>
              </a:lnSpc>
              <a:spcAft>
                <a:spcPts val="0"/>
              </a:spcAft>
            </a:pPr>
            <a:r>
              <a:rPr sz="1350" b="0">
                <a:solidFill>
                  <a:srgbClr val="EEF3F3"/>
                </a:solidFill>
                <a:latin typeface="Calibri"/>
              </a:rPr>
              <a:t>Map its requests to the common call record, and declare its per-session values.</a:t>
            </a:r>
          </a:p>
        </p:txBody>
      </p:sp>
      <p:sp>
        <p:nvSpPr>
          <p:cNvPr id="20" name="Rounded Rectangle 19"/>
          <p:cNvSpPr/>
          <p:nvPr/>
        </p:nvSpPr>
        <p:spPr>
          <a:xfrm>
            <a:off x="6172200" y="3200400"/>
            <a:ext cx="2583180" cy="201168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3419856"/>
            <a:ext cx="2071116" cy="157276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3 · FIXTURES</a:t>
            </a:r>
          </a:p>
          <a:p>
            <a:pPr algn="l">
              <a:lnSpc>
                <a:spcPct val="115000"/>
              </a:lnSpc>
              <a:spcAft>
                <a:spcPts val="0"/>
              </a:spcAft>
            </a:pPr>
            <a:r>
              <a:rPr sz="1350" b="0">
                <a:solidFill>
                  <a:srgbClr val="EEF3F3"/>
                </a:solidFill>
                <a:latin typeface="Calibri"/>
              </a:rPr>
              <a:t>Commit sample requests with their expected parse.</a:t>
            </a:r>
          </a:p>
        </p:txBody>
      </p:sp>
      <p:sp>
        <p:nvSpPr>
          <p:cNvPr id="22" name="Rounded Rectangle 21"/>
          <p:cNvSpPr/>
          <p:nvPr/>
        </p:nvSpPr>
        <p:spPr>
          <a:xfrm>
            <a:off x="8938260" y="3200400"/>
            <a:ext cx="2583180" cy="2011680"/>
          </a:xfrm>
          <a:prstGeom prst="roundRect">
            <a:avLst>
              <a:gd name="adj" fmla="val 6000"/>
            </a:avLst>
          </a:prstGeom>
          <a:solidFill>
            <a:srgbClr val="141D21"/>
          </a:solidFill>
          <a:ln w="15875">
            <a:solidFill>
              <a:srgbClr val="2C5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94292" y="3419856"/>
            <a:ext cx="2071116" cy="1572768"/>
          </a:xfrm>
          <a:prstGeom prst="rect">
            <a:avLst/>
          </a:prstGeom>
          <a:noFill/>
        </p:spPr>
        <p:txBody>
          <a:bodyPr wrap="square" anchor="t">
            <a:spAutoFit/>
          </a:bodyPr>
          <a:lstStyle/>
          <a:p>
            <a:pPr algn="l">
              <a:lnSpc>
                <a:spcPct val="100000"/>
              </a:lnSpc>
              <a:spcAft>
                <a:spcPts val="600"/>
              </a:spcAft>
            </a:pPr>
            <a:r>
              <a:rPr sz="1100" b="1">
                <a:solidFill>
                  <a:srgbClr val="57C08A"/>
                </a:solidFill>
                <a:latin typeface="Consolas"/>
              </a:rPr>
              <a:t>4 · CHECKS</a:t>
            </a:r>
          </a:p>
          <a:p>
            <a:pPr algn="l">
              <a:lnSpc>
                <a:spcPct val="115000"/>
              </a:lnSpc>
              <a:spcAft>
                <a:spcPts val="0"/>
              </a:spcAft>
            </a:pPr>
            <a:r>
              <a:rPr sz="1350" b="0">
                <a:solidFill>
                  <a:srgbClr val="EEF3F3"/>
                </a:solidFill>
                <a:latin typeface="Calibri"/>
              </a:rPr>
              <a:t>Pass the every-call invariance check on a fresh capture, then token parity once the model adapter is in.</a:t>
            </a:r>
          </a:p>
        </p:txBody>
      </p:sp>
      <p:sp>
        <p:nvSpPr>
          <p:cNvPr id="24" name="TextBox 23"/>
          <p:cNvSpPr txBox="1"/>
          <p:nvPr/>
        </p:nvSpPr>
        <p:spPr>
          <a:xfrm>
            <a:off x="640080" y="5349240"/>
            <a:ext cx="10881360" cy="457200"/>
          </a:xfrm>
          <a:prstGeom prst="rect">
            <a:avLst/>
          </a:prstGeom>
          <a:noFill/>
        </p:spPr>
        <p:txBody>
          <a:bodyPr wrap="square" anchor="t">
            <a:spAutoFit/>
          </a:bodyPr>
          <a:lstStyle/>
          <a:p>
            <a:pPr algn="l">
              <a:lnSpc>
                <a:spcPct val="115000"/>
              </a:lnSpc>
              <a:spcAft>
                <a:spcPts val="0"/>
              </a:spcAft>
            </a:pPr>
            <a:r>
              <a:rPr sz="1500" b="0">
                <a:solidFill>
                  <a:srgbClr val="EEF3F3"/>
                </a:solidFill>
                <a:latin typeface="Calibri"/>
              </a:rPr>
              <a:t>Already earning its keep: on real Claude Code traffic, the every-call check caught 15 per-call differences the old rules missed.</a:t>
            </a:r>
          </a:p>
        </p:txBody>
      </p:sp>
      <p:sp>
        <p:nvSpPr>
          <p:cNvPr id="25" name="TextBox 24"/>
          <p:cNvSpPr txBox="1"/>
          <p:nvPr/>
        </p:nvSpPr>
        <p:spPr>
          <a:xfrm>
            <a:off x="640080" y="5897880"/>
            <a:ext cx="10881360" cy="731520"/>
          </a:xfrm>
          <a:prstGeom prst="rect">
            <a:avLst/>
          </a:prstGeom>
          <a:noFill/>
        </p:spPr>
        <p:txBody>
          <a:bodyPr wrap="square" anchor="t">
            <a:spAutoFit/>
          </a:bodyPr>
          <a:lstStyle/>
          <a:p>
            <a:pPr algn="l">
              <a:lnSpc>
                <a:spcPct val="115000"/>
              </a:lnSpc>
              <a:spcAft>
                <a:spcPts val="0"/>
              </a:spcAft>
            </a:pPr>
            <a:r>
              <a:rPr sz="1200" b="0">
                <a:solidFill>
                  <a:srgbClr val="9FB2B6"/>
                </a:solidFill>
                <a:latin typeface="Calibri"/>
              </a:rPr>
              <a:t>Everything else in Steno stays unchanged. This is how in-house PayPal harnesses come onto Steno with little effort.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RESULTS ON THE PAIR STUDIED · CLAUDE CODE × QWEN3.8</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The short prompt did the same work</a:t>
            </a:r>
          </a:p>
        </p:txBody>
      </p:sp>
      <p:sp>
        <p:nvSpPr>
          <p:cNvPr id="5" name="Rounded Rectangle 4"/>
          <p:cNvSpPr/>
          <p:nvPr/>
        </p:nvSpPr>
        <p:spPr>
          <a:xfrm>
            <a:off x="640080" y="1828800"/>
            <a:ext cx="1737360" cy="1005840"/>
          </a:xfrm>
          <a:prstGeom prst="roundRect">
            <a:avLst>
              <a:gd name="adj" fmla="val 6000"/>
            </a:avLst>
          </a:prstGeom>
          <a:solidFill>
            <a:srgbClr val="141D21"/>
          </a:solidFill>
          <a:ln w="15875">
            <a:solidFill>
              <a:srgbClr val="1F5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74519"/>
            <a:ext cx="1737360" cy="914400"/>
          </a:xfrm>
          <a:prstGeom prst="rect">
            <a:avLst/>
          </a:prstGeom>
          <a:noFill/>
        </p:spPr>
        <p:txBody>
          <a:bodyPr wrap="square" anchor="ctr">
            <a:spAutoFit/>
          </a:bodyPr>
          <a:lstStyle/>
          <a:p>
            <a:pPr algn="ctr">
              <a:lnSpc>
                <a:spcPct val="100000"/>
              </a:lnSpc>
              <a:spcAft>
                <a:spcPts val="200"/>
              </a:spcAft>
            </a:pPr>
            <a:r>
              <a:rPr sz="2200" b="1">
                <a:solidFill>
                  <a:srgbClr val="3FB0C6"/>
                </a:solidFill>
                <a:latin typeface="Consolas"/>
              </a:rPr>
              <a:t>2:1</a:t>
            </a:r>
          </a:p>
          <a:p>
            <a:pPr algn="ctr">
              <a:lnSpc>
                <a:spcPct val="100000"/>
              </a:lnSpc>
              <a:spcAft>
                <a:spcPts val="0"/>
              </a:spcAft>
            </a:pPr>
            <a:r>
              <a:rPr sz="1300" b="0">
                <a:solidFill>
                  <a:srgbClr val="57C08A"/>
                </a:solidFill>
                <a:latin typeface="Consolas"/>
              </a:rPr>
              <a:t>12 / 12</a:t>
            </a:r>
          </a:p>
        </p:txBody>
      </p:sp>
      <p:sp>
        <p:nvSpPr>
          <p:cNvPr id="7" name="Rounded Rectangle 6"/>
          <p:cNvSpPr/>
          <p:nvPr/>
        </p:nvSpPr>
        <p:spPr>
          <a:xfrm>
            <a:off x="2651760" y="1828800"/>
            <a:ext cx="1737360" cy="1005840"/>
          </a:xfrm>
          <a:prstGeom prst="roundRect">
            <a:avLst>
              <a:gd name="adj" fmla="val 6000"/>
            </a:avLst>
          </a:prstGeom>
          <a:solidFill>
            <a:srgbClr val="141D21"/>
          </a:solidFill>
          <a:ln w="15875">
            <a:solidFill>
              <a:srgbClr val="1F5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1760" y="1874519"/>
            <a:ext cx="1737360" cy="914400"/>
          </a:xfrm>
          <a:prstGeom prst="rect">
            <a:avLst/>
          </a:prstGeom>
          <a:noFill/>
        </p:spPr>
        <p:txBody>
          <a:bodyPr wrap="square" anchor="ctr">
            <a:spAutoFit/>
          </a:bodyPr>
          <a:lstStyle/>
          <a:p>
            <a:pPr algn="ctr">
              <a:lnSpc>
                <a:spcPct val="100000"/>
              </a:lnSpc>
              <a:spcAft>
                <a:spcPts val="200"/>
              </a:spcAft>
            </a:pPr>
            <a:r>
              <a:rPr sz="2200" b="1">
                <a:solidFill>
                  <a:srgbClr val="3FB0C6"/>
                </a:solidFill>
                <a:latin typeface="Consolas"/>
              </a:rPr>
              <a:t>4:1</a:t>
            </a:r>
          </a:p>
          <a:p>
            <a:pPr algn="ctr">
              <a:lnSpc>
                <a:spcPct val="100000"/>
              </a:lnSpc>
              <a:spcAft>
                <a:spcPts val="0"/>
              </a:spcAft>
            </a:pPr>
            <a:r>
              <a:rPr sz="1300" b="0">
                <a:solidFill>
                  <a:srgbClr val="57C08A"/>
                </a:solidFill>
                <a:latin typeface="Consolas"/>
              </a:rPr>
              <a:t>12 / 12</a:t>
            </a:r>
          </a:p>
        </p:txBody>
      </p:sp>
      <p:sp>
        <p:nvSpPr>
          <p:cNvPr id="9" name="Rounded Rectangle 8"/>
          <p:cNvSpPr/>
          <p:nvPr/>
        </p:nvSpPr>
        <p:spPr>
          <a:xfrm>
            <a:off x="4663440" y="1828800"/>
            <a:ext cx="1737360" cy="1005840"/>
          </a:xfrm>
          <a:prstGeom prst="roundRect">
            <a:avLst>
              <a:gd name="adj" fmla="val 6000"/>
            </a:avLst>
          </a:prstGeom>
          <a:solidFill>
            <a:srgbClr val="141D21"/>
          </a:solidFill>
          <a:ln w="15875">
            <a:solidFill>
              <a:srgbClr val="1F5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1874519"/>
            <a:ext cx="1737360" cy="914400"/>
          </a:xfrm>
          <a:prstGeom prst="rect">
            <a:avLst/>
          </a:prstGeom>
          <a:noFill/>
        </p:spPr>
        <p:txBody>
          <a:bodyPr wrap="square" anchor="ctr">
            <a:spAutoFit/>
          </a:bodyPr>
          <a:lstStyle/>
          <a:p>
            <a:pPr algn="ctr">
              <a:lnSpc>
                <a:spcPct val="100000"/>
              </a:lnSpc>
              <a:spcAft>
                <a:spcPts val="200"/>
              </a:spcAft>
            </a:pPr>
            <a:r>
              <a:rPr sz="2200" b="1">
                <a:solidFill>
                  <a:srgbClr val="3FB0C6"/>
                </a:solidFill>
                <a:latin typeface="Consolas"/>
              </a:rPr>
              <a:t>8:1</a:t>
            </a:r>
          </a:p>
          <a:p>
            <a:pPr algn="ctr">
              <a:lnSpc>
                <a:spcPct val="100000"/>
              </a:lnSpc>
              <a:spcAft>
                <a:spcPts val="0"/>
              </a:spcAft>
            </a:pPr>
            <a:r>
              <a:rPr sz="1300" b="0">
                <a:solidFill>
                  <a:srgbClr val="57C08A"/>
                </a:solidFill>
                <a:latin typeface="Consolas"/>
              </a:rPr>
              <a:t>12 / 12</a:t>
            </a:r>
          </a:p>
        </p:txBody>
      </p:sp>
      <p:sp>
        <p:nvSpPr>
          <p:cNvPr id="11" name="Rounded Rectangle 10"/>
          <p:cNvSpPr/>
          <p:nvPr/>
        </p:nvSpPr>
        <p:spPr>
          <a:xfrm>
            <a:off x="6675120" y="1828800"/>
            <a:ext cx="1737360" cy="1005840"/>
          </a:xfrm>
          <a:prstGeom prst="roundRect">
            <a:avLst>
              <a:gd name="adj" fmla="val 6000"/>
            </a:avLst>
          </a:prstGeom>
          <a:solidFill>
            <a:srgbClr val="141D21"/>
          </a:solidFill>
          <a:ln w="15875">
            <a:solidFill>
              <a:srgbClr val="1F5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874519"/>
            <a:ext cx="1737360" cy="914400"/>
          </a:xfrm>
          <a:prstGeom prst="rect">
            <a:avLst/>
          </a:prstGeom>
          <a:noFill/>
        </p:spPr>
        <p:txBody>
          <a:bodyPr wrap="square" anchor="ctr">
            <a:spAutoFit/>
          </a:bodyPr>
          <a:lstStyle/>
          <a:p>
            <a:pPr algn="ctr">
              <a:lnSpc>
                <a:spcPct val="100000"/>
              </a:lnSpc>
              <a:spcAft>
                <a:spcPts val="200"/>
              </a:spcAft>
            </a:pPr>
            <a:r>
              <a:rPr sz="2200" b="1">
                <a:solidFill>
                  <a:srgbClr val="3FB0C6"/>
                </a:solidFill>
                <a:latin typeface="Consolas"/>
              </a:rPr>
              <a:t>16:1</a:t>
            </a:r>
          </a:p>
          <a:p>
            <a:pPr algn="ctr">
              <a:lnSpc>
                <a:spcPct val="100000"/>
              </a:lnSpc>
              <a:spcAft>
                <a:spcPts val="0"/>
              </a:spcAft>
            </a:pPr>
            <a:r>
              <a:rPr sz="1300" b="0">
                <a:solidFill>
                  <a:srgbClr val="57C08A"/>
                </a:solidFill>
                <a:latin typeface="Consolas"/>
              </a:rPr>
              <a:t>12 / 12</a:t>
            </a:r>
          </a:p>
        </p:txBody>
      </p:sp>
      <p:sp>
        <p:nvSpPr>
          <p:cNvPr id="13" name="TextBox 12"/>
          <p:cNvSpPr txBox="1"/>
          <p:nvPr/>
        </p:nvSpPr>
        <p:spPr>
          <a:xfrm>
            <a:off x="640080" y="3017520"/>
            <a:ext cx="10607040" cy="1188720"/>
          </a:xfrm>
          <a:prstGeom prst="rect">
            <a:avLst/>
          </a:prstGeom>
          <a:noFill/>
        </p:spPr>
        <p:txBody>
          <a:bodyPr wrap="square" anchor="t">
            <a:spAutoFit/>
          </a:bodyPr>
          <a:lstStyle/>
          <a:p>
            <a:pPr algn="l">
              <a:lnSpc>
                <a:spcPct val="120000"/>
              </a:lnSpc>
              <a:spcAft>
                <a:spcPts val="0"/>
              </a:spcAft>
            </a:pPr>
            <a:r>
              <a:rPr sz="1600" b="0">
                <a:solidFill>
                  <a:srgbClr val="9FB2B6"/>
                </a:solidFill>
                <a:latin typeface="Calibri"/>
              </a:rPr>
              <a:t>All four ratios scored 12/12 on the easy suite, matching the full prompt. At 8:1, input per turn fell from 24.3k to 9.4k tokens. We selected 8:1: the tested 16:1 checkpoint delivered about 61% of its peak-throughput improvement.</a:t>
            </a:r>
          </a:p>
        </p:txBody>
      </p:sp>
      <p:sp>
        <p:nvSpPr>
          <p:cNvPr id="14" name="TextBox 13"/>
          <p:cNvSpPr txBox="1"/>
          <p:nvPr/>
        </p:nvSpPr>
        <p:spPr>
          <a:xfrm>
            <a:off x="640080" y="4206240"/>
            <a:ext cx="10607040" cy="1188720"/>
          </a:xfrm>
          <a:prstGeom prst="rect">
            <a:avLst/>
          </a:prstGeom>
          <a:noFill/>
        </p:spPr>
        <p:txBody>
          <a:bodyPr wrap="square" anchor="t">
            <a:spAutoFit/>
          </a:bodyPr>
          <a:lstStyle/>
          <a:p>
            <a:pPr algn="l">
              <a:lnSpc>
                <a:spcPct val="120000"/>
              </a:lnSpc>
              <a:spcAft>
                <a:spcPts val="0"/>
              </a:spcAft>
            </a:pPr>
            <a:r>
              <a:rPr sz="1600" b="0">
                <a:solidFill>
                  <a:srgbClr val="9FB2B6"/>
                </a:solidFill>
                <a:latin typeface="Calibri"/>
              </a:rPr>
              <a:t>On the harder suite, keeping session values such as the working path out of the compressed prompt, together with retraining, brought 8:1 to 16/16, matching the full prompt on the same host. Other run conditions also changed, and one path error remained.</a:t>
            </a:r>
          </a:p>
        </p:txBody>
      </p:sp>
      <p:sp>
        <p:nvSpPr>
          <p:cNvPr id="15" name="Rounded Rectangle 14"/>
          <p:cNvSpPr/>
          <p:nvPr/>
        </p:nvSpPr>
        <p:spPr>
          <a:xfrm>
            <a:off x="640080" y="5577840"/>
            <a:ext cx="4389120" cy="457200"/>
          </a:xfrm>
          <a:prstGeom prst="roundRect">
            <a:avLst>
              <a:gd name="adj" fmla="val 6000"/>
            </a:avLst>
          </a:prstGeom>
          <a:no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632703"/>
            <a:ext cx="4206240" cy="365760"/>
          </a:xfrm>
          <a:prstGeom prst="rect">
            <a:avLst/>
          </a:prstGeom>
          <a:noFill/>
        </p:spPr>
        <p:txBody>
          <a:bodyPr wrap="square" anchor="t">
            <a:spAutoFit/>
          </a:bodyPr>
          <a:lstStyle/>
          <a:p>
            <a:pPr algn="l">
              <a:lnSpc>
                <a:spcPct val="100000"/>
              </a:lnSpc>
              <a:spcAft>
                <a:spcPts val="0"/>
              </a:spcAft>
            </a:pPr>
            <a:r>
              <a:rPr sz="1200" b="0">
                <a:solidFill>
                  <a:srgbClr val="E3B24C"/>
                </a:solidFill>
                <a:latin typeface="Consolas"/>
              </a:rPr>
              <a:t>single runs · small, partly reused suites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THE PAYOFF</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More work from the same GPU</a:t>
            </a:r>
          </a:p>
        </p:txBody>
      </p:sp>
      <p:graphicFrame>
        <p:nvGraphicFramePr>
          <p:cNvPr id="5" name="Chart 4"/>
          <p:cNvGraphicFramePr>
            <a:graphicFrameLocks noGrp="1"/>
          </p:cNvGraphicFramePr>
          <p:nvPr/>
        </p:nvGraphicFramePr>
        <p:xfrm>
          <a:off x="640080" y="1920240"/>
          <a:ext cx="6766560" cy="4206240"/>
        </p:xfrm>
        <a:graphic>
          <a:graphicData uri="http://schemas.openxmlformats.org/drawingml/2006/chart">
            <c:chart xmlns:c="http://schemas.openxmlformats.org/drawingml/2006/chart" r:id="rId2"/>
          </a:graphicData>
        </a:graphic>
      </p:graphicFrame>
      <p:sp>
        <p:nvSpPr>
          <p:cNvPr id="6" name="TextBox 5"/>
          <p:cNvSpPr txBox="1"/>
          <p:nvPr/>
        </p:nvSpPr>
        <p:spPr>
          <a:xfrm>
            <a:off x="7680960" y="1920240"/>
            <a:ext cx="3931920" cy="4480560"/>
          </a:xfrm>
          <a:prstGeom prst="rect">
            <a:avLst/>
          </a:prstGeom>
          <a:noFill/>
        </p:spPr>
        <p:txBody>
          <a:bodyPr wrap="square" anchor="t">
            <a:spAutoFit/>
          </a:bodyPr>
          <a:lstStyle/>
          <a:p>
            <a:pPr algn="l">
              <a:lnSpc>
                <a:spcPct val="100000"/>
              </a:lnSpc>
              <a:spcAft>
                <a:spcPts val="200"/>
              </a:spcAft>
            </a:pPr>
            <a:r>
              <a:rPr sz="2800" b="1">
                <a:solidFill>
                  <a:srgbClr val="C39BE0"/>
                </a:solidFill>
                <a:latin typeface="Consolas"/>
              </a:rPr>
              <a:t>2x</a:t>
            </a:r>
          </a:p>
          <a:p>
            <a:pPr algn="l">
              <a:lnSpc>
                <a:spcPct val="100000"/>
              </a:lnSpc>
              <a:spcAft>
                <a:spcPts val="1000"/>
              </a:spcAft>
            </a:pPr>
            <a:r>
              <a:rPr sz="1150" b="0">
                <a:solidFill>
                  <a:srgbClr val="9FB2B6"/>
                </a:solidFill>
                <a:latin typeface="Consolas"/>
              </a:rPr>
              <a:t>highest tested arrival rate passing each arm’s own latency threshold (18 → 36 req/min)</a:t>
            </a:r>
          </a:p>
          <a:p>
            <a:pPr algn="l">
              <a:lnSpc>
                <a:spcPct val="100000"/>
              </a:lnSpc>
              <a:spcAft>
                <a:spcPts val="200"/>
              </a:spcAft>
            </a:pPr>
            <a:r>
              <a:rPr sz="2800" b="1">
                <a:solidFill>
                  <a:srgbClr val="3FB0C6"/>
                </a:solidFill>
                <a:latin typeface="Consolas"/>
              </a:rPr>
              <a:t>+44%</a:t>
            </a:r>
          </a:p>
          <a:p>
            <a:pPr algn="l">
              <a:lnSpc>
                <a:spcPct val="100000"/>
              </a:lnSpc>
              <a:spcAft>
                <a:spcPts val="1000"/>
              </a:spcAft>
            </a:pPr>
            <a:r>
              <a:rPr sz="1150" b="0">
                <a:solidFill>
                  <a:srgbClr val="9FB2B6"/>
                </a:solidFill>
                <a:latin typeface="Consolas"/>
              </a:rPr>
              <a:t>peak throughput, same H100 (42.7 → 61.3 req/min)</a:t>
            </a:r>
          </a:p>
          <a:p>
            <a:pPr algn="l">
              <a:lnSpc>
                <a:spcPct val="115000"/>
              </a:lnSpc>
              <a:spcAft>
                <a:spcPts val="800"/>
              </a:spcAft>
            </a:pPr>
            <a:r>
              <a:rPr sz="1400" b="0">
                <a:solidFill>
                  <a:srgbClr val="EEF3F3"/>
                </a:solidFill>
                <a:latin typeface="Calibri"/>
              </a:rPr>
              <a:t>A capacity lever, not a speed lever: a single reply is barely faster.</a:t>
            </a:r>
          </a:p>
          <a:p>
            <a:pPr algn="l">
              <a:lnSpc>
                <a:spcPct val="112000"/>
              </a:lnSpc>
              <a:spcAft>
                <a:spcPts val="0"/>
              </a:spcAft>
            </a:pPr>
            <a:r>
              <a:rPr sz="1050" b="0">
                <a:solidFill>
                  <a:srgbClr val="9FB2B6"/>
                </a:solidFill>
                <a:latin typeface="Calibri"/>
              </a:rPr>
              <a:t>Threshold: twice each arm’s unloaded median latency, about 8.5 s full and 8.0 s Steno. Short, fixed-output replays on one GPU class, mean of three repeats; they did not measure task quality at load or isolate prefix-cache effects. On a larger H200, Steno was level at peak and ahead under heavy load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SECOND GPU · H200 NVL, 143 GB</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On a larger GPU, the gain shows up under heavy load</a:t>
            </a:r>
          </a:p>
        </p:txBody>
      </p:sp>
      <p:sp>
        <p:nvSpPr>
          <p:cNvPr id="5" name="Rounded Rectangle 4"/>
          <p:cNvSpPr/>
          <p:nvPr/>
        </p:nvSpPr>
        <p:spPr>
          <a:xfrm>
            <a:off x="640080" y="1828800"/>
            <a:ext cx="3505200" cy="17373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65960"/>
            <a:ext cx="3048000" cy="365760"/>
          </a:xfrm>
          <a:prstGeom prst="rect">
            <a:avLst/>
          </a:prstGeom>
          <a:noFill/>
        </p:spPr>
        <p:txBody>
          <a:bodyPr wrap="square" anchor="t">
            <a:spAutoFit/>
          </a:bodyPr>
          <a:lstStyle/>
          <a:p>
            <a:pPr algn="l">
              <a:lnSpc>
                <a:spcPct val="100000"/>
              </a:lnSpc>
              <a:spcAft>
                <a:spcPts val="0"/>
              </a:spcAft>
            </a:pPr>
            <a:r>
              <a:rPr sz="1050" b="1">
                <a:solidFill>
                  <a:srgbClr val="3FB0C6"/>
                </a:solidFill>
                <a:latin typeface="Consolas"/>
              </a:rPr>
              <a:t>AT EACH ARM’S PEAK</a:t>
            </a:r>
          </a:p>
        </p:txBody>
      </p:sp>
      <p:sp>
        <p:nvSpPr>
          <p:cNvPr id="7" name="TextBox 6"/>
          <p:cNvSpPr txBox="1"/>
          <p:nvPr/>
        </p:nvSpPr>
        <p:spPr>
          <a:xfrm>
            <a:off x="868680" y="2377440"/>
            <a:ext cx="1645920" cy="640080"/>
          </a:xfrm>
          <a:prstGeom prst="rect">
            <a:avLst/>
          </a:prstGeom>
          <a:noFill/>
        </p:spPr>
        <p:txBody>
          <a:bodyPr wrap="square" anchor="t">
            <a:spAutoFit/>
          </a:bodyPr>
          <a:lstStyle/>
          <a:p>
            <a:pPr algn="l">
              <a:lnSpc>
                <a:spcPct val="100000"/>
              </a:lnSpc>
              <a:spcAft>
                <a:spcPts val="0"/>
              </a:spcAft>
            </a:pPr>
            <a:r>
              <a:rPr sz="2800" b="1">
                <a:solidFill>
                  <a:srgbClr val="3FB0C6"/>
                </a:solidFill>
                <a:latin typeface="Consolas"/>
              </a:rPr>
              <a:t>85.3</a:t>
            </a:r>
          </a:p>
        </p:txBody>
      </p:sp>
      <p:sp>
        <p:nvSpPr>
          <p:cNvPr id="8" name="TextBox 7"/>
          <p:cNvSpPr txBox="1"/>
          <p:nvPr/>
        </p:nvSpPr>
        <p:spPr>
          <a:xfrm>
            <a:off x="868680"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full prompt</a:t>
            </a:r>
          </a:p>
        </p:txBody>
      </p:sp>
      <p:sp>
        <p:nvSpPr>
          <p:cNvPr id="9" name="TextBox 8"/>
          <p:cNvSpPr txBox="1"/>
          <p:nvPr/>
        </p:nvSpPr>
        <p:spPr>
          <a:xfrm>
            <a:off x="2560320" y="2377440"/>
            <a:ext cx="1645920" cy="640080"/>
          </a:xfrm>
          <a:prstGeom prst="rect">
            <a:avLst/>
          </a:prstGeom>
          <a:noFill/>
        </p:spPr>
        <p:txBody>
          <a:bodyPr wrap="square" anchor="t">
            <a:spAutoFit/>
          </a:bodyPr>
          <a:lstStyle/>
          <a:p>
            <a:pPr algn="l">
              <a:lnSpc>
                <a:spcPct val="100000"/>
              </a:lnSpc>
              <a:spcAft>
                <a:spcPts val="0"/>
              </a:spcAft>
            </a:pPr>
            <a:r>
              <a:rPr sz="2800" b="1">
                <a:solidFill>
                  <a:srgbClr val="C39BE0"/>
                </a:solidFill>
                <a:latin typeface="Consolas"/>
              </a:rPr>
              <a:t>83.3</a:t>
            </a:r>
          </a:p>
        </p:txBody>
      </p:sp>
      <p:sp>
        <p:nvSpPr>
          <p:cNvPr id="10" name="TextBox 9"/>
          <p:cNvSpPr txBox="1"/>
          <p:nvPr/>
        </p:nvSpPr>
        <p:spPr>
          <a:xfrm>
            <a:off x="2560320"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Steno 8:1 · level</a:t>
            </a:r>
          </a:p>
        </p:txBody>
      </p:sp>
      <p:sp>
        <p:nvSpPr>
          <p:cNvPr id="11" name="Rounded Rectangle 10"/>
          <p:cNvSpPr/>
          <p:nvPr/>
        </p:nvSpPr>
        <p:spPr>
          <a:xfrm>
            <a:off x="4328160" y="1828800"/>
            <a:ext cx="3505200" cy="1737360"/>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6760" y="1965960"/>
            <a:ext cx="3048000" cy="365760"/>
          </a:xfrm>
          <a:prstGeom prst="rect">
            <a:avLst/>
          </a:prstGeom>
          <a:noFill/>
        </p:spPr>
        <p:txBody>
          <a:bodyPr wrap="square" anchor="t">
            <a:spAutoFit/>
          </a:bodyPr>
          <a:lstStyle/>
          <a:p>
            <a:pPr algn="l">
              <a:lnSpc>
                <a:spcPct val="100000"/>
              </a:lnSpc>
              <a:spcAft>
                <a:spcPts val="0"/>
              </a:spcAft>
            </a:pPr>
            <a:r>
              <a:rPr sz="1050" b="1">
                <a:solidFill>
                  <a:srgbClr val="3FB0C6"/>
                </a:solidFill>
                <a:latin typeface="Consolas"/>
              </a:rPr>
              <a:t>128 SESSIONS · CAP LIFTED</a:t>
            </a:r>
          </a:p>
        </p:txBody>
      </p:sp>
      <p:sp>
        <p:nvSpPr>
          <p:cNvPr id="13" name="TextBox 12"/>
          <p:cNvSpPr txBox="1"/>
          <p:nvPr/>
        </p:nvSpPr>
        <p:spPr>
          <a:xfrm>
            <a:off x="4556760" y="2377440"/>
            <a:ext cx="1645920" cy="640080"/>
          </a:xfrm>
          <a:prstGeom prst="rect">
            <a:avLst/>
          </a:prstGeom>
          <a:noFill/>
        </p:spPr>
        <p:txBody>
          <a:bodyPr wrap="square" anchor="t">
            <a:spAutoFit/>
          </a:bodyPr>
          <a:lstStyle/>
          <a:p>
            <a:pPr algn="l">
              <a:lnSpc>
                <a:spcPct val="100000"/>
              </a:lnSpc>
              <a:spcAft>
                <a:spcPts val="0"/>
              </a:spcAft>
            </a:pPr>
            <a:r>
              <a:rPr sz="2800" b="1">
                <a:solidFill>
                  <a:srgbClr val="4A5A60"/>
                </a:solidFill>
                <a:latin typeface="Consolas"/>
              </a:rPr>
              <a:t>47.0</a:t>
            </a:r>
          </a:p>
        </p:txBody>
      </p:sp>
      <p:sp>
        <p:nvSpPr>
          <p:cNvPr id="14" name="TextBox 13"/>
          <p:cNvSpPr txBox="1"/>
          <p:nvPr/>
        </p:nvSpPr>
        <p:spPr>
          <a:xfrm>
            <a:off x="4556760"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full prompt</a:t>
            </a:r>
          </a:p>
        </p:txBody>
      </p:sp>
      <p:sp>
        <p:nvSpPr>
          <p:cNvPr id="15" name="TextBox 14"/>
          <p:cNvSpPr txBox="1"/>
          <p:nvPr/>
        </p:nvSpPr>
        <p:spPr>
          <a:xfrm>
            <a:off x="6248400" y="2377440"/>
            <a:ext cx="1645920" cy="640080"/>
          </a:xfrm>
          <a:prstGeom prst="rect">
            <a:avLst/>
          </a:prstGeom>
          <a:noFill/>
        </p:spPr>
        <p:txBody>
          <a:bodyPr wrap="square" anchor="t">
            <a:spAutoFit/>
          </a:bodyPr>
          <a:lstStyle/>
          <a:p>
            <a:pPr algn="l">
              <a:lnSpc>
                <a:spcPct val="100000"/>
              </a:lnSpc>
              <a:spcAft>
                <a:spcPts val="0"/>
              </a:spcAft>
            </a:pPr>
            <a:r>
              <a:rPr sz="2800" b="1">
                <a:solidFill>
                  <a:srgbClr val="C39BE0"/>
                </a:solidFill>
                <a:latin typeface="Consolas"/>
              </a:rPr>
              <a:t>80.7</a:t>
            </a:r>
          </a:p>
        </p:txBody>
      </p:sp>
      <p:sp>
        <p:nvSpPr>
          <p:cNvPr id="16" name="TextBox 15"/>
          <p:cNvSpPr txBox="1"/>
          <p:nvPr/>
        </p:nvSpPr>
        <p:spPr>
          <a:xfrm>
            <a:off x="6248400"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Steno 8:1 · 1.7x</a:t>
            </a:r>
          </a:p>
        </p:txBody>
      </p:sp>
      <p:sp>
        <p:nvSpPr>
          <p:cNvPr id="17" name="Rounded Rectangle 16"/>
          <p:cNvSpPr/>
          <p:nvPr/>
        </p:nvSpPr>
        <p:spPr>
          <a:xfrm>
            <a:off x="8016239" y="1828800"/>
            <a:ext cx="3505200" cy="1737360"/>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4839" y="1965960"/>
            <a:ext cx="3048000" cy="365760"/>
          </a:xfrm>
          <a:prstGeom prst="rect">
            <a:avLst/>
          </a:prstGeom>
          <a:noFill/>
        </p:spPr>
        <p:txBody>
          <a:bodyPr wrap="square" anchor="t">
            <a:spAutoFit/>
          </a:bodyPr>
          <a:lstStyle/>
          <a:p>
            <a:pPr algn="l">
              <a:lnSpc>
                <a:spcPct val="100000"/>
              </a:lnSpc>
              <a:spcAft>
                <a:spcPts val="0"/>
              </a:spcAft>
            </a:pPr>
            <a:r>
              <a:rPr sz="1050" b="1">
                <a:solidFill>
                  <a:srgbClr val="3FB0C6"/>
                </a:solidFill>
                <a:latin typeface="Consolas"/>
              </a:rPr>
              <a:t>256 SESSIONS · CAP LIFTED</a:t>
            </a:r>
          </a:p>
        </p:txBody>
      </p:sp>
      <p:sp>
        <p:nvSpPr>
          <p:cNvPr id="19" name="TextBox 18"/>
          <p:cNvSpPr txBox="1"/>
          <p:nvPr/>
        </p:nvSpPr>
        <p:spPr>
          <a:xfrm>
            <a:off x="8244839" y="2377440"/>
            <a:ext cx="1645920" cy="640080"/>
          </a:xfrm>
          <a:prstGeom prst="rect">
            <a:avLst/>
          </a:prstGeom>
          <a:noFill/>
        </p:spPr>
        <p:txBody>
          <a:bodyPr wrap="square" anchor="t">
            <a:spAutoFit/>
          </a:bodyPr>
          <a:lstStyle/>
          <a:p>
            <a:pPr algn="l">
              <a:lnSpc>
                <a:spcPct val="100000"/>
              </a:lnSpc>
              <a:spcAft>
                <a:spcPts val="0"/>
              </a:spcAft>
            </a:pPr>
            <a:r>
              <a:rPr sz="2800" b="1">
                <a:solidFill>
                  <a:srgbClr val="4A5A60"/>
                </a:solidFill>
                <a:latin typeface="Consolas"/>
              </a:rPr>
              <a:t>46.3</a:t>
            </a:r>
          </a:p>
        </p:txBody>
      </p:sp>
      <p:sp>
        <p:nvSpPr>
          <p:cNvPr id="20" name="TextBox 19"/>
          <p:cNvSpPr txBox="1"/>
          <p:nvPr/>
        </p:nvSpPr>
        <p:spPr>
          <a:xfrm>
            <a:off x="8244839"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full prompt</a:t>
            </a:r>
          </a:p>
        </p:txBody>
      </p:sp>
      <p:sp>
        <p:nvSpPr>
          <p:cNvPr id="21" name="TextBox 20"/>
          <p:cNvSpPr txBox="1"/>
          <p:nvPr/>
        </p:nvSpPr>
        <p:spPr>
          <a:xfrm>
            <a:off x="9936479" y="2377440"/>
            <a:ext cx="1645920" cy="640080"/>
          </a:xfrm>
          <a:prstGeom prst="rect">
            <a:avLst/>
          </a:prstGeom>
          <a:noFill/>
        </p:spPr>
        <p:txBody>
          <a:bodyPr wrap="square" anchor="t">
            <a:spAutoFit/>
          </a:bodyPr>
          <a:lstStyle/>
          <a:p>
            <a:pPr algn="l">
              <a:lnSpc>
                <a:spcPct val="100000"/>
              </a:lnSpc>
              <a:spcAft>
                <a:spcPts val="0"/>
              </a:spcAft>
            </a:pPr>
            <a:r>
              <a:rPr sz="2800" b="1">
                <a:solidFill>
                  <a:srgbClr val="C39BE0"/>
                </a:solidFill>
                <a:latin typeface="Consolas"/>
              </a:rPr>
              <a:t>56.7</a:t>
            </a:r>
          </a:p>
        </p:txBody>
      </p:sp>
      <p:sp>
        <p:nvSpPr>
          <p:cNvPr id="22" name="TextBox 21"/>
          <p:cNvSpPr txBox="1"/>
          <p:nvPr/>
        </p:nvSpPr>
        <p:spPr>
          <a:xfrm>
            <a:off x="9936479" y="3017520"/>
            <a:ext cx="1645920" cy="365760"/>
          </a:xfrm>
          <a:prstGeom prst="rect">
            <a:avLst/>
          </a:prstGeom>
          <a:noFill/>
        </p:spPr>
        <p:txBody>
          <a:bodyPr wrap="square" anchor="t">
            <a:spAutoFit/>
          </a:bodyPr>
          <a:lstStyle/>
          <a:p>
            <a:pPr algn="l">
              <a:lnSpc>
                <a:spcPct val="100000"/>
              </a:lnSpc>
              <a:spcAft>
                <a:spcPts val="0"/>
              </a:spcAft>
            </a:pPr>
            <a:r>
              <a:rPr sz="1000" b="0">
                <a:solidFill>
                  <a:srgbClr val="9FB2B6"/>
                </a:solidFill>
                <a:latin typeface="Consolas"/>
              </a:rPr>
              <a:t>Steno 8:1 · 1.2x</a:t>
            </a:r>
          </a:p>
        </p:txBody>
      </p:sp>
      <p:sp>
        <p:nvSpPr>
          <p:cNvPr id="23" name="TextBox 22"/>
          <p:cNvSpPr txBox="1"/>
          <p:nvPr/>
        </p:nvSpPr>
        <p:spPr>
          <a:xfrm>
            <a:off x="640080" y="3657600"/>
            <a:ext cx="10881360" cy="365760"/>
          </a:xfrm>
          <a:prstGeom prst="rect">
            <a:avLst/>
          </a:prstGeom>
          <a:noFill/>
        </p:spPr>
        <p:txBody>
          <a:bodyPr wrap="square" anchor="t">
            <a:spAutoFit/>
          </a:bodyPr>
          <a:lstStyle/>
          <a:p>
            <a:pPr algn="l">
              <a:lnSpc>
                <a:spcPct val="100000"/>
              </a:lnSpc>
              <a:spcAft>
                <a:spcPts val="0"/>
              </a:spcAft>
            </a:pPr>
            <a:r>
              <a:rPr sz="1100" b="0">
                <a:solidFill>
                  <a:srgbClr val="9FB2B6"/>
                </a:solidFill>
                <a:latin typeface="Consolas"/>
              </a:rPr>
              <a:t>replay requests per minute</a:t>
            </a:r>
          </a:p>
        </p:txBody>
      </p:sp>
      <p:sp>
        <p:nvSpPr>
          <p:cNvPr id="24" name="TextBox 23"/>
          <p:cNvSpPr txBox="1"/>
          <p:nvPr/>
        </p:nvSpPr>
        <p:spPr>
          <a:xfrm>
            <a:off x="640080" y="4069080"/>
            <a:ext cx="10881360" cy="1280160"/>
          </a:xfrm>
          <a:prstGeom prst="rect">
            <a:avLst/>
          </a:prstGeom>
          <a:noFill/>
        </p:spPr>
        <p:txBody>
          <a:bodyPr wrap="square" anchor="t">
            <a:spAutoFit/>
          </a:bodyPr>
          <a:lstStyle/>
          <a:p>
            <a:pPr algn="l">
              <a:lnSpc>
                <a:spcPct val="120000"/>
              </a:lnSpc>
              <a:spcAft>
                <a:spcPts val="0"/>
              </a:spcAft>
            </a:pPr>
            <a:r>
              <a:rPr sz="1500" b="0">
                <a:solidFill>
                  <a:srgbClr val="9FB2B6"/>
                </a:solidFill>
                <a:latin typeface="Calibri"/>
              </a:rPr>
              <a:t>At each arm’s best point the two run level. Pushed to 128 and 256 concurrent sessions with our client’s connection cap removed, the full prompt fell to about 47 req/min as the cache filled, while Steno served 1.2 to 1.7 times more. Per rental dollar, the H100 with Steno and the H200 without it come out roughly even (appendix B).</a:t>
            </a:r>
          </a:p>
        </p:txBody>
      </p:sp>
      <p:sp>
        <p:nvSpPr>
          <p:cNvPr id="25" name="Rounded Rectangle 24"/>
          <p:cNvSpPr/>
          <p:nvPr/>
        </p:nvSpPr>
        <p:spPr>
          <a:xfrm>
            <a:off x="640080" y="5532120"/>
            <a:ext cx="6766560" cy="457200"/>
          </a:xfrm>
          <a:prstGeom prst="roundRect">
            <a:avLst>
              <a:gd name="adj" fmla="val 6000"/>
            </a:avLst>
          </a:prstGeom>
          <a:no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586983"/>
            <a:ext cx="6583680" cy="365760"/>
          </a:xfrm>
          <a:prstGeom prst="rect">
            <a:avLst/>
          </a:prstGeom>
          <a:noFill/>
        </p:spPr>
        <p:txBody>
          <a:bodyPr wrap="square" anchor="t">
            <a:spAutoFit/>
          </a:bodyPr>
          <a:lstStyle/>
          <a:p>
            <a:pPr algn="l">
              <a:lnSpc>
                <a:spcPct val="100000"/>
              </a:lnSpc>
              <a:spcAft>
                <a:spcPts val="0"/>
              </a:spcAft>
            </a:pPr>
            <a:r>
              <a:rPr sz="1200" b="0">
                <a:solidFill>
                  <a:srgbClr val="E3B24C"/>
                </a:solidFill>
                <a:latin typeface="Consolas"/>
              </a:rPr>
              <a:t>peak: two repeats, H100-tuned settings · heavy load: one run per condition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SYNERGY WITHIN LATTICE · PROPOSAL</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Distil first, then apply Steno to it</a:t>
            </a:r>
          </a:p>
        </p:txBody>
      </p:sp>
      <p:sp>
        <p:nvSpPr>
          <p:cNvPr id="5" name="Rounded Rectangle 4"/>
          <p:cNvSpPr/>
          <p:nvPr/>
        </p:nvSpPr>
        <p:spPr>
          <a:xfrm>
            <a:off x="640080" y="2103120"/>
            <a:ext cx="164592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103120"/>
            <a:ext cx="164592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Base model</a:t>
            </a:r>
          </a:p>
        </p:txBody>
      </p:sp>
      <p:sp>
        <p:nvSpPr>
          <p:cNvPr id="7" name="TextBox 6"/>
          <p:cNvSpPr txBox="1"/>
          <p:nvPr/>
        </p:nvSpPr>
        <p:spPr>
          <a:xfrm>
            <a:off x="2286000" y="210312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8" name="Rounded Rectangle 7"/>
          <p:cNvSpPr/>
          <p:nvPr/>
        </p:nvSpPr>
        <p:spPr>
          <a:xfrm>
            <a:off x="2697480" y="2103120"/>
            <a:ext cx="146304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97480" y="2103120"/>
            <a:ext cx="146304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Distil</a:t>
            </a:r>
          </a:p>
          <a:p>
            <a:pPr algn="ctr">
              <a:lnSpc>
                <a:spcPct val="100000"/>
              </a:lnSpc>
              <a:spcAft>
                <a:spcPts val="0"/>
              </a:spcAft>
            </a:pPr>
            <a:r>
              <a:rPr sz="1000" b="0">
                <a:solidFill>
                  <a:srgbClr val="9FB2B6"/>
                </a:solidFill>
                <a:latin typeface="Consolas"/>
              </a:rPr>
              <a:t>distillation track</a:t>
            </a:r>
          </a:p>
        </p:txBody>
      </p:sp>
      <p:sp>
        <p:nvSpPr>
          <p:cNvPr id="10" name="TextBox 9"/>
          <p:cNvSpPr txBox="1"/>
          <p:nvPr/>
        </p:nvSpPr>
        <p:spPr>
          <a:xfrm>
            <a:off x="4160520" y="210312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1" name="Rounded Rectangle 10"/>
          <p:cNvSpPr/>
          <p:nvPr/>
        </p:nvSpPr>
        <p:spPr>
          <a:xfrm>
            <a:off x="4572000" y="2103120"/>
            <a:ext cx="182880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2103120"/>
            <a:ext cx="182880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Student model</a:t>
            </a:r>
          </a:p>
        </p:txBody>
      </p:sp>
      <p:sp>
        <p:nvSpPr>
          <p:cNvPr id="13" name="TextBox 12"/>
          <p:cNvSpPr txBox="1"/>
          <p:nvPr/>
        </p:nvSpPr>
        <p:spPr>
          <a:xfrm>
            <a:off x="6400800" y="210312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4" name="Rounded Rectangle 13"/>
          <p:cNvSpPr/>
          <p:nvPr/>
        </p:nvSpPr>
        <p:spPr>
          <a:xfrm>
            <a:off x="6812280" y="2103120"/>
            <a:ext cx="1371600" cy="1051560"/>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2103120"/>
            <a:ext cx="1371600" cy="1051560"/>
          </a:xfrm>
          <a:prstGeom prst="rect">
            <a:avLst/>
          </a:prstGeom>
          <a:noFill/>
        </p:spPr>
        <p:txBody>
          <a:bodyPr wrap="square" anchor="ctr">
            <a:spAutoFit/>
          </a:bodyPr>
          <a:lstStyle/>
          <a:p>
            <a:pPr algn="ctr">
              <a:lnSpc>
                <a:spcPct val="100000"/>
              </a:lnSpc>
              <a:spcAft>
                <a:spcPts val="0"/>
              </a:spcAft>
            </a:pPr>
            <a:r>
              <a:rPr sz="1400" b="1">
                <a:solidFill>
                  <a:srgbClr val="C39BE0"/>
                </a:solidFill>
                <a:latin typeface="Calibri"/>
              </a:rPr>
              <a:t>Steno</a:t>
            </a:r>
          </a:p>
          <a:p>
            <a:pPr algn="ctr">
              <a:lnSpc>
                <a:spcPct val="100000"/>
              </a:lnSpc>
              <a:spcAft>
                <a:spcPts val="0"/>
              </a:spcAft>
            </a:pPr>
            <a:r>
              <a:rPr sz="1000" b="0">
                <a:solidFill>
                  <a:srgbClr val="9FB2B6"/>
                </a:solidFill>
                <a:latin typeface="Consolas"/>
              </a:rPr>
              <a:t>this recipe</a:t>
            </a:r>
          </a:p>
        </p:txBody>
      </p:sp>
      <p:sp>
        <p:nvSpPr>
          <p:cNvPr id="16" name="TextBox 15"/>
          <p:cNvSpPr txBox="1"/>
          <p:nvPr/>
        </p:nvSpPr>
        <p:spPr>
          <a:xfrm>
            <a:off x="8183880" y="2103120"/>
            <a:ext cx="411480" cy="105156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7" name="Rounded Rectangle 16"/>
          <p:cNvSpPr/>
          <p:nvPr/>
        </p:nvSpPr>
        <p:spPr>
          <a:xfrm>
            <a:off x="8595360" y="2103120"/>
            <a:ext cx="2377440" cy="105156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0" y="2103120"/>
            <a:ext cx="2377440" cy="105156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Smaller model, shorter prompt</a:t>
            </a:r>
          </a:p>
        </p:txBody>
      </p:sp>
      <p:sp>
        <p:nvSpPr>
          <p:cNvPr id="19" name="TextBox 18"/>
          <p:cNvSpPr txBox="1"/>
          <p:nvPr/>
        </p:nvSpPr>
        <p:spPr>
          <a:xfrm>
            <a:off x="640080" y="3566160"/>
            <a:ext cx="10607040" cy="1188720"/>
          </a:xfrm>
          <a:prstGeom prst="rect">
            <a:avLst/>
          </a:prstGeom>
          <a:noFill/>
        </p:spPr>
        <p:txBody>
          <a:bodyPr wrap="square" anchor="t">
            <a:spAutoFit/>
          </a:bodyPr>
          <a:lstStyle/>
          <a:p>
            <a:pPr algn="l">
              <a:lnSpc>
                <a:spcPct val="125000"/>
              </a:lnSpc>
              <a:spcAft>
                <a:spcPts val="0"/>
              </a:spcAft>
            </a:pPr>
            <a:r>
              <a:rPr sz="1800" b="0">
                <a:solidFill>
                  <a:srgbClr val="9FB2B6"/>
                </a:solidFill>
                <a:latin typeface="Calibri"/>
              </a:rPr>
              <a:t>A distilled student model still receives the fixed preamble on each call. Running the Steno recipe on it aims to reduce both model size and prompt length.</a:t>
            </a:r>
          </a:p>
        </p:txBody>
      </p:sp>
      <p:sp>
        <p:nvSpPr>
          <p:cNvPr id="20" name="Rounded Rectangle 19"/>
          <p:cNvSpPr/>
          <p:nvPr/>
        </p:nvSpPr>
        <p:spPr>
          <a:xfrm>
            <a:off x="640080" y="5029200"/>
            <a:ext cx="3108960" cy="457200"/>
          </a:xfrm>
          <a:prstGeom prst="roundRect">
            <a:avLst>
              <a:gd name="adj" fmla="val 6000"/>
            </a:avLst>
          </a:prstGeom>
          <a:no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084064"/>
            <a:ext cx="2926079" cy="365760"/>
          </a:xfrm>
          <a:prstGeom prst="rect">
            <a:avLst/>
          </a:prstGeom>
          <a:noFill/>
        </p:spPr>
        <p:txBody>
          <a:bodyPr wrap="square" anchor="t">
            <a:spAutoFit/>
          </a:bodyPr>
          <a:lstStyle/>
          <a:p>
            <a:pPr algn="l">
              <a:lnSpc>
                <a:spcPct val="100000"/>
              </a:lnSpc>
              <a:spcAft>
                <a:spcPts val="0"/>
              </a:spcAft>
            </a:pPr>
            <a:r>
              <a:rPr sz="1200" b="0">
                <a:solidFill>
                  <a:srgbClr val="E3B24C"/>
                </a:solidFill>
                <a:latin typeface="Consolas"/>
              </a:rPr>
              <a:t>proposal · not yet tested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WHERE IT COULD LAND · PROPOSAL</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A first home in the Jetstream inner loop</a:t>
            </a:r>
          </a:p>
        </p:txBody>
      </p:sp>
      <p:sp>
        <p:nvSpPr>
          <p:cNvPr id="5" name="TextBox 4"/>
          <p:cNvSpPr txBox="1"/>
          <p:nvPr/>
        </p:nvSpPr>
        <p:spPr>
          <a:xfrm>
            <a:off x="640080" y="2011680"/>
            <a:ext cx="10241280" cy="1371600"/>
          </a:xfrm>
          <a:prstGeom prst="rect">
            <a:avLst/>
          </a:prstGeom>
          <a:noFill/>
        </p:spPr>
        <p:txBody>
          <a:bodyPr wrap="square" anchor="t">
            <a:spAutoFit/>
          </a:bodyPr>
          <a:lstStyle/>
          <a:p>
            <a:pPr algn="l">
              <a:lnSpc>
                <a:spcPct val="125000"/>
              </a:lnSpc>
              <a:spcAft>
                <a:spcPts val="0"/>
              </a:spcAft>
            </a:pPr>
            <a:r>
              <a:rPr sz="1900" b="0">
                <a:solidFill>
                  <a:srgbClr val="9FB2B6"/>
                </a:solidFill>
                <a:latin typeface="Calibri"/>
              </a:rPr>
              <a:t>The Jetstream inner loop takes a ticket to a PR through coding agents on different harnesses. We propose it as the first place to trial Steno, one harness and model pair at a time.</a:t>
            </a:r>
          </a:p>
        </p:txBody>
      </p:sp>
      <p:sp>
        <p:nvSpPr>
          <p:cNvPr id="6" name="Rounded Rectangle 5"/>
          <p:cNvSpPr/>
          <p:nvPr/>
        </p:nvSpPr>
        <p:spPr>
          <a:xfrm>
            <a:off x="640080" y="3657600"/>
            <a:ext cx="1463040" cy="457200"/>
          </a:xfrm>
          <a:prstGeom prst="roundRect">
            <a:avLst>
              <a:gd name="adj" fmla="val 6000"/>
            </a:avLst>
          </a:prstGeom>
          <a:no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3712463"/>
            <a:ext cx="1280160" cy="365760"/>
          </a:xfrm>
          <a:prstGeom prst="rect">
            <a:avLst/>
          </a:prstGeom>
          <a:noFill/>
        </p:spPr>
        <p:txBody>
          <a:bodyPr wrap="square" anchor="t">
            <a:spAutoFit/>
          </a:bodyPr>
          <a:lstStyle/>
          <a:p>
            <a:pPr algn="l">
              <a:lnSpc>
                <a:spcPct val="100000"/>
              </a:lnSpc>
              <a:spcAft>
                <a:spcPts val="0"/>
              </a:spcAft>
            </a:pPr>
            <a:r>
              <a:rPr sz="1200" b="0">
                <a:solidFill>
                  <a:srgbClr val="E3B24C"/>
                </a:solidFill>
                <a:latin typeface="Consolas"/>
              </a:rPr>
              <a:t>proposal</a:t>
            </a:r>
          </a:p>
        </p:txBody>
      </p:sp>
      <p:sp>
        <p:nvSpPr>
          <p:cNvPr id="8" name="TextBox 7"/>
          <p:cNvSpPr txBox="1"/>
          <p:nvPr/>
        </p:nvSpPr>
        <p:spPr>
          <a:xfrm>
            <a:off x="640080" y="4389120"/>
            <a:ext cx="10881360" cy="731520"/>
          </a:xfrm>
          <a:prstGeom prst="rect">
            <a:avLst/>
          </a:prstGeom>
          <a:noFill/>
        </p:spPr>
        <p:txBody>
          <a:bodyPr wrap="square" anchor="t">
            <a:spAutoFit/>
          </a:bodyPr>
          <a:lstStyle/>
          <a:p>
            <a:pPr algn="l">
              <a:lnSpc>
                <a:spcPct val="115000"/>
              </a:lnSpc>
              <a:spcAft>
                <a:spcPts val="0"/>
              </a:spcAft>
            </a:pPr>
            <a:r>
              <a:rPr sz="1300" b="0">
                <a:solidFill>
                  <a:srgbClr val="9FB2B6"/>
                </a:solidFill>
                <a:latin typeface="Calibri"/>
              </a:rPr>
              <a:t>Steno applies where the agent calls a model whose weights we host.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HONEST LEDGER</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What’s proven, what isn’t</a:t>
            </a:r>
          </a:p>
        </p:txBody>
      </p:sp>
      <p:sp>
        <p:nvSpPr>
          <p:cNvPr id="5" name="Rounded Rectangle 4"/>
          <p:cNvSpPr/>
          <p:nvPr/>
        </p:nvSpPr>
        <p:spPr>
          <a:xfrm>
            <a:off x="640080" y="1965960"/>
            <a:ext cx="5257800" cy="4114800"/>
          </a:xfrm>
          <a:prstGeom prst="roundRect">
            <a:avLst>
              <a:gd name="adj" fmla="val 6000"/>
            </a:avLst>
          </a:prstGeom>
          <a:solidFill>
            <a:srgbClr val="141D21"/>
          </a:solidFill>
          <a:ln w="12700">
            <a:solidFill>
              <a:srgbClr val="2C5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94560"/>
            <a:ext cx="4709160" cy="3749039"/>
          </a:xfrm>
          <a:prstGeom prst="rect">
            <a:avLst/>
          </a:prstGeom>
          <a:noFill/>
        </p:spPr>
        <p:txBody>
          <a:bodyPr wrap="square" anchor="t">
            <a:spAutoFit/>
          </a:bodyPr>
          <a:lstStyle/>
          <a:p>
            <a:pPr algn="l">
              <a:lnSpc>
                <a:spcPct val="100000"/>
              </a:lnSpc>
              <a:spcAft>
                <a:spcPts val="1000"/>
              </a:spcAft>
            </a:pPr>
            <a:r>
              <a:rPr sz="1200" b="1">
                <a:solidFill>
                  <a:srgbClr val="57C08A"/>
                </a:solidFill>
                <a:latin typeface="Consolas"/>
              </a:rPr>
              <a:t>ESTABLISHED ON THIS PAIR</a:t>
            </a:r>
          </a:p>
          <a:p>
            <a:pPr algn="l">
              <a:lnSpc>
                <a:spcPct val="110000"/>
              </a:lnSpc>
              <a:spcAft>
                <a:spcPts val="700"/>
              </a:spcAft>
            </a:pPr>
            <a:r>
              <a:rPr sz="1350" b="0">
                <a:solidFill>
                  <a:srgbClr val="EEF3F3"/>
                </a:solidFill>
                <a:latin typeface="Calibri"/>
              </a:rPr>
              <a:t>▪  Easy suite: 12/12 at every ratio. Hard suite: corrected 8:1 matched the full prompt, 16/16.</a:t>
            </a:r>
          </a:p>
          <a:p>
            <a:pPr algn="l">
              <a:lnSpc>
                <a:spcPct val="110000"/>
              </a:lnSpc>
              <a:spcAft>
                <a:spcPts val="700"/>
              </a:spcAft>
            </a:pPr>
            <a:r>
              <a:rPr sz="1350" b="0">
                <a:solidFill>
                  <a:srgbClr val="EEF3F3"/>
                </a:solidFill>
                <a:latin typeface="Calibri"/>
              </a:rPr>
              <a:t>▪  At 8:1, input per turn down from 24.3k to 9.4k tokens.</a:t>
            </a:r>
          </a:p>
          <a:p>
            <a:pPr algn="l">
              <a:lnSpc>
                <a:spcPct val="110000"/>
              </a:lnSpc>
              <a:spcAft>
                <a:spcPts val="700"/>
              </a:spcAft>
            </a:pPr>
            <a:r>
              <a:rPr sz="1350" b="0">
                <a:solidFill>
                  <a:srgbClr val="EEF3F3"/>
                </a:solidFill>
                <a:latin typeface="Calibri"/>
              </a:rPr>
              <a:t>▪  Short H100 replays: 2x rate within each arm’s latency threshold, +44% peak.</a:t>
            </a:r>
          </a:p>
          <a:p>
            <a:pPr algn="l">
              <a:lnSpc>
                <a:spcPct val="110000"/>
              </a:lnSpc>
              <a:spcAft>
                <a:spcPts val="700"/>
              </a:spcAft>
            </a:pPr>
            <a:r>
              <a:rPr sz="1350" b="0">
                <a:solidFill>
                  <a:srgbClr val="EEF3F3"/>
                </a:solidFill>
                <a:latin typeface="Calibri"/>
              </a:rPr>
              <a:t>▪  A spend-safe lab that ran the recipe end to end.</a:t>
            </a:r>
          </a:p>
        </p:txBody>
      </p:sp>
      <p:sp>
        <p:nvSpPr>
          <p:cNvPr id="7" name="Rounded Rectangle 6"/>
          <p:cNvSpPr/>
          <p:nvPr/>
        </p:nvSpPr>
        <p:spPr>
          <a:xfrm>
            <a:off x="6263640" y="1965960"/>
            <a:ext cx="5257800" cy="4114800"/>
          </a:xfrm>
          <a:prstGeom prst="roundRect">
            <a:avLst>
              <a:gd name="adj" fmla="val 6000"/>
            </a:avLst>
          </a:prstGeom>
          <a:solidFill>
            <a:srgbClr val="141D21"/>
          </a:solidFill>
          <a:ln w="12700">
            <a:solidFill>
              <a:srgbClr val="5A4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59" y="2194560"/>
            <a:ext cx="4709160" cy="3749039"/>
          </a:xfrm>
          <a:prstGeom prst="rect">
            <a:avLst/>
          </a:prstGeom>
          <a:noFill/>
        </p:spPr>
        <p:txBody>
          <a:bodyPr wrap="square" anchor="t">
            <a:spAutoFit/>
          </a:bodyPr>
          <a:lstStyle/>
          <a:p>
            <a:pPr algn="l">
              <a:lnSpc>
                <a:spcPct val="100000"/>
              </a:lnSpc>
              <a:spcAft>
                <a:spcPts val="1000"/>
              </a:spcAft>
            </a:pPr>
            <a:r>
              <a:rPr sz="1200" b="1">
                <a:solidFill>
                  <a:srgbClr val="E3B24C"/>
                </a:solidFill>
                <a:latin typeface="Consolas"/>
              </a:rPr>
              <a:t>NOT YET</a:t>
            </a:r>
          </a:p>
          <a:p>
            <a:pPr algn="l">
              <a:lnSpc>
                <a:spcPct val="110000"/>
              </a:lnSpc>
              <a:spcAft>
                <a:spcPts val="700"/>
              </a:spcAft>
            </a:pPr>
            <a:r>
              <a:rPr sz="1350" b="0">
                <a:solidFill>
                  <a:srgbClr val="EEF3F3"/>
                </a:solidFill>
                <a:latin typeface="Calibri"/>
              </a:rPr>
              <a:t>▪  The experiment suite on a second harness and distilled-model pair.</a:t>
            </a:r>
          </a:p>
          <a:p>
            <a:pPr algn="l">
              <a:lnSpc>
                <a:spcPct val="110000"/>
              </a:lnSpc>
              <a:spcAft>
                <a:spcPts val="700"/>
              </a:spcAft>
            </a:pPr>
            <a:r>
              <a:rPr sz="1350" b="0">
                <a:solidFill>
                  <a:srgbClr val="EEF3F3"/>
                </a:solidFill>
                <a:latin typeface="Calibri"/>
              </a:rPr>
              <a:t>▪  Quality on held-out work, and at production load.</a:t>
            </a:r>
          </a:p>
          <a:p>
            <a:pPr algn="l">
              <a:lnSpc>
                <a:spcPct val="110000"/>
              </a:lnSpc>
              <a:spcAft>
                <a:spcPts val="700"/>
              </a:spcAft>
            </a:pPr>
            <a:r>
              <a:rPr sz="1350" b="0">
                <a:solidFill>
                  <a:srgbClr val="EEF3F3"/>
                </a:solidFill>
                <a:latin typeface="Calibri"/>
              </a:rPr>
              <a:t>▪  Savings per successful task, and why the gain happens. An external review withdrew our first explanation.</a:t>
            </a:r>
          </a:p>
          <a:p>
            <a:pPr algn="l">
              <a:lnSpc>
                <a:spcPct val="110000"/>
              </a:lnSpc>
              <a:spcAft>
                <a:spcPts val="700"/>
              </a:spcAft>
            </a:pPr>
            <a:r>
              <a:rPr sz="1350" b="0">
                <a:solidFill>
                  <a:srgbClr val="EEF3F3"/>
                </a:solidFill>
                <a:latin typeface="Calibri"/>
              </a:rPr>
              <a:t>▪  Audit that compressed rules still bind.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THE ASK</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Make Steno a Lattice pillar</a:t>
            </a:r>
          </a:p>
        </p:txBody>
      </p:sp>
      <p:sp>
        <p:nvSpPr>
          <p:cNvPr id="5" name="Rounded Rectangle 4"/>
          <p:cNvSpPr/>
          <p:nvPr/>
        </p:nvSpPr>
        <p:spPr>
          <a:xfrm>
            <a:off x="640080" y="1920240"/>
            <a:ext cx="3505200" cy="2286000"/>
          </a:xfrm>
          <a:prstGeom prst="roundRect">
            <a:avLst>
              <a:gd name="adj" fmla="val 6000"/>
            </a:avLst>
          </a:prstGeom>
          <a:solidFill>
            <a:srgbClr val="141D21"/>
          </a:solidFill>
          <a:ln w="15875">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9696"/>
            <a:ext cx="2993136" cy="1847088"/>
          </a:xfrm>
          <a:prstGeom prst="rect">
            <a:avLst/>
          </a:prstGeom>
          <a:noFill/>
        </p:spPr>
        <p:txBody>
          <a:bodyPr wrap="square" anchor="t">
            <a:spAutoFit/>
          </a:bodyPr>
          <a:lstStyle/>
          <a:p>
            <a:pPr algn="l">
              <a:lnSpc>
                <a:spcPct val="100000"/>
              </a:lnSpc>
              <a:spcAft>
                <a:spcPts val="600"/>
              </a:spcAft>
            </a:pPr>
            <a:r>
              <a:rPr sz="1100" b="1">
                <a:solidFill>
                  <a:srgbClr val="C39BE0"/>
                </a:solidFill>
                <a:latin typeface="Consolas"/>
              </a:rPr>
              <a:t>1 · NEXT PAIR</a:t>
            </a:r>
          </a:p>
          <a:p>
            <a:pPr algn="l">
              <a:lnSpc>
                <a:spcPct val="115000"/>
              </a:lnSpc>
              <a:spcAft>
                <a:spcPts val="0"/>
              </a:spcAft>
            </a:pPr>
            <a:r>
              <a:rPr sz="1500" b="0">
                <a:solidFill>
                  <a:srgbClr val="EEF3F3"/>
                </a:solidFill>
                <a:latin typeface="Calibri"/>
              </a:rPr>
              <a:t>Write the harness adapter, then run the experiment suite, span study first, on the next harness and distilled-model pair. Tests whether the recipe carries.</a:t>
            </a:r>
          </a:p>
        </p:txBody>
      </p:sp>
      <p:sp>
        <p:nvSpPr>
          <p:cNvPr id="7" name="Rounded Rectangle 6"/>
          <p:cNvSpPr/>
          <p:nvPr/>
        </p:nvSpPr>
        <p:spPr>
          <a:xfrm>
            <a:off x="4328160" y="1920240"/>
            <a:ext cx="3505200" cy="228600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4192" y="2139696"/>
            <a:ext cx="2993136" cy="184708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2 · VALIDATE</a:t>
            </a:r>
          </a:p>
          <a:p>
            <a:pPr algn="l">
              <a:lnSpc>
                <a:spcPct val="115000"/>
              </a:lnSpc>
              <a:spcAft>
                <a:spcPts val="0"/>
              </a:spcAft>
            </a:pPr>
            <a:r>
              <a:rPr sz="1500" b="0">
                <a:solidFill>
                  <a:srgbClr val="EEF3F3"/>
                </a:solidFill>
                <a:latin typeface="Calibri"/>
              </a:rPr>
              <a:t>Held-out tasks, repeated runs, and quality checked at production load.</a:t>
            </a:r>
          </a:p>
        </p:txBody>
      </p:sp>
      <p:sp>
        <p:nvSpPr>
          <p:cNvPr id="9" name="Rounded Rectangle 8"/>
          <p:cNvSpPr/>
          <p:nvPr/>
        </p:nvSpPr>
        <p:spPr>
          <a:xfrm>
            <a:off x="8016239" y="1920240"/>
            <a:ext cx="3505200" cy="228600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2271" y="2139696"/>
            <a:ext cx="2993136" cy="1847088"/>
          </a:xfrm>
          <a:prstGeom prst="rect">
            <a:avLst/>
          </a:prstGeom>
          <a:noFill/>
        </p:spPr>
        <p:txBody>
          <a:bodyPr wrap="square" anchor="t">
            <a:spAutoFit/>
          </a:bodyPr>
          <a:lstStyle/>
          <a:p>
            <a:pPr algn="l">
              <a:lnSpc>
                <a:spcPct val="100000"/>
              </a:lnSpc>
              <a:spcAft>
                <a:spcPts val="600"/>
              </a:spcAft>
            </a:pPr>
            <a:r>
              <a:rPr sz="1100" b="1">
                <a:solidFill>
                  <a:srgbClr val="3FB0C6"/>
                </a:solidFill>
                <a:latin typeface="Consolas"/>
              </a:rPr>
              <a:t>3 · GUARDED PILOT</a:t>
            </a:r>
          </a:p>
          <a:p>
            <a:pPr algn="l">
              <a:lnSpc>
                <a:spcPct val="115000"/>
              </a:lnSpc>
              <a:spcAft>
                <a:spcPts val="0"/>
              </a:spcAft>
            </a:pPr>
            <a:r>
              <a:rPr sz="1500" b="0">
                <a:solidFill>
                  <a:srgbClr val="EEF3F3"/>
                </a:solidFill>
                <a:latin typeface="Calibri"/>
              </a:rPr>
              <a:t>Subject to validation, a guarded trial in the Jetstream inner loop.</a:t>
            </a:r>
          </a:p>
        </p:txBody>
      </p:sp>
      <p:sp>
        <p:nvSpPr>
          <p:cNvPr id="11" name="TextBox 10"/>
          <p:cNvSpPr txBox="1"/>
          <p:nvPr/>
        </p:nvSpPr>
        <p:spPr>
          <a:xfrm>
            <a:off x="640080" y="4480560"/>
            <a:ext cx="10058400" cy="1005840"/>
          </a:xfrm>
          <a:prstGeom prst="rect">
            <a:avLst/>
          </a:prstGeom>
          <a:noFill/>
        </p:spPr>
        <p:txBody>
          <a:bodyPr wrap="square" anchor="t">
            <a:spAutoFit/>
          </a:bodyPr>
          <a:lstStyle/>
          <a:p>
            <a:pPr algn="l">
              <a:lnSpc>
                <a:spcPct val="110000"/>
              </a:lnSpc>
              <a:spcAft>
                <a:spcPts val="0"/>
              </a:spcAft>
            </a:pPr>
            <a:r>
              <a:rPr sz="2400" b="1">
                <a:solidFill>
                  <a:srgbClr val="FFFFFF"/>
                </a:solidFill>
                <a:latin typeface="Georgia"/>
              </a:rPr>
              <a:t>The lever is real on one pair. Next, test whether it carries to a distilled model on another harness.</a:t>
            </a:r>
          </a:p>
        </p:txBody>
      </p:sp>
      <p:sp>
        <p:nvSpPr>
          <p:cNvPr id="12" name="TextBox 11"/>
          <p:cNvSpPr txBox="1"/>
          <p:nvPr/>
        </p:nvSpPr>
        <p:spPr>
          <a:xfrm>
            <a:off x="640080" y="5806440"/>
            <a:ext cx="10881360" cy="457200"/>
          </a:xfrm>
          <a:prstGeom prst="rect">
            <a:avLst/>
          </a:prstGeom>
          <a:noFill/>
        </p:spPr>
        <p:txBody>
          <a:bodyPr wrap="square" anchor="t">
            <a:spAutoFit/>
          </a:bodyPr>
          <a:lstStyle/>
          <a:p>
            <a:pPr algn="l">
              <a:lnSpc>
                <a:spcPct val="100000"/>
              </a:lnSpc>
              <a:spcAft>
                <a:spcPts val="0"/>
              </a:spcAft>
            </a:pPr>
            <a:r>
              <a:rPr sz="1200" b="0">
                <a:solidFill>
                  <a:srgbClr val="3FB0C6"/>
                </a:solidFill>
                <a:latin typeface="Consolas"/>
              </a:rPr>
              <a:t>White paper, code and results: GitHub arunmenon/gisting-coding-agent  ·  weights and data on Hugging Face (private)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APPENDIX A · A CORRECTION WE MADE</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Our first explanation of the gain was wrong</a:t>
            </a:r>
          </a:p>
        </p:txBody>
      </p:sp>
      <p:sp>
        <p:nvSpPr>
          <p:cNvPr id="5" name="TextBox 4"/>
          <p:cNvSpPr txBox="1"/>
          <p:nvPr/>
        </p:nvSpPr>
        <p:spPr>
          <a:xfrm>
            <a:off x="640080" y="1828800"/>
            <a:ext cx="10607040" cy="1371600"/>
          </a:xfrm>
          <a:prstGeom prst="rect">
            <a:avLst/>
          </a:prstGeom>
          <a:noFill/>
        </p:spPr>
        <p:txBody>
          <a:bodyPr wrap="square" anchor="t">
            <a:spAutoFit/>
          </a:bodyPr>
          <a:lstStyle/>
          <a:p>
            <a:pPr algn="l">
              <a:lnSpc>
                <a:spcPct val="120000"/>
              </a:lnSpc>
              <a:spcAft>
                <a:spcPts val="0"/>
              </a:spcAft>
            </a:pPr>
            <a:r>
              <a:rPr sz="1550" b="0">
                <a:solidFill>
                  <a:srgbClr val="9FB2B6"/>
                </a:solidFill>
                <a:latin typeface="Calibri"/>
              </a:rPr>
              <a:t>External review found a 100-connection limit in our own load generator; that limit, not the GPU, produced the number our explanation rested on. A follow-up confirmed it and we withdrew the explanation. The peak difference, measured well below that limit, survives the correction; the other measurement limits still apply.</a:t>
            </a:r>
          </a:p>
        </p:txBody>
      </p:sp>
      <p:sp>
        <p:nvSpPr>
          <p:cNvPr id="6" name="Rounded Rectangle 5"/>
          <p:cNvSpPr/>
          <p:nvPr/>
        </p:nvSpPr>
        <p:spPr>
          <a:xfrm>
            <a:off x="640080"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5568"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91056"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66543"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42032"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017520"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93008"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68496"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43984"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19472"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394960"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870448"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5936"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296912"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0" y="3429000"/>
            <a:ext cx="384048" cy="384048"/>
          </a:xfrm>
          <a:prstGeom prst="roundRect">
            <a:avLst>
              <a:gd name="adj" fmla="val 6000"/>
            </a:avLst>
          </a:prstGeom>
          <a:solidFill>
            <a:srgbClr val="3FB0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115568"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91056"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066543"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542032"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017520"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493008"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968496"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443984"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919472"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394960"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870448"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45936"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821424"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296912"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772400" y="3904487"/>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40080"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115568"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591056"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066543"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542032"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017520"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493008"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3968496"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4443984"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4919472"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394960"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870448"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345936"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821424"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7296912"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7772400" y="4379976"/>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40080"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115568"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591056"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2066543"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2542032"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3017520"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3493008"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3968496"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4443984"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4919472"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5394960"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870448"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6345936"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6821424"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7296912"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7772400" y="4855464"/>
            <a:ext cx="384048" cy="384048"/>
          </a:xfrm>
          <a:prstGeom prst="roundRect">
            <a:avLst>
              <a:gd name="adj" fmla="val 6000"/>
            </a:avLst>
          </a:prstGeom>
          <a:solidFill>
            <a:srgbClr val="24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 y="5486400"/>
            <a:ext cx="10881360" cy="731520"/>
          </a:xfrm>
          <a:prstGeom prst="rect">
            <a:avLst/>
          </a:prstGeom>
          <a:noFill/>
        </p:spPr>
        <p:txBody>
          <a:bodyPr wrap="square" anchor="t">
            <a:spAutoFit/>
          </a:bodyPr>
          <a:lstStyle/>
          <a:p>
            <a:pPr algn="l">
              <a:lnSpc>
                <a:spcPct val="115000"/>
              </a:lnSpc>
              <a:spcAft>
                <a:spcPts val="0"/>
              </a:spcAft>
            </a:pPr>
            <a:r>
              <a:rPr sz="1300" b="0">
                <a:solidFill>
                  <a:srgbClr val="9FB2B6"/>
                </a:solidFill>
                <a:latin typeface="Calibri"/>
              </a:rPr>
              <a:t>The model has 16 full-attention and 48 linear-attention layers; their contribution to the observed throughput difference has not been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APPENDIX B · COST PER RENTAL DOLLAR</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Roughly even across the two cards</a:t>
            </a:r>
          </a:p>
        </p:txBody>
      </p:sp>
      <p:sp>
        <p:nvSpPr>
          <p:cNvPr id="5" name="TextBox 4"/>
          <p:cNvSpPr txBox="1"/>
          <p:nvPr/>
        </p:nvSpPr>
        <p:spPr>
          <a:xfrm>
            <a:off x="640080" y="2011680"/>
            <a:ext cx="2560320" cy="731520"/>
          </a:xfrm>
          <a:prstGeom prst="rect">
            <a:avLst/>
          </a:prstGeom>
          <a:noFill/>
        </p:spPr>
        <p:txBody>
          <a:bodyPr wrap="square" anchor="t">
            <a:spAutoFit/>
          </a:bodyPr>
          <a:lstStyle/>
          <a:p>
            <a:pPr algn="l">
              <a:lnSpc>
                <a:spcPct val="100000"/>
              </a:lnSpc>
              <a:spcAft>
                <a:spcPts val="0"/>
              </a:spcAft>
            </a:pPr>
            <a:r>
              <a:rPr sz="3400" b="1">
                <a:solidFill>
                  <a:srgbClr val="4A5A60"/>
                </a:solidFill>
                <a:latin typeface="Consolas"/>
              </a:rPr>
              <a:t>16.16</a:t>
            </a:r>
          </a:p>
        </p:txBody>
      </p:sp>
      <p:sp>
        <p:nvSpPr>
          <p:cNvPr id="6" name="TextBox 5"/>
          <p:cNvSpPr txBox="1"/>
          <p:nvPr/>
        </p:nvSpPr>
        <p:spPr>
          <a:xfrm>
            <a:off x="640080" y="2697480"/>
            <a:ext cx="256032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H100 · full prompt</a:t>
            </a:r>
          </a:p>
        </p:txBody>
      </p:sp>
      <p:sp>
        <p:nvSpPr>
          <p:cNvPr id="7" name="TextBox 6"/>
          <p:cNvSpPr txBox="1"/>
          <p:nvPr/>
        </p:nvSpPr>
        <p:spPr>
          <a:xfrm>
            <a:off x="3383280" y="2011680"/>
            <a:ext cx="2560320" cy="731520"/>
          </a:xfrm>
          <a:prstGeom prst="rect">
            <a:avLst/>
          </a:prstGeom>
          <a:noFill/>
        </p:spPr>
        <p:txBody>
          <a:bodyPr wrap="square" anchor="t">
            <a:spAutoFit/>
          </a:bodyPr>
          <a:lstStyle/>
          <a:p>
            <a:pPr algn="l">
              <a:lnSpc>
                <a:spcPct val="100000"/>
              </a:lnSpc>
              <a:spcAft>
                <a:spcPts val="0"/>
              </a:spcAft>
            </a:pPr>
            <a:r>
              <a:rPr sz="3400" b="1">
                <a:solidFill>
                  <a:srgbClr val="C39BE0"/>
                </a:solidFill>
                <a:latin typeface="Consolas"/>
              </a:rPr>
              <a:t>23.23</a:t>
            </a:r>
          </a:p>
        </p:txBody>
      </p:sp>
      <p:sp>
        <p:nvSpPr>
          <p:cNvPr id="8" name="TextBox 7"/>
          <p:cNvSpPr txBox="1"/>
          <p:nvPr/>
        </p:nvSpPr>
        <p:spPr>
          <a:xfrm>
            <a:off x="3383280" y="2697480"/>
            <a:ext cx="256032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H100 · Steno 8:1</a:t>
            </a:r>
          </a:p>
        </p:txBody>
      </p:sp>
      <p:sp>
        <p:nvSpPr>
          <p:cNvPr id="9" name="TextBox 8"/>
          <p:cNvSpPr txBox="1"/>
          <p:nvPr/>
        </p:nvSpPr>
        <p:spPr>
          <a:xfrm>
            <a:off x="6126480" y="2011680"/>
            <a:ext cx="2560320" cy="731520"/>
          </a:xfrm>
          <a:prstGeom prst="rect">
            <a:avLst/>
          </a:prstGeom>
          <a:noFill/>
        </p:spPr>
        <p:txBody>
          <a:bodyPr wrap="square" anchor="t">
            <a:spAutoFit/>
          </a:bodyPr>
          <a:lstStyle/>
          <a:p>
            <a:pPr algn="l">
              <a:lnSpc>
                <a:spcPct val="100000"/>
              </a:lnSpc>
              <a:spcAft>
                <a:spcPts val="0"/>
              </a:spcAft>
            </a:pPr>
            <a:r>
              <a:rPr sz="3400" b="1">
                <a:solidFill>
                  <a:srgbClr val="3FB0C6"/>
                </a:solidFill>
                <a:latin typeface="Consolas"/>
              </a:rPr>
              <a:t>23.38</a:t>
            </a:r>
          </a:p>
        </p:txBody>
      </p:sp>
      <p:sp>
        <p:nvSpPr>
          <p:cNvPr id="10" name="TextBox 9"/>
          <p:cNvSpPr txBox="1"/>
          <p:nvPr/>
        </p:nvSpPr>
        <p:spPr>
          <a:xfrm>
            <a:off x="6126480" y="2697480"/>
            <a:ext cx="256032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H200 · full prompt</a:t>
            </a:r>
          </a:p>
        </p:txBody>
      </p:sp>
      <p:sp>
        <p:nvSpPr>
          <p:cNvPr id="11" name="TextBox 10"/>
          <p:cNvSpPr txBox="1"/>
          <p:nvPr/>
        </p:nvSpPr>
        <p:spPr>
          <a:xfrm>
            <a:off x="8869680" y="2011680"/>
            <a:ext cx="2560320" cy="731520"/>
          </a:xfrm>
          <a:prstGeom prst="rect">
            <a:avLst/>
          </a:prstGeom>
          <a:noFill/>
        </p:spPr>
        <p:txBody>
          <a:bodyPr wrap="square" anchor="t">
            <a:spAutoFit/>
          </a:bodyPr>
          <a:lstStyle/>
          <a:p>
            <a:pPr algn="l">
              <a:lnSpc>
                <a:spcPct val="100000"/>
              </a:lnSpc>
              <a:spcAft>
                <a:spcPts val="0"/>
              </a:spcAft>
            </a:pPr>
            <a:r>
              <a:rPr sz="3400" b="1">
                <a:solidFill>
                  <a:srgbClr val="4A5A60"/>
                </a:solidFill>
                <a:latin typeface="Consolas"/>
              </a:rPr>
              <a:t>22.83</a:t>
            </a:r>
          </a:p>
        </p:txBody>
      </p:sp>
      <p:sp>
        <p:nvSpPr>
          <p:cNvPr id="12" name="TextBox 11"/>
          <p:cNvSpPr txBox="1"/>
          <p:nvPr/>
        </p:nvSpPr>
        <p:spPr>
          <a:xfrm>
            <a:off x="8869680" y="2697480"/>
            <a:ext cx="256032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H200 · Steno 8:1</a:t>
            </a:r>
          </a:p>
        </p:txBody>
      </p:sp>
      <p:sp>
        <p:nvSpPr>
          <p:cNvPr id="13" name="TextBox 12"/>
          <p:cNvSpPr txBox="1"/>
          <p:nvPr/>
        </p:nvSpPr>
        <p:spPr>
          <a:xfrm>
            <a:off x="640080" y="3246120"/>
            <a:ext cx="10881360" cy="457200"/>
          </a:xfrm>
          <a:prstGeom prst="rect">
            <a:avLst/>
          </a:prstGeom>
          <a:noFill/>
        </p:spPr>
        <p:txBody>
          <a:bodyPr wrap="square" anchor="t">
            <a:spAutoFit/>
          </a:bodyPr>
          <a:lstStyle/>
          <a:p>
            <a:pPr algn="l">
              <a:lnSpc>
                <a:spcPct val="100000"/>
              </a:lnSpc>
              <a:spcAft>
                <a:spcPts val="0"/>
              </a:spcAft>
            </a:pPr>
            <a:r>
              <a:rPr sz="1200" b="0">
                <a:solidFill>
                  <a:srgbClr val="9FB2B6"/>
                </a:solidFill>
                <a:latin typeface="Consolas"/>
              </a:rPr>
              <a:t>peak replay requests per minute per dollar-hour, quoted prices: H100 $2.64/h, H200 $3.65/h</a:t>
            </a:r>
          </a:p>
        </p:txBody>
      </p:sp>
      <p:sp>
        <p:nvSpPr>
          <p:cNvPr id="14" name="TextBox 13"/>
          <p:cNvSpPr txBox="1"/>
          <p:nvPr/>
        </p:nvSpPr>
        <p:spPr>
          <a:xfrm>
            <a:off x="640080" y="3931920"/>
            <a:ext cx="10881360" cy="1188720"/>
          </a:xfrm>
          <a:prstGeom prst="rect">
            <a:avLst/>
          </a:prstGeom>
          <a:noFill/>
        </p:spPr>
        <p:txBody>
          <a:bodyPr wrap="square" anchor="t">
            <a:spAutoFit/>
          </a:bodyPr>
          <a:lstStyle/>
          <a:p>
            <a:pPr algn="l">
              <a:lnSpc>
                <a:spcPct val="125000"/>
              </a:lnSpc>
              <a:spcAft>
                <a:spcPts val="0"/>
              </a:spcAft>
            </a:pPr>
            <a:r>
              <a:rPr sz="1700" b="0">
                <a:solidFill>
                  <a:srgbClr val="EEF3F3"/>
                </a:solidFill>
                <a:latin typeface="Calibri"/>
              </a:rPr>
              <a:t>On the H100 Steno lifts peak replay output per dollar by about 44%. The H100 with Steno lands level with the H200 without it, so this does not show that a cheaper card can replace a pricier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APPENDIX C · THE FAILURE WE CAUGHT</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What to keep out of the compressed prompt</a:t>
            </a:r>
          </a:p>
        </p:txBody>
      </p:sp>
      <p:sp>
        <p:nvSpPr>
          <p:cNvPr id="5" name="TextBox 4"/>
          <p:cNvSpPr txBox="1"/>
          <p:nvPr/>
        </p:nvSpPr>
        <p:spPr>
          <a:xfrm>
            <a:off x="640080" y="2331720"/>
            <a:ext cx="1280160" cy="457200"/>
          </a:xfrm>
          <a:prstGeom prst="rect">
            <a:avLst/>
          </a:prstGeom>
          <a:noFill/>
        </p:spPr>
        <p:txBody>
          <a:bodyPr wrap="square" anchor="t">
            <a:spAutoFit/>
          </a:bodyPr>
          <a:lstStyle/>
          <a:p>
            <a:pPr algn="l">
              <a:lnSpc>
                <a:spcPct val="100000"/>
              </a:lnSpc>
              <a:spcAft>
                <a:spcPts val="0"/>
              </a:spcAft>
            </a:pPr>
            <a:r>
              <a:rPr sz="1300" b="1">
                <a:solidFill>
                  <a:srgbClr val="E3B24C"/>
                </a:solidFill>
                <a:latin typeface="Consolas"/>
              </a:rPr>
              <a:t>BEFORE</a:t>
            </a:r>
          </a:p>
        </p:txBody>
      </p:sp>
      <p:sp>
        <p:nvSpPr>
          <p:cNvPr id="6" name="Rounded Rectangle 5"/>
          <p:cNvSpPr/>
          <p:nvPr/>
        </p:nvSpPr>
        <p:spPr>
          <a:xfrm>
            <a:off x="2011680" y="2194560"/>
            <a:ext cx="3931920" cy="749808"/>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94560" y="2194560"/>
            <a:ext cx="3566160" cy="749808"/>
          </a:xfrm>
          <a:prstGeom prst="rect">
            <a:avLst/>
          </a:prstGeom>
          <a:noFill/>
        </p:spPr>
        <p:txBody>
          <a:bodyPr wrap="square" anchor="ctr">
            <a:spAutoFit/>
          </a:bodyPr>
          <a:lstStyle/>
          <a:p>
            <a:pPr algn="l">
              <a:lnSpc>
                <a:spcPct val="105000"/>
              </a:lnSpc>
              <a:spcAft>
                <a:spcPts val="0"/>
              </a:spcAft>
            </a:pPr>
            <a:r>
              <a:rPr sz="1300" b="0">
                <a:solidFill>
                  <a:srgbClr val="C39BE0"/>
                </a:solidFill>
                <a:latin typeface="Consolas"/>
              </a:rPr>
              <a:t>Steno: rules + …/&lt;session-id&gt;/</a:t>
            </a:r>
          </a:p>
        </p:txBody>
      </p:sp>
      <p:sp>
        <p:nvSpPr>
          <p:cNvPr id="8" name="TextBox 7"/>
          <p:cNvSpPr txBox="1"/>
          <p:nvPr/>
        </p:nvSpPr>
        <p:spPr>
          <a:xfrm>
            <a:off x="6035040" y="2194560"/>
            <a:ext cx="457200" cy="749808"/>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9" name="Rounded Rectangle 8"/>
          <p:cNvSpPr/>
          <p:nvPr/>
        </p:nvSpPr>
        <p:spPr>
          <a:xfrm>
            <a:off x="6583680" y="2194560"/>
            <a:ext cx="4663440" cy="749808"/>
          </a:xfrm>
          <a:prstGeom prst="roundRect">
            <a:avLst>
              <a:gd name="adj" fmla="val 6000"/>
            </a:avLst>
          </a:prstGeom>
          <a:solidFill>
            <a:srgbClr val="141D21"/>
          </a:solidFill>
          <a:ln w="12700">
            <a:solidFill>
              <a:srgbClr val="6E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2194560"/>
            <a:ext cx="4297679" cy="749808"/>
          </a:xfrm>
          <a:prstGeom prst="rect">
            <a:avLst/>
          </a:prstGeom>
          <a:noFill/>
        </p:spPr>
        <p:txBody>
          <a:bodyPr wrap="square" anchor="ctr">
            <a:spAutoFit/>
          </a:bodyPr>
          <a:lstStyle/>
          <a:p>
            <a:pPr algn="l">
              <a:lnSpc>
                <a:spcPct val="105000"/>
              </a:lnSpc>
              <a:spcAft>
                <a:spcPts val="0"/>
              </a:spcAft>
            </a:pPr>
            <a:r>
              <a:rPr sz="1300" b="0">
                <a:solidFill>
                  <a:srgbClr val="E79191"/>
                </a:solidFill>
                <a:latin typeface="Consolas"/>
              </a:rPr>
              <a:t>writes to an invented directory   ×</a:t>
            </a:r>
          </a:p>
        </p:txBody>
      </p:sp>
      <p:sp>
        <p:nvSpPr>
          <p:cNvPr id="11" name="TextBox 10"/>
          <p:cNvSpPr txBox="1"/>
          <p:nvPr/>
        </p:nvSpPr>
        <p:spPr>
          <a:xfrm>
            <a:off x="640080" y="3429000"/>
            <a:ext cx="1280160" cy="457200"/>
          </a:xfrm>
          <a:prstGeom prst="rect">
            <a:avLst/>
          </a:prstGeom>
          <a:noFill/>
        </p:spPr>
        <p:txBody>
          <a:bodyPr wrap="square" anchor="t">
            <a:spAutoFit/>
          </a:bodyPr>
          <a:lstStyle/>
          <a:p>
            <a:pPr algn="l">
              <a:lnSpc>
                <a:spcPct val="100000"/>
              </a:lnSpc>
              <a:spcAft>
                <a:spcPts val="0"/>
              </a:spcAft>
            </a:pPr>
            <a:r>
              <a:rPr sz="1300" b="1">
                <a:solidFill>
                  <a:srgbClr val="57C08A"/>
                </a:solidFill>
                <a:latin typeface="Consolas"/>
              </a:rPr>
              <a:t>AFTER</a:t>
            </a:r>
          </a:p>
        </p:txBody>
      </p:sp>
      <p:sp>
        <p:nvSpPr>
          <p:cNvPr id="12" name="Rounded Rectangle 11"/>
          <p:cNvSpPr/>
          <p:nvPr/>
        </p:nvSpPr>
        <p:spPr>
          <a:xfrm>
            <a:off x="2011680" y="3291840"/>
            <a:ext cx="2103120" cy="749808"/>
          </a:xfrm>
          <a:prstGeom prst="roundRect">
            <a:avLst>
              <a:gd name="adj" fmla="val 6000"/>
            </a:avLst>
          </a:prstGeom>
          <a:solidFill>
            <a:srgbClr val="141D21"/>
          </a:solidFill>
          <a:ln w="12700">
            <a:solidFill>
              <a:srgbClr val="5A3F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94560" y="3291840"/>
            <a:ext cx="1737360" cy="749808"/>
          </a:xfrm>
          <a:prstGeom prst="rect">
            <a:avLst/>
          </a:prstGeom>
          <a:noFill/>
        </p:spPr>
        <p:txBody>
          <a:bodyPr wrap="square" anchor="ctr">
            <a:spAutoFit/>
          </a:bodyPr>
          <a:lstStyle/>
          <a:p>
            <a:pPr algn="l">
              <a:lnSpc>
                <a:spcPct val="105000"/>
              </a:lnSpc>
              <a:spcAft>
                <a:spcPts val="0"/>
              </a:spcAft>
            </a:pPr>
            <a:r>
              <a:rPr sz="1300" b="0">
                <a:solidFill>
                  <a:srgbClr val="C39BE0"/>
                </a:solidFill>
                <a:latin typeface="Consolas"/>
              </a:rPr>
              <a:t>Steno: rules</a:t>
            </a:r>
          </a:p>
        </p:txBody>
      </p:sp>
      <p:sp>
        <p:nvSpPr>
          <p:cNvPr id="14" name="TextBox 13"/>
          <p:cNvSpPr txBox="1"/>
          <p:nvPr/>
        </p:nvSpPr>
        <p:spPr>
          <a:xfrm>
            <a:off x="4160520" y="3291840"/>
            <a:ext cx="365760" cy="749808"/>
          </a:xfrm>
          <a:prstGeom prst="rect">
            <a:avLst/>
          </a:prstGeom>
          <a:noFill/>
        </p:spPr>
        <p:txBody>
          <a:bodyPr wrap="square" anchor="ctr">
            <a:spAutoFit/>
          </a:bodyPr>
          <a:lstStyle/>
          <a:p>
            <a:pPr algn="ctr">
              <a:lnSpc>
                <a:spcPct val="100000"/>
              </a:lnSpc>
              <a:spcAft>
                <a:spcPts val="0"/>
              </a:spcAft>
            </a:pPr>
            <a:r>
              <a:rPr sz="2000" b="1">
                <a:solidFill>
                  <a:srgbClr val="9FB2B6"/>
                </a:solidFill>
                <a:latin typeface="Calibri"/>
              </a:rPr>
              <a:t>+</a:t>
            </a:r>
          </a:p>
        </p:txBody>
      </p:sp>
      <p:sp>
        <p:nvSpPr>
          <p:cNvPr id="15" name="Rounded Rectangle 14"/>
          <p:cNvSpPr/>
          <p:nvPr/>
        </p:nvSpPr>
        <p:spPr>
          <a:xfrm>
            <a:off x="4572000" y="3291840"/>
            <a:ext cx="3108960" cy="749808"/>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3291840"/>
            <a:ext cx="2743200" cy="749808"/>
          </a:xfrm>
          <a:prstGeom prst="rect">
            <a:avLst/>
          </a:prstGeom>
          <a:noFill/>
        </p:spPr>
        <p:txBody>
          <a:bodyPr wrap="square" anchor="ctr">
            <a:spAutoFit/>
          </a:bodyPr>
          <a:lstStyle/>
          <a:p>
            <a:pPr algn="l">
              <a:lnSpc>
                <a:spcPct val="105000"/>
              </a:lnSpc>
              <a:spcAft>
                <a:spcPts val="0"/>
              </a:spcAft>
            </a:pPr>
            <a:r>
              <a:rPr sz="1300" b="0">
                <a:solidFill>
                  <a:srgbClr val="EEF3F3"/>
                </a:solidFill>
                <a:latin typeface="Consolas"/>
              </a:rPr>
              <a:t>raw: session path, date, model</a:t>
            </a:r>
          </a:p>
        </p:txBody>
      </p:sp>
      <p:sp>
        <p:nvSpPr>
          <p:cNvPr id="17" name="TextBox 16"/>
          <p:cNvSpPr txBox="1"/>
          <p:nvPr/>
        </p:nvSpPr>
        <p:spPr>
          <a:xfrm>
            <a:off x="7772400" y="3291840"/>
            <a:ext cx="457200" cy="749808"/>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8" name="Rounded Rectangle 17"/>
          <p:cNvSpPr/>
          <p:nvPr/>
        </p:nvSpPr>
        <p:spPr>
          <a:xfrm>
            <a:off x="8321040" y="3291840"/>
            <a:ext cx="2926080" cy="749808"/>
          </a:xfrm>
          <a:prstGeom prst="roundRect">
            <a:avLst>
              <a:gd name="adj" fmla="val 6000"/>
            </a:avLst>
          </a:prstGeom>
          <a:solidFill>
            <a:srgbClr val="141D21"/>
          </a:solidFill>
          <a:ln w="12700">
            <a:solidFill>
              <a:srgbClr val="2C5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3919" y="3291840"/>
            <a:ext cx="2560320" cy="749808"/>
          </a:xfrm>
          <a:prstGeom prst="rect">
            <a:avLst/>
          </a:prstGeom>
          <a:noFill/>
        </p:spPr>
        <p:txBody>
          <a:bodyPr wrap="square" anchor="ctr">
            <a:spAutoFit/>
          </a:bodyPr>
          <a:lstStyle/>
          <a:p>
            <a:pPr algn="l">
              <a:lnSpc>
                <a:spcPct val="105000"/>
              </a:lnSpc>
              <a:spcAft>
                <a:spcPts val="0"/>
              </a:spcAft>
            </a:pPr>
            <a:r>
              <a:rPr sz="1300" b="0">
                <a:solidFill>
                  <a:srgbClr val="57C08A"/>
                </a:solidFill>
                <a:latin typeface="Consolas"/>
              </a:rPr>
              <a:t>writes to the intended path   ✓</a:t>
            </a:r>
          </a:p>
        </p:txBody>
      </p:sp>
      <p:sp>
        <p:nvSpPr>
          <p:cNvPr id="20" name="TextBox 19"/>
          <p:cNvSpPr txBox="1"/>
          <p:nvPr/>
        </p:nvSpPr>
        <p:spPr>
          <a:xfrm>
            <a:off x="640080" y="4434840"/>
            <a:ext cx="10881360" cy="1005840"/>
          </a:xfrm>
          <a:prstGeom prst="rect">
            <a:avLst/>
          </a:prstGeom>
          <a:noFill/>
        </p:spPr>
        <p:txBody>
          <a:bodyPr wrap="square" anchor="t">
            <a:spAutoFit/>
          </a:bodyPr>
          <a:lstStyle/>
          <a:p>
            <a:pPr algn="l">
              <a:lnSpc>
                <a:spcPct val="120000"/>
              </a:lnSpc>
              <a:spcAft>
                <a:spcPts val="0"/>
              </a:spcAft>
            </a:pPr>
            <a:r>
              <a:rPr sz="1600" b="0">
                <a:solidFill>
                  <a:srgbClr val="EEF3F3"/>
                </a:solidFill>
                <a:latin typeface="Calibri"/>
              </a:rPr>
              <a:t>After keeping session values raw and retraining, corrected 8:1 scored 16/16, up from 11/16 (15/15 from 11/15 excluding one defective probe). Other run conditions also changed, and one invented-path event remained.</a:t>
            </a:r>
          </a:p>
        </p:txBody>
      </p:sp>
      <p:sp>
        <p:nvSpPr>
          <p:cNvPr id="21" name="TextBox 20"/>
          <p:cNvSpPr txBox="1"/>
          <p:nvPr/>
        </p:nvSpPr>
        <p:spPr>
          <a:xfrm>
            <a:off x="640080" y="5669280"/>
            <a:ext cx="10881360" cy="731520"/>
          </a:xfrm>
          <a:prstGeom prst="rect">
            <a:avLst/>
          </a:prstGeom>
          <a:noFill/>
        </p:spPr>
        <p:txBody>
          <a:bodyPr wrap="square" anchor="t">
            <a:spAutoFit/>
          </a:bodyPr>
          <a:lstStyle/>
          <a:p>
            <a:pPr algn="l">
              <a:lnSpc>
                <a:spcPct val="115000"/>
              </a:lnSpc>
              <a:spcAft>
                <a:spcPts val="0"/>
              </a:spcAft>
            </a:pPr>
            <a:r>
              <a:rPr sz="1300" b="0">
                <a:solidFill>
                  <a:srgbClr val="9FB2B6"/>
                </a:solidFill>
                <a:latin typeface="Calibri"/>
              </a:rPr>
              <a:t>For each new pair, check which session-specific values must remain raw.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881360" cy="365760"/>
          </a:xfrm>
          <a:prstGeom prst="rect">
            <a:avLst/>
          </a:prstGeom>
          <a:noFill/>
        </p:spPr>
        <p:txBody>
          <a:bodyPr wrap="square" anchor="t">
            <a:spAutoFit/>
          </a:bodyPr>
          <a:lstStyle/>
          <a:p>
            <a:pPr algn="l">
              <a:lnSpc>
                <a:spcPct val="100000"/>
              </a:lnSpc>
              <a:spcAft>
                <a:spcPts val="0"/>
              </a:spcAft>
            </a:pPr>
            <a:r>
              <a:rPr sz="1300" b="1">
                <a:solidFill>
                  <a:srgbClr val="3FB0C6"/>
                </a:solidFill>
                <a:latin typeface="Consolas"/>
              </a:rPr>
              <a:t>APPENDIX D · THE LAB</a:t>
            </a:r>
          </a:p>
        </p:txBody>
      </p:sp>
      <p:sp>
        <p:nvSpPr>
          <p:cNvPr id="4" name="TextBox 3"/>
          <p:cNvSpPr txBox="1"/>
          <p:nvPr/>
        </p:nvSpPr>
        <p:spPr>
          <a:xfrm>
            <a:off x="640080" y="841248"/>
            <a:ext cx="10881360" cy="1371600"/>
          </a:xfrm>
          <a:prstGeom prst="rect">
            <a:avLst/>
          </a:prstGeom>
          <a:noFill/>
        </p:spPr>
        <p:txBody>
          <a:bodyPr wrap="square" anchor="t">
            <a:spAutoFit/>
          </a:bodyPr>
          <a:lstStyle/>
          <a:p>
            <a:pPr algn="l">
              <a:lnSpc>
                <a:spcPct val="102000"/>
              </a:lnSpc>
              <a:spcAft>
                <a:spcPts val="0"/>
              </a:spcAft>
            </a:pPr>
            <a:r>
              <a:rPr sz="3400" b="1">
                <a:solidFill>
                  <a:srgbClr val="EEF3F3"/>
                </a:solidFill>
                <a:latin typeface="Georgia"/>
              </a:rPr>
              <a:t>The lab that ran this study</a:t>
            </a:r>
          </a:p>
        </p:txBody>
      </p:sp>
      <p:sp>
        <p:nvSpPr>
          <p:cNvPr id="5" name="Rounded Rectangle 4"/>
          <p:cNvSpPr/>
          <p:nvPr/>
        </p:nvSpPr>
        <p:spPr>
          <a:xfrm>
            <a:off x="640080" y="2377440"/>
            <a:ext cx="182880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377440"/>
            <a:ext cx="182880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Provision GPU</a:t>
            </a:r>
          </a:p>
        </p:txBody>
      </p:sp>
      <p:sp>
        <p:nvSpPr>
          <p:cNvPr id="7" name="TextBox 6"/>
          <p:cNvSpPr txBox="1"/>
          <p:nvPr/>
        </p:nvSpPr>
        <p:spPr>
          <a:xfrm>
            <a:off x="2468880" y="2377440"/>
            <a:ext cx="502920" cy="96012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8" name="Rounded Rectangle 7"/>
          <p:cNvSpPr/>
          <p:nvPr/>
        </p:nvSpPr>
        <p:spPr>
          <a:xfrm>
            <a:off x="2971800" y="2377440"/>
            <a:ext cx="137160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2377440"/>
            <a:ext cx="137160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Train</a:t>
            </a:r>
          </a:p>
        </p:txBody>
      </p:sp>
      <p:sp>
        <p:nvSpPr>
          <p:cNvPr id="10" name="TextBox 9"/>
          <p:cNvSpPr txBox="1"/>
          <p:nvPr/>
        </p:nvSpPr>
        <p:spPr>
          <a:xfrm>
            <a:off x="4343400" y="2377440"/>
            <a:ext cx="502920" cy="96012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1" name="Rounded Rectangle 10"/>
          <p:cNvSpPr/>
          <p:nvPr/>
        </p:nvSpPr>
        <p:spPr>
          <a:xfrm>
            <a:off x="4846320" y="2377440"/>
            <a:ext cx="137160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46320" y="2377440"/>
            <a:ext cx="137160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Serve</a:t>
            </a:r>
          </a:p>
        </p:txBody>
      </p:sp>
      <p:sp>
        <p:nvSpPr>
          <p:cNvPr id="13" name="TextBox 12"/>
          <p:cNvSpPr txBox="1"/>
          <p:nvPr/>
        </p:nvSpPr>
        <p:spPr>
          <a:xfrm>
            <a:off x="6217920" y="2377440"/>
            <a:ext cx="502920" cy="96012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4" name="Rounded Rectangle 13"/>
          <p:cNvSpPr/>
          <p:nvPr/>
        </p:nvSpPr>
        <p:spPr>
          <a:xfrm>
            <a:off x="6720840" y="2377440"/>
            <a:ext cx="155448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377440"/>
            <a:ext cx="155448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Evaluate</a:t>
            </a:r>
          </a:p>
        </p:txBody>
      </p:sp>
      <p:sp>
        <p:nvSpPr>
          <p:cNvPr id="16" name="TextBox 15"/>
          <p:cNvSpPr txBox="1"/>
          <p:nvPr/>
        </p:nvSpPr>
        <p:spPr>
          <a:xfrm>
            <a:off x="8275319" y="2377440"/>
            <a:ext cx="502920" cy="960120"/>
          </a:xfrm>
          <a:prstGeom prst="rect">
            <a:avLst/>
          </a:prstGeom>
          <a:noFill/>
        </p:spPr>
        <p:txBody>
          <a:bodyPr wrap="square" anchor="ctr">
            <a:spAutoFit/>
          </a:bodyPr>
          <a:lstStyle/>
          <a:p>
            <a:pPr algn="ctr">
              <a:lnSpc>
                <a:spcPct val="100000"/>
              </a:lnSpc>
              <a:spcAft>
                <a:spcPts val="0"/>
              </a:spcAft>
            </a:pPr>
            <a:r>
              <a:rPr sz="2000" b="1">
                <a:solidFill>
                  <a:srgbClr val="3FB0C6"/>
                </a:solidFill>
                <a:latin typeface="Calibri"/>
              </a:rPr>
              <a:t>→</a:t>
            </a:r>
          </a:p>
        </p:txBody>
      </p:sp>
      <p:sp>
        <p:nvSpPr>
          <p:cNvPr id="17" name="Rounded Rectangle 16"/>
          <p:cNvSpPr/>
          <p:nvPr/>
        </p:nvSpPr>
        <p:spPr>
          <a:xfrm>
            <a:off x="8778240" y="2377440"/>
            <a:ext cx="1463040" cy="960120"/>
          </a:xfrm>
          <a:prstGeom prst="roundRect">
            <a:avLst>
              <a:gd name="adj" fmla="val 6000"/>
            </a:avLst>
          </a:prstGeom>
          <a:solidFill>
            <a:srgbClr val="141D21"/>
          </a:solidFill>
          <a:ln w="12700">
            <a:solidFill>
              <a:srgbClr val="253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0" y="2377440"/>
            <a:ext cx="1463040" cy="960120"/>
          </a:xfrm>
          <a:prstGeom prst="rect">
            <a:avLst/>
          </a:prstGeom>
          <a:noFill/>
        </p:spPr>
        <p:txBody>
          <a:bodyPr wrap="square" anchor="ctr">
            <a:spAutoFit/>
          </a:bodyPr>
          <a:lstStyle/>
          <a:p>
            <a:pPr algn="ctr">
              <a:lnSpc>
                <a:spcPct val="100000"/>
              </a:lnSpc>
              <a:spcAft>
                <a:spcPts val="0"/>
              </a:spcAft>
            </a:pPr>
            <a:r>
              <a:rPr sz="1400" b="1">
                <a:solidFill>
                  <a:srgbClr val="FFFFFF"/>
                </a:solidFill>
                <a:latin typeface="Calibri"/>
              </a:rPr>
              <a:t>Destroy</a:t>
            </a:r>
          </a:p>
        </p:txBody>
      </p:sp>
      <p:sp>
        <p:nvSpPr>
          <p:cNvPr id="19" name="Rounded Rectangle 18"/>
          <p:cNvSpPr/>
          <p:nvPr/>
        </p:nvSpPr>
        <p:spPr>
          <a:xfrm>
            <a:off x="640080" y="3749039"/>
            <a:ext cx="10881360" cy="868680"/>
          </a:xfrm>
          <a:prstGeom prst="roundRect">
            <a:avLst>
              <a:gd name="adj" fmla="val 6000"/>
            </a:avLst>
          </a:prstGeom>
          <a:solidFill>
            <a:srgbClr val="221A11"/>
          </a:solidFill>
          <a:ln w="12700">
            <a:solidFill>
              <a:srgbClr val="5A4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749039"/>
            <a:ext cx="10424160" cy="868680"/>
          </a:xfrm>
          <a:prstGeom prst="rect">
            <a:avLst/>
          </a:prstGeom>
          <a:noFill/>
        </p:spPr>
        <p:txBody>
          <a:bodyPr wrap="square" anchor="ctr">
            <a:spAutoFit/>
          </a:bodyPr>
          <a:lstStyle/>
          <a:p>
            <a:pPr algn="l">
              <a:lnSpc>
                <a:spcPct val="100000"/>
              </a:lnSpc>
              <a:spcAft>
                <a:spcPts val="0"/>
              </a:spcAft>
            </a:pPr>
            <a:r>
              <a:rPr sz="1300" b="0">
                <a:solidFill>
                  <a:srgbClr val="E08A4C"/>
                </a:solidFill>
                <a:latin typeface="Consolas"/>
              </a:rPr>
              <a:t>SPEND-SAFETY · structural  ·  idle watchdog · ledger at creation · sync-before-destroy · global deadline</a:t>
            </a:r>
          </a:p>
        </p:txBody>
      </p:sp>
      <p:sp>
        <p:nvSpPr>
          <p:cNvPr id="21" name="TextBox 20"/>
          <p:cNvSpPr txBox="1"/>
          <p:nvPr/>
        </p:nvSpPr>
        <p:spPr>
          <a:xfrm>
            <a:off x="640080" y="4937760"/>
            <a:ext cx="10881360" cy="731520"/>
          </a:xfrm>
          <a:prstGeom prst="rect">
            <a:avLst/>
          </a:prstGeom>
          <a:noFill/>
        </p:spPr>
        <p:txBody>
          <a:bodyPr wrap="square" anchor="t">
            <a:spAutoFit/>
          </a:bodyPr>
          <a:lstStyle/>
          <a:p>
            <a:pPr algn="l">
              <a:lnSpc>
                <a:spcPct val="115000"/>
              </a:lnSpc>
              <a:spcAft>
                <a:spcPts val="0"/>
              </a:spcAft>
            </a:pPr>
            <a:r>
              <a:rPr sz="1400" b="0">
                <a:solidFill>
                  <a:srgbClr val="9FB2B6"/>
                </a:solidFill>
                <a:latin typeface="Calibri"/>
              </a:rPr>
              <a:t>Most experiments after the first ran through this controller rather than by hand. The loop reaches compute through a provider-neutral interface; vast.ai is the first backend.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