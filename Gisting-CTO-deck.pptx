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title>
      <c:tx>
        <c:rich>
          <a:bodyPr/>
          <a:lstStyle/>
          <a:p>
            <a:r>
              <a:rPr sz="1200" b="0">
                <a:solidFill>
                  <a:srgbClr val="9FB2B6"/>
                </a:solidFill>
                <a:latin typeface="Consolas"/>
              </a:rPr>
              <a:t>requests / minute vs concurrent sessions  (H100 NVL, tuned server, 3 repeats)</a:t>
            </a:r>
          </a:p>
        </c:rich>
      </c:tx>
      <c:layout/>
      <c:overlay val="0"/>
    </c:title>
    <c:autoTitleDeleted val="0"/>
    <c:plotArea>
      <c:lineChart>
        <c:grouping val="standard"/>
        <c:varyColors val="0"/>
        <c:ser>
          <c:idx val="0"/>
          <c:order val="0"/>
          <c:tx>
            <c:strRef>
              <c:f>Sheet1!$B$1</c:f>
              <c:strCache>
                <c:ptCount val="1"/>
                <c:pt idx="0">
                  <c:v>full prompt</c:v>
                </c:pt>
              </c:strCache>
            </c:strRef>
          </c:tx>
          <c:spPr>
            <a:ln w="38100">
              <a:solidFill>
                <a:srgbClr val="4A5A60"/>
              </a:solidFill>
            </a:ln>
          </c:spPr>
          <c:cat>
            <c:strRef>
              <c:f>Sheet1!$A$2:$A$9</c:f>
              <c:strCache>
                <c:ptCount val="8"/>
                <c:pt idx="0">
                  <c:v>1</c:v>
                </c:pt>
                <c:pt idx="1">
                  <c:v>2</c:v>
                </c:pt>
                <c:pt idx="2">
                  <c:v>4</c:v>
                </c:pt>
                <c:pt idx="3">
                  <c:v>8</c:v>
                </c:pt>
                <c:pt idx="4">
                  <c:v>16</c:v>
                </c:pt>
                <c:pt idx="5">
                  <c:v>32</c:v>
                </c:pt>
                <c:pt idx="6">
                  <c:v>48</c:v>
                </c:pt>
                <c:pt idx="7">
                  <c:v>64</c:v>
                </c:pt>
              </c:strCache>
            </c:strRef>
          </c:cat>
          <c:val>
            <c:numRef>
              <c:f>Sheet1!$B$2:$B$9</c:f>
              <c:numCache>
                <c:formatCode>General</c:formatCode>
                <c:ptCount val="8"/>
                <c:pt idx="0">
                  <c:v>13.1</c:v>
                </c:pt>
                <c:pt idx="1">
                  <c:v>22.7</c:v>
                </c:pt>
                <c:pt idx="2">
                  <c:v>36.9</c:v>
                </c:pt>
                <c:pt idx="3">
                  <c:v>34.7</c:v>
                </c:pt>
                <c:pt idx="4">
                  <c:v>42.7</c:v>
                </c:pt>
                <c:pt idx="5">
                  <c:v>42.7</c:v>
                </c:pt>
                <c:pt idx="6">
                  <c:v>32.0</c:v>
                </c:pt>
                <c:pt idx="7">
                  <c:v>29.3</c:v>
                </c:pt>
              </c:numCache>
            </c:numRef>
          </c:val>
          <c:smooth val="0"/>
        </c:ser>
        <c:ser>
          <c:idx val="1"/>
          <c:order val="1"/>
          <c:tx>
            <c:strRef>
              <c:f>Sheet1!$C$1</c:f>
              <c:strCache>
                <c:ptCount val="1"/>
                <c:pt idx="0">
                  <c:v>gist 8:1</c:v>
                </c:pt>
              </c:strCache>
            </c:strRef>
          </c:tx>
          <c:spPr>
            <a:ln w="38100">
              <a:solidFill>
                <a:srgbClr val="C39BE0"/>
              </a:solidFill>
            </a:ln>
          </c:spPr>
          <c:cat>
            <c:strRef>
              <c:f>Sheet1!$A$2:$A$9</c:f>
              <c:strCache>
                <c:ptCount val="8"/>
                <c:pt idx="0">
                  <c:v>1</c:v>
                </c:pt>
                <c:pt idx="1">
                  <c:v>2</c:v>
                </c:pt>
                <c:pt idx="2">
                  <c:v>4</c:v>
                </c:pt>
                <c:pt idx="3">
                  <c:v>8</c:v>
                </c:pt>
                <c:pt idx="4">
                  <c:v>16</c:v>
                </c:pt>
                <c:pt idx="5">
                  <c:v>32</c:v>
                </c:pt>
                <c:pt idx="6">
                  <c:v>48</c:v>
                </c:pt>
                <c:pt idx="7">
                  <c:v>64</c:v>
                </c:pt>
              </c:strCache>
            </c:strRef>
          </c:cat>
          <c:val>
            <c:numRef>
              <c:f>Sheet1!$C$2:$C$9</c:f>
              <c:numCache>
                <c:formatCode>General</c:formatCode>
                <c:ptCount val="8"/>
                <c:pt idx="0">
                  <c:v>14.7</c:v>
                </c:pt>
                <c:pt idx="1">
                  <c:v>25.3</c:v>
                </c:pt>
                <c:pt idx="2">
                  <c:v>42.7</c:v>
                </c:pt>
                <c:pt idx="3">
                  <c:v>48.0</c:v>
                </c:pt>
                <c:pt idx="4">
                  <c:v>59.3</c:v>
                </c:pt>
                <c:pt idx="5">
                  <c:v>61.3</c:v>
                </c:pt>
                <c:pt idx="6">
                  <c:v>52.7</c:v>
                </c:pt>
                <c:pt idx="7">
                  <c:v>41.3</c:v>
                </c:pt>
              </c:numCache>
            </c:numRef>
          </c:val>
          <c:smooth val="0"/>
        </c:ser>
        <c:marker val="1"/>
        <c:smooth val="0"/>
        <c:axId val="2118791784"/>
        <c:axId val="2140495176"/>
      </c:lineChart>
      <c:catAx>
        <c:axId val="2118791784"/>
        <c:scaling>
          <c:orientation val="minMax"/>
        </c:scaling>
        <c:delete val="0"/>
        <c:axPos val="b"/>
        <c:majorTickMark val="out"/>
        <c:minorTickMark val="none"/>
        <c:tickLblPos val="nextTo"/>
        <c:spPr>
          <a:ln>
            <a:solidFill>
              <a:srgbClr val="25333A"/>
            </a:solidFill>
          </a:ln>
        </c:spPr>
        <c:txPr>
          <a:bodyPr/>
          <a:lstStyle/>
          <a:p>
            <a:pPr>
              <a:defRPr sz="1200">
                <a:solidFill>
                  <a:srgbClr val="9FB2B6"/>
                </a:solidFill>
              </a:defRPr>
            </a:pPr>
          </a:p>
        </c:txPr>
        <c:crossAx val="2140495176"/>
        <c:crosses val="autoZero"/>
        <c:auto val="1"/>
        <c:lblAlgn val="ctr"/>
        <c:lblOffset val="100"/>
        <c:noMultiLvlLbl val="0"/>
      </c:catAx>
      <c:valAx>
        <c:axId val="2140495176"/>
        <c:scaling/>
        <c:delete val="0"/>
        <c:axPos val="l"/>
        <c:majorGridlines>
          <c:spPr>
            <a:ln>
              <a:solidFill>
                <a:srgbClr val="1B262B"/>
              </a:solidFill>
            </a:ln>
          </c:spPr>
        </c:majorGridlines>
        <c:majorTickMark val="out"/>
        <c:minorTickMark val="none"/>
        <c:tickLblPos val="nextTo"/>
        <c:spPr>
          <a:ln>
            <a:solidFill>
              <a:srgbClr val="25333A"/>
            </a:solidFill>
          </a:ln>
        </c:spPr>
        <c:txPr>
          <a:bodyPr/>
          <a:lstStyle/>
          <a:p>
            <a:pPr>
              <a:defRPr sz="1200">
                <a:solidFill>
                  <a:srgbClr val="9FB2B6"/>
                </a:solidFill>
              </a:defRPr>
            </a:pPr>
          </a:p>
        </c:txPr>
        <c:crossAx val="2118791784"/>
        <c:crosses val="autoZero"/>
      </c:valAx>
    </c:plotArea>
    <c:legend>
      <c:legendPos val="t"/>
      <c:layout/>
      <c:overlay val="0"/>
      <c:txPr>
        <a:bodyPr/>
        <a:lstStyle/>
        <a:p>
          <a:pPr>
            <a:defRPr sz="1200">
              <a:solidFill>
                <a:srgbClr val="9FB2B6"/>
              </a:solidFill>
            </a:defRPr>
          </a:pPr>
        </a:p>
      </c:txPr>
    </c:legend>
    <c:plotVisOnly val="1"/>
    <c:dispBlanksAs val="gap"/>
    <c:showDLblsOverMax val="0"/>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22960"/>
            <a:ext cx="10881360" cy="365760"/>
          </a:xfrm>
          <a:prstGeom prst="rect">
            <a:avLst/>
          </a:prstGeom>
          <a:noFill/>
        </p:spPr>
        <p:txBody>
          <a:bodyPr wrap="square" anchor="t">
            <a:spAutoFit/>
          </a:bodyPr>
          <a:lstStyle/>
          <a:p>
            <a:pPr algn="l">
              <a:lnSpc>
                <a:spcPct val="100000"/>
              </a:lnSpc>
              <a:spcAft>
                <a:spcPts val="0"/>
              </a:spcAft>
            </a:pPr>
            <a:r>
              <a:rPr sz="1300" b="1">
                <a:solidFill>
                  <a:srgbClr val="3FB0C6"/>
                </a:solidFill>
                <a:latin typeface="Consolas"/>
              </a:rPr>
              <a:t>DEVELOPMENT STUDY · SELF-HOSTED CODING AGENT</a:t>
            </a:r>
          </a:p>
        </p:txBody>
      </p:sp>
      <p:sp>
        <p:nvSpPr>
          <p:cNvPr id="4" name="TextBox 3"/>
          <p:cNvSpPr txBox="1"/>
          <p:nvPr/>
        </p:nvSpPr>
        <p:spPr>
          <a:xfrm>
            <a:off x="640080" y="1234440"/>
            <a:ext cx="9601200" cy="2926080"/>
          </a:xfrm>
          <a:prstGeom prst="rect">
            <a:avLst/>
          </a:prstGeom>
          <a:noFill/>
        </p:spPr>
        <p:txBody>
          <a:bodyPr wrap="square" anchor="t">
            <a:spAutoFit/>
          </a:bodyPr>
          <a:lstStyle/>
          <a:p>
            <a:pPr algn="l">
              <a:lnSpc>
                <a:spcPct val="102000"/>
              </a:lnSpc>
              <a:spcAft>
                <a:spcPts val="0"/>
              </a:spcAft>
            </a:pPr>
            <a:r>
              <a:rPr sz="4600" b="1">
                <a:solidFill>
                  <a:srgbClr val="EEF3F3"/>
                </a:solidFill>
                <a:latin typeface="Georgia"/>
              </a:rPr>
              <a:t>Turning the prompt tax into GPU capacity</a:t>
            </a:r>
          </a:p>
        </p:txBody>
      </p:sp>
      <p:sp>
        <p:nvSpPr>
          <p:cNvPr id="5" name="TextBox 4"/>
          <p:cNvSpPr txBox="1"/>
          <p:nvPr/>
        </p:nvSpPr>
        <p:spPr>
          <a:xfrm>
            <a:off x="640080" y="4297680"/>
            <a:ext cx="8778240" cy="1097280"/>
          </a:xfrm>
          <a:prstGeom prst="rect">
            <a:avLst/>
          </a:prstGeom>
          <a:noFill/>
        </p:spPr>
        <p:txBody>
          <a:bodyPr wrap="square" anchor="t">
            <a:spAutoFit/>
          </a:bodyPr>
          <a:lstStyle/>
          <a:p>
            <a:pPr algn="l">
              <a:lnSpc>
                <a:spcPct val="120000"/>
              </a:lnSpc>
              <a:spcAft>
                <a:spcPts val="0"/>
              </a:spcAft>
            </a:pPr>
            <a:r>
              <a:rPr sz="1800" b="0">
                <a:solidFill>
                  <a:srgbClr val="9FB2B6"/>
                </a:solidFill>
                <a:latin typeface="Calibri"/>
              </a:rPr>
              <a:t>Compressing a coding agent’s fixed preamble into a handful of learned “gist” tokens: what it buys, what it costs, and what to fund next.</a:t>
            </a:r>
          </a:p>
        </p:txBody>
      </p:sp>
      <p:sp>
        <p:nvSpPr>
          <p:cNvPr id="6" name="TextBox 5"/>
          <p:cNvSpPr txBox="1"/>
          <p:nvPr/>
        </p:nvSpPr>
        <p:spPr>
          <a:xfrm>
            <a:off x="640080" y="5577840"/>
            <a:ext cx="10058400" cy="822960"/>
          </a:xfrm>
          <a:prstGeom prst="rect">
            <a:avLst/>
          </a:prstGeom>
          <a:noFill/>
        </p:spPr>
        <p:txBody>
          <a:bodyPr wrap="square" anchor="t">
            <a:spAutoFit/>
          </a:bodyPr>
          <a:lstStyle/>
          <a:p>
            <a:pPr algn="l">
              <a:lnSpc>
                <a:spcPct val="100000"/>
              </a:lnSpc>
              <a:spcAft>
                <a:spcPts val="0"/>
              </a:spcAft>
            </a:pPr>
            <a:r>
              <a:rPr sz="1300" b="0">
                <a:solidFill>
                  <a:srgbClr val="9FB2B6"/>
                </a:solidFill>
                <a:latin typeface="Consolas"/>
              </a:rPr>
              <a:t>Arun Menon · arumenon@paypal.com</a:t>
            </a:r>
          </a:p>
          <a:p>
            <a:pPr algn="l">
              <a:lnSpc>
                <a:spcPct val="100000"/>
              </a:lnSpc>
              <a:spcAft>
                <a:spcPts val="0"/>
              </a:spcAft>
            </a:pPr>
            <a:r>
              <a:rPr sz="1200" b="0">
                <a:solidFill>
                  <a:srgbClr val="3FB0C6"/>
                </a:solidFill>
                <a:latin typeface="Consolas"/>
              </a:rPr>
              <a:t>Claude Code → proxy → vLLM → Qwen3.8-27B (hybrid attention) · one GPU</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365760"/>
          </a:xfrm>
          <a:prstGeom prst="rect">
            <a:avLst/>
          </a:prstGeom>
          <a:noFill/>
        </p:spPr>
        <p:txBody>
          <a:bodyPr wrap="square" anchor="t">
            <a:spAutoFit/>
          </a:bodyPr>
          <a:lstStyle/>
          <a:p>
            <a:pPr algn="l">
              <a:lnSpc>
                <a:spcPct val="100000"/>
              </a:lnSpc>
              <a:spcAft>
                <a:spcPts val="0"/>
              </a:spcAft>
            </a:pPr>
            <a:r>
              <a:rPr sz="1300" b="1">
                <a:solidFill>
                  <a:srgbClr val="3FB0C6"/>
                </a:solidFill>
                <a:latin typeface="Consolas"/>
              </a:rPr>
              <a:t>BOTTOM LINE UP FRONT</a:t>
            </a:r>
          </a:p>
        </p:txBody>
      </p:sp>
      <p:sp>
        <p:nvSpPr>
          <p:cNvPr id="4" name="TextBox 3"/>
          <p:cNvSpPr txBox="1"/>
          <p:nvPr/>
        </p:nvSpPr>
        <p:spPr>
          <a:xfrm>
            <a:off x="640080" y="841248"/>
            <a:ext cx="10881360" cy="1371600"/>
          </a:xfrm>
          <a:prstGeom prst="rect">
            <a:avLst/>
          </a:prstGeom>
          <a:noFill/>
        </p:spPr>
        <p:txBody>
          <a:bodyPr wrap="square" anchor="t">
            <a:spAutoFit/>
          </a:bodyPr>
          <a:lstStyle/>
          <a:p>
            <a:pPr algn="l">
              <a:lnSpc>
                <a:spcPct val="102000"/>
              </a:lnSpc>
              <a:spcAft>
                <a:spcPts val="0"/>
              </a:spcAft>
            </a:pPr>
            <a:r>
              <a:rPr sz="3400" b="1">
                <a:solidFill>
                  <a:srgbClr val="EEF3F3"/>
                </a:solidFill>
                <a:latin typeface="Georgia"/>
              </a:rPr>
              <a:t>The answer in four lines</a:t>
            </a:r>
          </a:p>
        </p:txBody>
      </p:sp>
      <p:sp>
        <p:nvSpPr>
          <p:cNvPr id="5" name="Rounded Rectangle 4"/>
          <p:cNvSpPr/>
          <p:nvPr/>
        </p:nvSpPr>
        <p:spPr>
          <a:xfrm>
            <a:off x="640080" y="1920240"/>
            <a:ext cx="2606040" cy="3566160"/>
          </a:xfrm>
          <a:prstGeom prst="roundRect">
            <a:avLst>
              <a:gd name="adj" fmla="val 6000"/>
            </a:avLst>
          </a:prstGeom>
          <a:solidFill>
            <a:srgbClr val="141D21"/>
          </a:solidFill>
          <a:ln w="12700">
            <a:solidFill>
              <a:srgbClr val="253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2139696"/>
            <a:ext cx="2093976" cy="3127248"/>
          </a:xfrm>
          <a:prstGeom prst="rect">
            <a:avLst/>
          </a:prstGeom>
          <a:noFill/>
        </p:spPr>
        <p:txBody>
          <a:bodyPr wrap="square" anchor="t">
            <a:spAutoFit/>
          </a:bodyPr>
          <a:lstStyle/>
          <a:p>
            <a:pPr algn="l">
              <a:lnSpc>
                <a:spcPct val="115000"/>
              </a:lnSpc>
              <a:spcAft>
                <a:spcPts val="0"/>
              </a:spcAft>
            </a:pPr>
            <a:r>
              <a:rPr sz="1500" b="0">
                <a:solidFill>
                  <a:srgbClr val="EEF3F3"/>
                </a:solidFill>
                <a:latin typeface="Calibri"/>
              </a:rPr>
              <a:t>At every step, the coding agent (Claude Code) re-sends the same fixed preamble to the model: ~17.5–21k tokens, over 90% tool schemas, about 0.72 of a short session.</a:t>
            </a:r>
          </a:p>
        </p:txBody>
      </p:sp>
      <p:sp>
        <p:nvSpPr>
          <p:cNvPr id="7" name="Rounded Rectangle 6"/>
          <p:cNvSpPr/>
          <p:nvPr/>
        </p:nvSpPr>
        <p:spPr>
          <a:xfrm>
            <a:off x="3429000" y="1920240"/>
            <a:ext cx="2606040" cy="3566160"/>
          </a:xfrm>
          <a:prstGeom prst="roundRect">
            <a:avLst>
              <a:gd name="adj" fmla="val 6000"/>
            </a:avLst>
          </a:prstGeom>
          <a:solidFill>
            <a:srgbClr val="141D21"/>
          </a:solidFill>
          <a:ln w="12700">
            <a:solidFill>
              <a:srgbClr val="253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85032" y="2139696"/>
            <a:ext cx="2093976" cy="3127248"/>
          </a:xfrm>
          <a:prstGeom prst="rect">
            <a:avLst/>
          </a:prstGeom>
          <a:noFill/>
        </p:spPr>
        <p:txBody>
          <a:bodyPr wrap="square" anchor="t">
            <a:spAutoFit/>
          </a:bodyPr>
          <a:lstStyle/>
          <a:p>
            <a:pPr algn="l">
              <a:lnSpc>
                <a:spcPct val="115000"/>
              </a:lnSpc>
              <a:spcAft>
                <a:spcPts val="0"/>
              </a:spcAft>
            </a:pPr>
            <a:r>
              <a:rPr sz="1500" b="0">
                <a:solidFill>
                  <a:srgbClr val="EEF3F3"/>
                </a:solidFill>
                <a:latin typeface="Calibri"/>
              </a:rPr>
              <a:t>Replace it with a few thousand learned tokens. Base model frozen; deployed in a proxy, no client or engine change.</a:t>
            </a:r>
          </a:p>
        </p:txBody>
      </p:sp>
      <p:sp>
        <p:nvSpPr>
          <p:cNvPr id="9" name="Rounded Rectangle 8"/>
          <p:cNvSpPr/>
          <p:nvPr/>
        </p:nvSpPr>
        <p:spPr>
          <a:xfrm>
            <a:off x="6217920" y="1920240"/>
            <a:ext cx="2606040" cy="3566160"/>
          </a:xfrm>
          <a:prstGeom prst="roundRect">
            <a:avLst>
              <a:gd name="adj" fmla="val 6000"/>
            </a:avLst>
          </a:prstGeom>
          <a:solidFill>
            <a:srgbClr val="141D21"/>
          </a:solidFill>
          <a:ln w="12700">
            <a:solidFill>
              <a:srgbClr val="253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73952" y="2139696"/>
            <a:ext cx="2093976" cy="3127248"/>
          </a:xfrm>
          <a:prstGeom prst="rect">
            <a:avLst/>
          </a:prstGeom>
          <a:noFill/>
        </p:spPr>
        <p:txBody>
          <a:bodyPr wrap="square" anchor="t">
            <a:spAutoFit/>
          </a:bodyPr>
          <a:lstStyle/>
          <a:p>
            <a:pPr algn="l">
              <a:lnSpc>
                <a:spcPct val="115000"/>
              </a:lnSpc>
              <a:spcAft>
                <a:spcPts val="0"/>
              </a:spcAft>
            </a:pPr>
            <a:r>
              <a:rPr sz="1500" b="0">
                <a:solidFill>
                  <a:srgbClr val="EEF3F3"/>
                </a:solidFill>
                <a:latin typeface="Calibri"/>
              </a:rPr>
              <a:t>H100 finite-window replay: 2x the target rate passing the latency criterion and +44% observed peak throughput. Mechanism and deployment savings remain unestablished.</a:t>
            </a:r>
          </a:p>
        </p:txBody>
      </p:sp>
      <p:sp>
        <p:nvSpPr>
          <p:cNvPr id="11" name="Rounded Rectangle 10"/>
          <p:cNvSpPr/>
          <p:nvPr/>
        </p:nvSpPr>
        <p:spPr>
          <a:xfrm>
            <a:off x="9006840" y="1920240"/>
            <a:ext cx="2606040" cy="3566160"/>
          </a:xfrm>
          <a:prstGeom prst="roundRect">
            <a:avLst>
              <a:gd name="adj" fmla="val 6000"/>
            </a:avLst>
          </a:prstGeom>
          <a:solidFill>
            <a:srgbClr val="141D21"/>
          </a:solidFill>
          <a:ln w="12700">
            <a:solidFill>
              <a:srgbClr val="253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262872" y="2139696"/>
            <a:ext cx="2093976" cy="3127248"/>
          </a:xfrm>
          <a:prstGeom prst="rect">
            <a:avLst/>
          </a:prstGeom>
          <a:noFill/>
        </p:spPr>
        <p:txBody>
          <a:bodyPr wrap="square" anchor="t">
            <a:spAutoFit/>
          </a:bodyPr>
          <a:lstStyle/>
          <a:p>
            <a:pPr algn="l">
              <a:lnSpc>
                <a:spcPct val="115000"/>
              </a:lnSpc>
              <a:spcAft>
                <a:spcPts val="0"/>
              </a:spcAft>
            </a:pPr>
            <a:r>
              <a:rPr sz="1500" b="0">
                <a:solidFill>
                  <a:srgbClr val="EEF3F3"/>
                </a:solidFill>
                <a:latin typeface="Calibri"/>
              </a:rPr>
              <a:t>A development study: the lever is real; the dollar-per-session number is not proven yet.</a:t>
            </a:r>
          </a:p>
        </p:txBody>
      </p:sp>
      <p:sp>
        <p:nvSpPr>
          <p:cNvPr id="13" name="TextBox 12"/>
          <p:cNvSpPr txBox="1"/>
          <p:nvPr/>
        </p:nvSpPr>
        <p:spPr>
          <a:xfrm>
            <a:off x="640080" y="5715000"/>
            <a:ext cx="10881360" cy="548640"/>
          </a:xfrm>
          <a:prstGeom prst="rect">
            <a:avLst/>
          </a:prstGeom>
          <a:noFill/>
        </p:spPr>
        <p:txBody>
          <a:bodyPr wrap="square" anchor="t">
            <a:spAutoFit/>
          </a:bodyPr>
          <a:lstStyle/>
          <a:p>
            <a:pPr algn="l">
              <a:lnSpc>
                <a:spcPct val="100000"/>
              </a:lnSpc>
              <a:spcAft>
                <a:spcPts val="0"/>
              </a:spcAft>
            </a:pPr>
            <a:r>
              <a:rPr sz="1250" b="0">
                <a:solidFill>
                  <a:srgbClr val="9FB2B6"/>
                </a:solidFill>
                <a:latin typeface="Calibri"/>
              </a:rPr>
              <a:t>You can stop here. The rest is the evidence, the catch, and what it would take to bank the saving.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365760"/>
          </a:xfrm>
          <a:prstGeom prst="rect">
            <a:avLst/>
          </a:prstGeom>
          <a:noFill/>
        </p:spPr>
        <p:txBody>
          <a:bodyPr wrap="square" anchor="t">
            <a:spAutoFit/>
          </a:bodyPr>
          <a:lstStyle/>
          <a:p>
            <a:pPr algn="l">
              <a:lnSpc>
                <a:spcPct val="100000"/>
              </a:lnSpc>
              <a:spcAft>
                <a:spcPts val="0"/>
              </a:spcAft>
            </a:pPr>
            <a:r>
              <a:rPr sz="1300" b="1">
                <a:solidFill>
                  <a:srgbClr val="3FB0C6"/>
                </a:solidFill>
                <a:latin typeface="Consolas"/>
              </a:rPr>
              <a:t>THE COST LENS</a:t>
            </a:r>
          </a:p>
        </p:txBody>
      </p:sp>
      <p:sp>
        <p:nvSpPr>
          <p:cNvPr id="4" name="TextBox 3"/>
          <p:cNvSpPr txBox="1"/>
          <p:nvPr/>
        </p:nvSpPr>
        <p:spPr>
          <a:xfrm>
            <a:off x="640080" y="841248"/>
            <a:ext cx="10881360" cy="1371600"/>
          </a:xfrm>
          <a:prstGeom prst="rect">
            <a:avLst/>
          </a:prstGeom>
          <a:noFill/>
        </p:spPr>
        <p:txBody>
          <a:bodyPr wrap="square" anchor="t">
            <a:spAutoFit/>
          </a:bodyPr>
          <a:lstStyle/>
          <a:p>
            <a:pPr algn="l">
              <a:lnSpc>
                <a:spcPct val="102000"/>
              </a:lnSpc>
              <a:spcAft>
                <a:spcPts val="0"/>
              </a:spcAft>
            </a:pPr>
            <a:r>
              <a:rPr sz="3400" b="1">
                <a:solidFill>
                  <a:srgbClr val="EEF3F3"/>
                </a:solidFill>
                <a:latin typeface="Georgia"/>
              </a:rPr>
              <a:t>Why this is a total-cost question</a:t>
            </a:r>
          </a:p>
        </p:txBody>
      </p:sp>
      <p:sp>
        <p:nvSpPr>
          <p:cNvPr id="5" name="TextBox 4"/>
          <p:cNvSpPr txBox="1"/>
          <p:nvPr/>
        </p:nvSpPr>
        <p:spPr>
          <a:xfrm>
            <a:off x="640080" y="1828800"/>
            <a:ext cx="10607040" cy="914400"/>
          </a:xfrm>
          <a:prstGeom prst="rect">
            <a:avLst/>
          </a:prstGeom>
          <a:noFill/>
        </p:spPr>
        <p:txBody>
          <a:bodyPr wrap="square" anchor="t">
            <a:spAutoFit/>
          </a:bodyPr>
          <a:lstStyle/>
          <a:p>
            <a:pPr algn="l">
              <a:lnSpc>
                <a:spcPct val="120000"/>
              </a:lnSpc>
              <a:spcAft>
                <a:spcPts val="0"/>
              </a:spcAft>
            </a:pPr>
            <a:r>
              <a:rPr sz="1700" b="0">
                <a:solidFill>
                  <a:srgbClr val="9FB2B6"/>
                </a:solidFill>
                <a:latin typeface="Calibri"/>
              </a:rPr>
              <a:t>For a self-hosted agent, serving cost is driven by how many tokens the model reads per turn, which caps how many sessions a GPU can carry. Three cost drivers; gisting acts on the first.</a:t>
            </a:r>
          </a:p>
        </p:txBody>
      </p:sp>
      <p:sp>
        <p:nvSpPr>
          <p:cNvPr id="6" name="Rounded Rectangle 5"/>
          <p:cNvSpPr/>
          <p:nvPr/>
        </p:nvSpPr>
        <p:spPr>
          <a:xfrm>
            <a:off x="640080" y="3108960"/>
            <a:ext cx="3429000" cy="2651760"/>
          </a:xfrm>
          <a:prstGeom prst="roundRect">
            <a:avLst>
              <a:gd name="adj" fmla="val 6000"/>
            </a:avLst>
          </a:prstGeom>
          <a:solidFill>
            <a:srgbClr val="141D21"/>
          </a:solidFill>
          <a:ln w="15875">
            <a:solidFill>
              <a:srgbClr val="1F5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96112" y="3328415"/>
            <a:ext cx="2916936" cy="2212848"/>
          </a:xfrm>
          <a:prstGeom prst="rect">
            <a:avLst/>
          </a:prstGeom>
          <a:noFill/>
        </p:spPr>
        <p:txBody>
          <a:bodyPr wrap="square" anchor="t">
            <a:spAutoFit/>
          </a:bodyPr>
          <a:lstStyle/>
          <a:p>
            <a:pPr algn="l">
              <a:lnSpc>
                <a:spcPct val="100000"/>
              </a:lnSpc>
              <a:spcAft>
                <a:spcPts val="800"/>
              </a:spcAft>
            </a:pPr>
            <a:r>
              <a:rPr sz="1100" b="1">
                <a:solidFill>
                  <a:srgbClr val="3FB0C6"/>
                </a:solidFill>
                <a:latin typeface="Consolas"/>
              </a:rPr>
              <a:t>GPU CAPACITY  ← GISTING ACTS HERE</a:t>
            </a:r>
          </a:p>
          <a:p>
            <a:pPr algn="l">
              <a:lnSpc>
                <a:spcPct val="115000"/>
              </a:lnSpc>
              <a:spcAft>
                <a:spcPts val="0"/>
              </a:spcAft>
            </a:pPr>
            <a:r>
              <a:rPr sz="1500" b="0">
                <a:solidFill>
                  <a:srgbClr val="EEF3F3"/>
                </a:solidFill>
                <a:latin typeface="Calibri"/>
              </a:rPr>
              <a:t>Shorter prompts change the work the server performs. Mechanism and deployment value remain open. Replay: 2x the target rate passed the chosen criterion.</a:t>
            </a:r>
          </a:p>
        </p:txBody>
      </p:sp>
      <p:sp>
        <p:nvSpPr>
          <p:cNvPr id="8" name="Rounded Rectangle 7"/>
          <p:cNvSpPr/>
          <p:nvPr/>
        </p:nvSpPr>
        <p:spPr>
          <a:xfrm>
            <a:off x="4251960" y="3108960"/>
            <a:ext cx="3429000" cy="2651760"/>
          </a:xfrm>
          <a:prstGeom prst="roundRect">
            <a:avLst>
              <a:gd name="adj" fmla="val 6000"/>
            </a:avLst>
          </a:prstGeom>
          <a:solidFill>
            <a:srgbClr val="141D21"/>
          </a:solidFill>
          <a:ln w="12700">
            <a:solidFill>
              <a:srgbClr val="253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507992" y="3328415"/>
            <a:ext cx="2916936" cy="2212848"/>
          </a:xfrm>
          <a:prstGeom prst="rect">
            <a:avLst/>
          </a:prstGeom>
          <a:noFill/>
        </p:spPr>
        <p:txBody>
          <a:bodyPr wrap="square" anchor="t">
            <a:spAutoFit/>
          </a:bodyPr>
          <a:lstStyle/>
          <a:p>
            <a:pPr algn="l">
              <a:lnSpc>
                <a:spcPct val="100000"/>
              </a:lnSpc>
              <a:spcAft>
                <a:spcPts val="800"/>
              </a:spcAft>
            </a:pPr>
            <a:r>
              <a:rPr sz="1100" b="1">
                <a:solidFill>
                  <a:srgbClr val="9FB2B6"/>
                </a:solidFill>
                <a:latin typeface="Consolas"/>
              </a:rPr>
              <a:t>ENGINEERING</a:t>
            </a:r>
          </a:p>
          <a:p>
            <a:pPr algn="l">
              <a:lnSpc>
                <a:spcPct val="115000"/>
              </a:lnSpc>
              <a:spcAft>
                <a:spcPts val="0"/>
              </a:spcAft>
            </a:pPr>
            <a:r>
              <a:rPr sz="1500" b="0">
                <a:solidFill>
                  <a:srgbClr val="EEF3F3"/>
                </a:solidFill>
                <a:latin typeface="Calibri"/>
              </a:rPr>
              <a:t>One-time: build the proxy, the template, and the training loop. The loop is reusable across models.</a:t>
            </a:r>
          </a:p>
        </p:txBody>
      </p:sp>
      <p:sp>
        <p:nvSpPr>
          <p:cNvPr id="10" name="Rounded Rectangle 9"/>
          <p:cNvSpPr/>
          <p:nvPr/>
        </p:nvSpPr>
        <p:spPr>
          <a:xfrm>
            <a:off x="7863840" y="3108960"/>
            <a:ext cx="3429000" cy="2651760"/>
          </a:xfrm>
          <a:prstGeom prst="roundRect">
            <a:avLst>
              <a:gd name="adj" fmla="val 6000"/>
            </a:avLst>
          </a:prstGeom>
          <a:solidFill>
            <a:srgbClr val="141D21"/>
          </a:solidFill>
          <a:ln w="12700">
            <a:solidFill>
              <a:srgbClr val="253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119871" y="3328415"/>
            <a:ext cx="2916936" cy="2212848"/>
          </a:xfrm>
          <a:prstGeom prst="rect">
            <a:avLst/>
          </a:prstGeom>
          <a:noFill/>
        </p:spPr>
        <p:txBody>
          <a:bodyPr wrap="square" anchor="t">
            <a:spAutoFit/>
          </a:bodyPr>
          <a:lstStyle/>
          <a:p>
            <a:pPr algn="l">
              <a:lnSpc>
                <a:spcPct val="100000"/>
              </a:lnSpc>
              <a:spcAft>
                <a:spcPts val="800"/>
              </a:spcAft>
            </a:pPr>
            <a:r>
              <a:rPr sz="1100" b="1">
                <a:solidFill>
                  <a:srgbClr val="9FB2B6"/>
                </a:solidFill>
                <a:latin typeface="Consolas"/>
              </a:rPr>
              <a:t>RISK</a:t>
            </a:r>
          </a:p>
          <a:p>
            <a:pPr algn="l">
              <a:lnSpc>
                <a:spcPct val="115000"/>
              </a:lnSpc>
              <a:spcAft>
                <a:spcPts val="0"/>
              </a:spcAft>
            </a:pPr>
            <a:r>
              <a:rPr sz="1500" b="0">
                <a:solidFill>
                  <a:srgbClr val="EEF3F3"/>
                </a:solidFill>
                <a:latin typeface="Calibri"/>
              </a:rPr>
              <a:t>Compressed rules are harder to audit; the benefit is model-dependent. Managed, not eliminated.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365760"/>
          </a:xfrm>
          <a:prstGeom prst="rect">
            <a:avLst/>
          </a:prstGeom>
          <a:noFill/>
        </p:spPr>
        <p:txBody>
          <a:bodyPr wrap="square" anchor="t">
            <a:spAutoFit/>
          </a:bodyPr>
          <a:lstStyle/>
          <a:p>
            <a:pPr algn="l">
              <a:lnSpc>
                <a:spcPct val="100000"/>
              </a:lnSpc>
              <a:spcAft>
                <a:spcPts val="0"/>
              </a:spcAft>
            </a:pPr>
            <a:r>
              <a:rPr sz="1300" b="1">
                <a:solidFill>
                  <a:srgbClr val="3FB0C6"/>
                </a:solidFill>
                <a:latin typeface="Consolas"/>
              </a:rPr>
              <a:t>THE TAX, MEASURED</a:t>
            </a:r>
          </a:p>
        </p:txBody>
      </p:sp>
      <p:sp>
        <p:nvSpPr>
          <p:cNvPr id="4" name="TextBox 3"/>
          <p:cNvSpPr txBox="1"/>
          <p:nvPr/>
        </p:nvSpPr>
        <p:spPr>
          <a:xfrm>
            <a:off x="640080" y="841248"/>
            <a:ext cx="10881360" cy="1371600"/>
          </a:xfrm>
          <a:prstGeom prst="rect">
            <a:avLst/>
          </a:prstGeom>
          <a:noFill/>
        </p:spPr>
        <p:txBody>
          <a:bodyPr wrap="square" anchor="t">
            <a:spAutoFit/>
          </a:bodyPr>
          <a:lstStyle/>
          <a:p>
            <a:pPr algn="l">
              <a:lnSpc>
                <a:spcPct val="102000"/>
              </a:lnSpc>
              <a:spcAft>
                <a:spcPts val="0"/>
              </a:spcAft>
            </a:pPr>
            <a:r>
              <a:rPr sz="3400" b="1">
                <a:solidFill>
                  <a:srgbClr val="EEF3F3"/>
                </a:solidFill>
                <a:latin typeface="Georgia"/>
              </a:rPr>
              <a:t>Most of every turn is machine-readable boilerplate</a:t>
            </a:r>
          </a:p>
        </p:txBody>
      </p:sp>
      <p:sp>
        <p:nvSpPr>
          <p:cNvPr id="5" name="Rectangle 4"/>
          <p:cNvSpPr/>
          <p:nvPr/>
        </p:nvSpPr>
        <p:spPr>
          <a:xfrm>
            <a:off x="640080" y="2286000"/>
            <a:ext cx="8460028" cy="1051560"/>
          </a:xfrm>
          <a:prstGeom prst="rect">
            <a:avLst/>
          </a:prstGeom>
          <a:solidFill>
            <a:srgbClr val="1F5F6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04671" y="2286000"/>
            <a:ext cx="8158276" cy="1051560"/>
          </a:xfrm>
          <a:prstGeom prst="rect">
            <a:avLst/>
          </a:prstGeom>
          <a:noFill/>
        </p:spPr>
        <p:txBody>
          <a:bodyPr wrap="square" anchor="ctr">
            <a:spAutoFit/>
          </a:bodyPr>
          <a:lstStyle/>
          <a:p>
            <a:pPr algn="l">
              <a:lnSpc>
                <a:spcPct val="100000"/>
              </a:lnSpc>
              <a:spcAft>
                <a:spcPts val="200"/>
              </a:spcAft>
            </a:pPr>
            <a:r>
              <a:rPr sz="1400" b="1">
                <a:solidFill>
                  <a:srgbClr val="FFFFFF"/>
                </a:solidFill>
                <a:latin typeface="Calibri"/>
              </a:rPr>
              <a:t>Tool schemas</a:t>
            </a:r>
          </a:p>
          <a:p>
            <a:pPr algn="l">
              <a:lnSpc>
                <a:spcPct val="100000"/>
              </a:lnSpc>
              <a:spcAft>
                <a:spcPts val="0"/>
              </a:spcAft>
            </a:pPr>
            <a:r>
              <a:rPr sz="1000" b="0">
                <a:solidFill>
                  <a:srgbClr val="FFFFFF"/>
                </a:solidFill>
                <a:latin typeface="Calibri"/>
              </a:rPr>
              <a:t>~16,000 tokens  ·  &gt;90% of the block</a:t>
            </a:r>
          </a:p>
        </p:txBody>
      </p:sp>
      <p:sp>
        <p:nvSpPr>
          <p:cNvPr id="7" name="Rectangle 6"/>
          <p:cNvSpPr/>
          <p:nvPr/>
        </p:nvSpPr>
        <p:spPr>
          <a:xfrm>
            <a:off x="9127540" y="2286000"/>
            <a:ext cx="951890" cy="1051560"/>
          </a:xfrm>
          <a:prstGeom prst="rect">
            <a:avLst/>
          </a:prstGeom>
          <a:solidFill>
            <a:srgbClr val="E08A4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292132" y="2286000"/>
            <a:ext cx="650138" cy="1051560"/>
          </a:xfrm>
          <a:prstGeom prst="rect">
            <a:avLst/>
          </a:prstGeom>
          <a:noFill/>
        </p:spPr>
        <p:txBody>
          <a:bodyPr wrap="square" anchor="ctr">
            <a:spAutoFit/>
          </a:bodyPr>
          <a:lstStyle/>
          <a:p>
            <a:pPr algn="l">
              <a:lnSpc>
                <a:spcPct val="100000"/>
              </a:lnSpc>
              <a:spcAft>
                <a:spcPts val="200"/>
              </a:spcAft>
            </a:pPr>
            <a:r>
              <a:rPr sz="1100" b="1">
                <a:solidFill>
                  <a:srgbClr val="FFFFFF"/>
                </a:solidFill>
                <a:latin typeface="Calibri"/>
              </a:rPr>
              <a:t>Rules</a:t>
            </a:r>
          </a:p>
          <a:p>
            <a:pPr algn="l">
              <a:lnSpc>
                <a:spcPct val="100000"/>
              </a:lnSpc>
              <a:spcAft>
                <a:spcPts val="0"/>
              </a:spcAft>
            </a:pPr>
            <a:r>
              <a:rPr sz="850" b="0">
                <a:solidFill>
                  <a:srgbClr val="FFFFFF"/>
                </a:solidFill>
                <a:latin typeface="Calibri"/>
              </a:rPr>
              <a:t>~1.3k</a:t>
            </a:r>
          </a:p>
        </p:txBody>
      </p:sp>
      <p:sp>
        <p:nvSpPr>
          <p:cNvPr id="9" name="Rectangle 8"/>
          <p:cNvSpPr/>
          <p:nvPr/>
        </p:nvSpPr>
        <p:spPr>
          <a:xfrm>
            <a:off x="10106863" y="2286000"/>
            <a:ext cx="1387144" cy="1051560"/>
          </a:xfrm>
          <a:prstGeom prst="rect">
            <a:avLst/>
          </a:prstGeom>
          <a:solidFill>
            <a:srgbClr val="2B3A4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271455" y="2286000"/>
            <a:ext cx="1085392" cy="1051560"/>
          </a:xfrm>
          <a:prstGeom prst="rect">
            <a:avLst/>
          </a:prstGeom>
          <a:noFill/>
        </p:spPr>
        <p:txBody>
          <a:bodyPr wrap="square" anchor="ctr">
            <a:spAutoFit/>
          </a:bodyPr>
          <a:lstStyle/>
          <a:p>
            <a:pPr algn="l">
              <a:lnSpc>
                <a:spcPct val="100000"/>
              </a:lnSpc>
              <a:spcAft>
                <a:spcPts val="200"/>
              </a:spcAft>
            </a:pPr>
            <a:r>
              <a:rPr sz="1100" b="1">
                <a:solidFill>
                  <a:srgbClr val="FFFFFF"/>
                </a:solidFill>
                <a:latin typeface="Calibri"/>
              </a:rPr>
              <a:t>Per-session</a:t>
            </a:r>
          </a:p>
          <a:p>
            <a:pPr algn="l">
              <a:lnSpc>
                <a:spcPct val="100000"/>
              </a:lnSpc>
              <a:spcAft>
                <a:spcPts val="0"/>
              </a:spcAft>
            </a:pPr>
            <a:r>
              <a:rPr sz="850" b="0">
                <a:solidFill>
                  <a:srgbClr val="FFFFFF"/>
                </a:solidFill>
                <a:latin typeface="Calibri"/>
              </a:rPr>
              <a:t>kept raw</a:t>
            </a:r>
          </a:p>
        </p:txBody>
      </p:sp>
      <p:sp>
        <p:nvSpPr>
          <p:cNvPr id="11" name="TextBox 10"/>
          <p:cNvSpPr txBox="1"/>
          <p:nvPr/>
        </p:nvSpPr>
        <p:spPr>
          <a:xfrm>
            <a:off x="640080" y="3886200"/>
            <a:ext cx="3474720" cy="640080"/>
          </a:xfrm>
          <a:prstGeom prst="rect">
            <a:avLst/>
          </a:prstGeom>
          <a:noFill/>
        </p:spPr>
        <p:txBody>
          <a:bodyPr wrap="square" anchor="t">
            <a:spAutoFit/>
          </a:bodyPr>
          <a:lstStyle/>
          <a:p>
            <a:pPr algn="l">
              <a:lnSpc>
                <a:spcPct val="100000"/>
              </a:lnSpc>
              <a:spcAft>
                <a:spcPts val="0"/>
              </a:spcAft>
            </a:pPr>
            <a:r>
              <a:rPr sz="3000" b="1">
                <a:solidFill>
                  <a:srgbClr val="E08A4C"/>
                </a:solidFill>
                <a:latin typeface="Consolas"/>
              </a:rPr>
              <a:t>17.5–21k</a:t>
            </a:r>
          </a:p>
        </p:txBody>
      </p:sp>
      <p:sp>
        <p:nvSpPr>
          <p:cNvPr id="12" name="TextBox 11"/>
          <p:cNvSpPr txBox="1"/>
          <p:nvPr/>
        </p:nvSpPr>
        <p:spPr>
          <a:xfrm>
            <a:off x="640080" y="4453128"/>
            <a:ext cx="3474720" cy="457200"/>
          </a:xfrm>
          <a:prstGeom prst="rect">
            <a:avLst/>
          </a:prstGeom>
          <a:noFill/>
        </p:spPr>
        <p:txBody>
          <a:bodyPr wrap="square" anchor="t">
            <a:spAutoFit/>
          </a:bodyPr>
          <a:lstStyle/>
          <a:p>
            <a:pPr algn="l">
              <a:lnSpc>
                <a:spcPct val="100000"/>
              </a:lnSpc>
              <a:spcAft>
                <a:spcPts val="0"/>
              </a:spcAft>
            </a:pPr>
            <a:r>
              <a:rPr sz="1200" b="0">
                <a:solidFill>
                  <a:srgbClr val="9FB2B6"/>
                </a:solidFill>
                <a:latin typeface="Consolas"/>
              </a:rPr>
              <a:t>fixed tokens per turn</a:t>
            </a:r>
          </a:p>
        </p:txBody>
      </p:sp>
      <p:sp>
        <p:nvSpPr>
          <p:cNvPr id="13" name="TextBox 12"/>
          <p:cNvSpPr txBox="1"/>
          <p:nvPr/>
        </p:nvSpPr>
        <p:spPr>
          <a:xfrm>
            <a:off x="4297680" y="3886200"/>
            <a:ext cx="3474720" cy="640080"/>
          </a:xfrm>
          <a:prstGeom prst="rect">
            <a:avLst/>
          </a:prstGeom>
          <a:noFill/>
        </p:spPr>
        <p:txBody>
          <a:bodyPr wrap="square" anchor="t">
            <a:spAutoFit/>
          </a:bodyPr>
          <a:lstStyle/>
          <a:p>
            <a:pPr algn="l">
              <a:lnSpc>
                <a:spcPct val="100000"/>
              </a:lnSpc>
              <a:spcAft>
                <a:spcPts val="0"/>
              </a:spcAft>
            </a:pPr>
            <a:r>
              <a:rPr sz="3000" b="1">
                <a:solidFill>
                  <a:srgbClr val="E08A4C"/>
                </a:solidFill>
                <a:latin typeface="Consolas"/>
              </a:rPr>
              <a:t>&gt;90%</a:t>
            </a:r>
          </a:p>
        </p:txBody>
      </p:sp>
      <p:sp>
        <p:nvSpPr>
          <p:cNvPr id="14" name="TextBox 13"/>
          <p:cNvSpPr txBox="1"/>
          <p:nvPr/>
        </p:nvSpPr>
        <p:spPr>
          <a:xfrm>
            <a:off x="4297680" y="4453128"/>
            <a:ext cx="3474720" cy="457200"/>
          </a:xfrm>
          <a:prstGeom prst="rect">
            <a:avLst/>
          </a:prstGeom>
          <a:noFill/>
        </p:spPr>
        <p:txBody>
          <a:bodyPr wrap="square" anchor="t">
            <a:spAutoFit/>
          </a:bodyPr>
          <a:lstStyle/>
          <a:p>
            <a:pPr algn="l">
              <a:lnSpc>
                <a:spcPct val="100000"/>
              </a:lnSpc>
              <a:spcAft>
                <a:spcPts val="0"/>
              </a:spcAft>
            </a:pPr>
            <a:r>
              <a:rPr sz="1200" b="0">
                <a:solidFill>
                  <a:srgbClr val="9FB2B6"/>
                </a:solidFill>
                <a:latin typeface="Consolas"/>
              </a:rPr>
              <a:t>is tool schemas, not rules</a:t>
            </a:r>
          </a:p>
        </p:txBody>
      </p:sp>
      <p:sp>
        <p:nvSpPr>
          <p:cNvPr id="15" name="TextBox 14"/>
          <p:cNvSpPr txBox="1"/>
          <p:nvPr/>
        </p:nvSpPr>
        <p:spPr>
          <a:xfrm>
            <a:off x="7955279" y="3886200"/>
            <a:ext cx="3474720" cy="640080"/>
          </a:xfrm>
          <a:prstGeom prst="rect">
            <a:avLst/>
          </a:prstGeom>
          <a:noFill/>
        </p:spPr>
        <p:txBody>
          <a:bodyPr wrap="square" anchor="t">
            <a:spAutoFit/>
          </a:bodyPr>
          <a:lstStyle/>
          <a:p>
            <a:pPr algn="l">
              <a:lnSpc>
                <a:spcPct val="100000"/>
              </a:lnSpc>
              <a:spcAft>
                <a:spcPts val="0"/>
              </a:spcAft>
            </a:pPr>
            <a:r>
              <a:rPr sz="3000" b="1">
                <a:solidFill>
                  <a:srgbClr val="3FB0C6"/>
                </a:solidFill>
                <a:latin typeface="Consolas"/>
              </a:rPr>
              <a:t>0.72</a:t>
            </a:r>
          </a:p>
        </p:txBody>
      </p:sp>
      <p:sp>
        <p:nvSpPr>
          <p:cNvPr id="16" name="TextBox 15"/>
          <p:cNvSpPr txBox="1"/>
          <p:nvPr/>
        </p:nvSpPr>
        <p:spPr>
          <a:xfrm>
            <a:off x="7955279" y="4453128"/>
            <a:ext cx="3474720" cy="457200"/>
          </a:xfrm>
          <a:prstGeom prst="rect">
            <a:avLst/>
          </a:prstGeom>
          <a:noFill/>
        </p:spPr>
        <p:txBody>
          <a:bodyPr wrap="square" anchor="t">
            <a:spAutoFit/>
          </a:bodyPr>
          <a:lstStyle/>
          <a:p>
            <a:pPr algn="l">
              <a:lnSpc>
                <a:spcPct val="100000"/>
              </a:lnSpc>
              <a:spcAft>
                <a:spcPts val="0"/>
              </a:spcAft>
            </a:pPr>
            <a:r>
              <a:rPr sz="1200" b="0">
                <a:solidFill>
                  <a:srgbClr val="9FB2B6"/>
                </a:solidFill>
                <a:latin typeface="Consolas"/>
              </a:rPr>
              <a:t>of a short session’s input</a:t>
            </a:r>
          </a:p>
        </p:txBody>
      </p:sp>
      <p:sp>
        <p:nvSpPr>
          <p:cNvPr id="17" name="TextBox 16"/>
          <p:cNvSpPr txBox="1"/>
          <p:nvPr/>
        </p:nvSpPr>
        <p:spPr>
          <a:xfrm>
            <a:off x="640080" y="5212080"/>
            <a:ext cx="10881360" cy="548640"/>
          </a:xfrm>
          <a:prstGeom prst="rect">
            <a:avLst/>
          </a:prstGeom>
          <a:noFill/>
        </p:spPr>
        <p:txBody>
          <a:bodyPr wrap="square" anchor="t">
            <a:spAutoFit/>
          </a:bodyPr>
          <a:lstStyle/>
          <a:p>
            <a:pPr algn="l">
              <a:lnSpc>
                <a:spcPct val="100000"/>
              </a:lnSpc>
              <a:spcAft>
                <a:spcPts val="0"/>
              </a:spcAft>
            </a:pPr>
            <a:r>
              <a:rPr sz="1300" b="0">
                <a:solidFill>
                  <a:srgbClr val="9FB2B6"/>
                </a:solidFill>
                <a:latin typeface="Calibri"/>
              </a:rPr>
              <a:t>The coding-agent harness prepends the same block, byte-for-byte, on every model call. Per-session values (paths, git status, date) are split out and kept raw.</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365760"/>
          </a:xfrm>
          <a:prstGeom prst="rect">
            <a:avLst/>
          </a:prstGeom>
          <a:noFill/>
        </p:spPr>
        <p:txBody>
          <a:bodyPr wrap="square" anchor="t">
            <a:spAutoFit/>
          </a:bodyPr>
          <a:lstStyle/>
          <a:p>
            <a:pPr algn="l">
              <a:lnSpc>
                <a:spcPct val="100000"/>
              </a:lnSpc>
              <a:spcAft>
                <a:spcPts val="0"/>
              </a:spcAft>
            </a:pPr>
            <a:r>
              <a:rPr sz="1300" b="1">
                <a:solidFill>
                  <a:srgbClr val="3FB0C6"/>
                </a:solidFill>
                <a:latin typeface="Consolas"/>
              </a:rPr>
              <a:t>THE LEVER</a:t>
            </a:r>
          </a:p>
        </p:txBody>
      </p:sp>
      <p:sp>
        <p:nvSpPr>
          <p:cNvPr id="4" name="TextBox 3"/>
          <p:cNvSpPr txBox="1"/>
          <p:nvPr/>
        </p:nvSpPr>
        <p:spPr>
          <a:xfrm>
            <a:off x="640080" y="841248"/>
            <a:ext cx="10881360" cy="1371600"/>
          </a:xfrm>
          <a:prstGeom prst="rect">
            <a:avLst/>
          </a:prstGeom>
          <a:noFill/>
        </p:spPr>
        <p:txBody>
          <a:bodyPr wrap="square" anchor="t">
            <a:spAutoFit/>
          </a:bodyPr>
          <a:lstStyle/>
          <a:p>
            <a:pPr algn="l">
              <a:lnSpc>
                <a:spcPct val="102000"/>
              </a:lnSpc>
              <a:spcAft>
                <a:spcPts val="0"/>
              </a:spcAft>
            </a:pPr>
            <a:r>
              <a:rPr sz="3400" b="1">
                <a:solidFill>
                  <a:srgbClr val="EEF3F3"/>
                </a:solidFill>
                <a:latin typeface="Georgia"/>
              </a:rPr>
              <a:t>Teach the model a shorthand for the boilerplate</a:t>
            </a:r>
          </a:p>
        </p:txBody>
      </p:sp>
      <p:sp>
        <p:nvSpPr>
          <p:cNvPr id="5" name="Rounded Rectangle 4"/>
          <p:cNvSpPr/>
          <p:nvPr/>
        </p:nvSpPr>
        <p:spPr>
          <a:xfrm>
            <a:off x="640080" y="2468880"/>
            <a:ext cx="3383280" cy="2926080"/>
          </a:xfrm>
          <a:prstGeom prst="roundRect">
            <a:avLst>
              <a:gd name="adj" fmla="val 6000"/>
            </a:avLst>
          </a:prstGeom>
          <a:solidFill>
            <a:srgbClr val="141D21"/>
          </a:solidFill>
          <a:ln w="12700">
            <a:solidFill>
              <a:srgbClr val="253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761488"/>
            <a:ext cx="2798064" cy="2340864"/>
          </a:xfrm>
          <a:prstGeom prst="rect">
            <a:avLst/>
          </a:prstGeom>
          <a:noFill/>
        </p:spPr>
        <p:txBody>
          <a:bodyPr wrap="square" anchor="t">
            <a:spAutoFit/>
          </a:bodyPr>
          <a:lstStyle/>
          <a:p>
            <a:pPr algn="l">
              <a:lnSpc>
                <a:spcPct val="100000"/>
              </a:lnSpc>
              <a:spcAft>
                <a:spcPts val="600"/>
              </a:spcAft>
            </a:pPr>
            <a:r>
              <a:rPr sz="1200" b="1">
                <a:solidFill>
                  <a:srgbClr val="3FB0C6"/>
                </a:solidFill>
                <a:latin typeface="Consolas"/>
              </a:rPr>
              <a:t>01</a:t>
            </a:r>
          </a:p>
          <a:p>
            <a:pPr algn="l">
              <a:lnSpc>
                <a:spcPct val="100000"/>
              </a:lnSpc>
              <a:spcAft>
                <a:spcPts val="1000"/>
              </a:spcAft>
            </a:pPr>
            <a:r>
              <a:rPr sz="2000" b="1">
                <a:solidFill>
                  <a:srgbClr val="FFFFFF"/>
                </a:solidFill>
                <a:latin typeface="Georgia"/>
              </a:rPr>
              <a:t>Grow the vocabulary</a:t>
            </a:r>
          </a:p>
          <a:p>
            <a:pPr algn="l">
              <a:lnSpc>
                <a:spcPct val="120000"/>
              </a:lnSpc>
              <a:spcAft>
                <a:spcPts val="0"/>
              </a:spcAft>
            </a:pPr>
            <a:r>
              <a:rPr sz="1400" b="0">
                <a:solidFill>
                  <a:srgbClr val="9FB2B6"/>
                </a:solidFill>
                <a:latin typeface="Calibri"/>
              </a:rPr>
              <a:t>Add a few thousand new “gist” tokens, seeded from the block they replace.</a:t>
            </a:r>
          </a:p>
        </p:txBody>
      </p:sp>
      <p:sp>
        <p:nvSpPr>
          <p:cNvPr id="7" name="TextBox 6"/>
          <p:cNvSpPr txBox="1"/>
          <p:nvPr/>
        </p:nvSpPr>
        <p:spPr>
          <a:xfrm>
            <a:off x="4005072" y="3611880"/>
            <a:ext cx="411479" cy="640080"/>
          </a:xfrm>
          <a:prstGeom prst="rect">
            <a:avLst/>
          </a:prstGeom>
          <a:noFill/>
        </p:spPr>
        <p:txBody>
          <a:bodyPr wrap="square" anchor="ctr">
            <a:spAutoFit/>
          </a:bodyPr>
          <a:lstStyle/>
          <a:p>
            <a:pPr algn="ctr">
              <a:lnSpc>
                <a:spcPct val="100000"/>
              </a:lnSpc>
              <a:spcAft>
                <a:spcPts val="0"/>
              </a:spcAft>
            </a:pPr>
            <a:r>
              <a:rPr sz="2600" b="1">
                <a:solidFill>
                  <a:srgbClr val="3FB0C6"/>
                </a:solidFill>
                <a:latin typeface="Calibri"/>
              </a:rPr>
              <a:t>→</a:t>
            </a:r>
          </a:p>
        </p:txBody>
      </p:sp>
      <p:sp>
        <p:nvSpPr>
          <p:cNvPr id="8" name="Rounded Rectangle 7"/>
          <p:cNvSpPr/>
          <p:nvPr/>
        </p:nvSpPr>
        <p:spPr>
          <a:xfrm>
            <a:off x="4343400" y="2468880"/>
            <a:ext cx="3383280" cy="2926080"/>
          </a:xfrm>
          <a:prstGeom prst="roundRect">
            <a:avLst>
              <a:gd name="adj" fmla="val 6000"/>
            </a:avLst>
          </a:prstGeom>
          <a:solidFill>
            <a:srgbClr val="141D21"/>
          </a:solidFill>
          <a:ln w="12700">
            <a:solidFill>
              <a:srgbClr val="253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4636008" y="2761488"/>
            <a:ext cx="2798064" cy="2340864"/>
          </a:xfrm>
          <a:prstGeom prst="rect">
            <a:avLst/>
          </a:prstGeom>
          <a:noFill/>
        </p:spPr>
        <p:txBody>
          <a:bodyPr wrap="square" anchor="t">
            <a:spAutoFit/>
          </a:bodyPr>
          <a:lstStyle/>
          <a:p>
            <a:pPr algn="l">
              <a:lnSpc>
                <a:spcPct val="100000"/>
              </a:lnSpc>
              <a:spcAft>
                <a:spcPts val="600"/>
              </a:spcAft>
            </a:pPr>
            <a:r>
              <a:rPr sz="1200" b="1">
                <a:solidFill>
                  <a:srgbClr val="3FB0C6"/>
                </a:solidFill>
                <a:latin typeface="Consolas"/>
              </a:rPr>
              <a:t>02</a:t>
            </a:r>
          </a:p>
          <a:p>
            <a:pPr algn="l">
              <a:lnSpc>
                <a:spcPct val="100000"/>
              </a:lnSpc>
              <a:spcAft>
                <a:spcPts val="1000"/>
              </a:spcAft>
            </a:pPr>
            <a:r>
              <a:rPr sz="2000" b="1">
                <a:solidFill>
                  <a:srgbClr val="FFFFFF"/>
                </a:solidFill>
                <a:latin typeface="Georgia"/>
              </a:rPr>
              <a:t>Self-distil</a:t>
            </a:r>
          </a:p>
          <a:p>
            <a:pPr algn="l">
              <a:lnSpc>
                <a:spcPct val="120000"/>
              </a:lnSpc>
              <a:spcAft>
                <a:spcPts val="0"/>
              </a:spcAft>
            </a:pPr>
            <a:r>
              <a:rPr sz="1400" b="0">
                <a:solidFill>
                  <a:srgbClr val="9FB2B6"/>
                </a:solidFill>
                <a:latin typeface="Calibri"/>
              </a:rPr>
              <a:t>The model matches its own behaviour (short gist vs. full block). All base weights frozen; only the new rows train.</a:t>
            </a:r>
          </a:p>
        </p:txBody>
      </p:sp>
      <p:sp>
        <p:nvSpPr>
          <p:cNvPr id="10" name="TextBox 9"/>
          <p:cNvSpPr txBox="1"/>
          <p:nvPr/>
        </p:nvSpPr>
        <p:spPr>
          <a:xfrm>
            <a:off x="7708392" y="3611880"/>
            <a:ext cx="411479" cy="640080"/>
          </a:xfrm>
          <a:prstGeom prst="rect">
            <a:avLst/>
          </a:prstGeom>
          <a:noFill/>
        </p:spPr>
        <p:txBody>
          <a:bodyPr wrap="square" anchor="ctr">
            <a:spAutoFit/>
          </a:bodyPr>
          <a:lstStyle/>
          <a:p>
            <a:pPr algn="ctr">
              <a:lnSpc>
                <a:spcPct val="100000"/>
              </a:lnSpc>
              <a:spcAft>
                <a:spcPts val="0"/>
              </a:spcAft>
            </a:pPr>
            <a:r>
              <a:rPr sz="2600" b="1">
                <a:solidFill>
                  <a:srgbClr val="3FB0C6"/>
                </a:solidFill>
                <a:latin typeface="Calibri"/>
              </a:rPr>
              <a:t>→</a:t>
            </a:r>
          </a:p>
        </p:txBody>
      </p:sp>
      <p:sp>
        <p:nvSpPr>
          <p:cNvPr id="11" name="Rounded Rectangle 10"/>
          <p:cNvSpPr/>
          <p:nvPr/>
        </p:nvSpPr>
        <p:spPr>
          <a:xfrm>
            <a:off x="8046719" y="2468880"/>
            <a:ext cx="3383280" cy="2926080"/>
          </a:xfrm>
          <a:prstGeom prst="roundRect">
            <a:avLst>
              <a:gd name="adj" fmla="val 6000"/>
            </a:avLst>
          </a:prstGeom>
          <a:solidFill>
            <a:srgbClr val="141D21"/>
          </a:solidFill>
          <a:ln w="12700">
            <a:solidFill>
              <a:srgbClr val="253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39327" y="2761488"/>
            <a:ext cx="2798064" cy="2340864"/>
          </a:xfrm>
          <a:prstGeom prst="rect">
            <a:avLst/>
          </a:prstGeom>
          <a:noFill/>
        </p:spPr>
        <p:txBody>
          <a:bodyPr wrap="square" anchor="t">
            <a:spAutoFit/>
          </a:bodyPr>
          <a:lstStyle/>
          <a:p>
            <a:pPr algn="l">
              <a:lnSpc>
                <a:spcPct val="100000"/>
              </a:lnSpc>
              <a:spcAft>
                <a:spcPts val="600"/>
              </a:spcAft>
            </a:pPr>
            <a:r>
              <a:rPr sz="1200" b="1">
                <a:solidFill>
                  <a:srgbClr val="3FB0C6"/>
                </a:solidFill>
                <a:latin typeface="Consolas"/>
              </a:rPr>
              <a:t>03</a:t>
            </a:r>
          </a:p>
          <a:p>
            <a:pPr algn="l">
              <a:lnSpc>
                <a:spcPct val="100000"/>
              </a:lnSpc>
              <a:spcAft>
                <a:spcPts val="1000"/>
              </a:spcAft>
            </a:pPr>
            <a:r>
              <a:rPr sz="2000" b="1">
                <a:solidFill>
                  <a:srgbClr val="FFFFFF"/>
                </a:solidFill>
                <a:latin typeface="Georgia"/>
              </a:rPr>
              <a:t>Serve via a proxy</a:t>
            </a:r>
          </a:p>
          <a:p>
            <a:pPr algn="l">
              <a:lnSpc>
                <a:spcPct val="120000"/>
              </a:lnSpc>
              <a:spcAft>
                <a:spcPts val="0"/>
              </a:spcAft>
            </a:pPr>
            <a:r>
              <a:rPr sz="1400" b="0">
                <a:solidFill>
                  <a:srgbClr val="9FB2B6"/>
                </a:solidFill>
                <a:latin typeface="Calibri"/>
              </a:rPr>
              <a:t>The proxy swaps the span for gist tokens. No change to the client or the engine.</a:t>
            </a:r>
          </a:p>
        </p:txBody>
      </p:sp>
      <p:sp>
        <p:nvSpPr>
          <p:cNvPr id="13" name="TextBox 12"/>
          <p:cNvSpPr txBox="1"/>
          <p:nvPr/>
        </p:nvSpPr>
        <p:spPr>
          <a:xfrm>
            <a:off x="640080" y="5623560"/>
            <a:ext cx="10881360" cy="548640"/>
          </a:xfrm>
          <a:prstGeom prst="rect">
            <a:avLst/>
          </a:prstGeom>
          <a:noFill/>
        </p:spPr>
        <p:txBody>
          <a:bodyPr wrap="square" anchor="t">
            <a:spAutoFit/>
          </a:bodyPr>
          <a:lstStyle/>
          <a:p>
            <a:pPr algn="l">
              <a:lnSpc>
                <a:spcPct val="100000"/>
              </a:lnSpc>
              <a:spcAft>
                <a:spcPts val="0"/>
              </a:spcAft>
            </a:pPr>
            <a:r>
              <a:rPr sz="1300" b="0">
                <a:solidFill>
                  <a:srgbClr val="9FB2B6"/>
                </a:solidFill>
                <a:latin typeface="Calibri"/>
              </a:rPr>
              <a:t>The only trained object is a small embedding tensor: cheap to produce, cheap to serve.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365760"/>
          </a:xfrm>
          <a:prstGeom prst="rect">
            <a:avLst/>
          </a:prstGeom>
          <a:noFill/>
        </p:spPr>
        <p:txBody>
          <a:bodyPr wrap="square" anchor="t">
            <a:spAutoFit/>
          </a:bodyPr>
          <a:lstStyle/>
          <a:p>
            <a:pPr algn="l">
              <a:lnSpc>
                <a:spcPct val="100000"/>
              </a:lnSpc>
              <a:spcAft>
                <a:spcPts val="0"/>
              </a:spcAft>
            </a:pPr>
            <a:r>
              <a:rPr sz="1300" b="1">
                <a:solidFill>
                  <a:srgbClr val="3FB0C6"/>
                </a:solidFill>
                <a:latin typeface="Consolas"/>
              </a:rPr>
              <a:t>PROOF · PARITY</a:t>
            </a:r>
          </a:p>
        </p:txBody>
      </p:sp>
      <p:sp>
        <p:nvSpPr>
          <p:cNvPr id="4" name="TextBox 3"/>
          <p:cNvSpPr txBox="1"/>
          <p:nvPr/>
        </p:nvSpPr>
        <p:spPr>
          <a:xfrm>
            <a:off x="640080" y="841248"/>
            <a:ext cx="10881360" cy="1371600"/>
          </a:xfrm>
          <a:prstGeom prst="rect">
            <a:avLst/>
          </a:prstGeom>
          <a:noFill/>
        </p:spPr>
        <p:txBody>
          <a:bodyPr wrap="square" anchor="t">
            <a:spAutoFit/>
          </a:bodyPr>
          <a:lstStyle/>
          <a:p>
            <a:pPr algn="l">
              <a:lnSpc>
                <a:spcPct val="102000"/>
              </a:lnSpc>
              <a:spcAft>
                <a:spcPts val="0"/>
              </a:spcAft>
            </a:pPr>
            <a:r>
              <a:rPr sz="3400" b="1">
                <a:solidFill>
                  <a:srgbClr val="EEF3F3"/>
                </a:solidFill>
                <a:latin typeface="Georgia"/>
              </a:rPr>
              <a:t>The short prompt matched the full prompt</a:t>
            </a:r>
          </a:p>
        </p:txBody>
      </p:sp>
      <p:sp>
        <p:nvSpPr>
          <p:cNvPr id="5" name="Rounded Rectangle 4"/>
          <p:cNvSpPr/>
          <p:nvPr/>
        </p:nvSpPr>
        <p:spPr>
          <a:xfrm>
            <a:off x="640080" y="2011680"/>
            <a:ext cx="1737360" cy="1188720"/>
          </a:xfrm>
          <a:prstGeom prst="roundRect">
            <a:avLst>
              <a:gd name="adj" fmla="val 6000"/>
            </a:avLst>
          </a:prstGeom>
          <a:solidFill>
            <a:srgbClr val="141D21"/>
          </a:solidFill>
          <a:ln w="15875">
            <a:solidFill>
              <a:srgbClr val="1F5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148840"/>
            <a:ext cx="1737360" cy="1005840"/>
          </a:xfrm>
          <a:prstGeom prst="rect">
            <a:avLst/>
          </a:prstGeom>
          <a:noFill/>
        </p:spPr>
        <p:txBody>
          <a:bodyPr wrap="square" anchor="ctr">
            <a:spAutoFit/>
          </a:bodyPr>
          <a:lstStyle/>
          <a:p>
            <a:pPr algn="ctr">
              <a:lnSpc>
                <a:spcPct val="100000"/>
              </a:lnSpc>
              <a:spcAft>
                <a:spcPts val="200"/>
              </a:spcAft>
            </a:pPr>
            <a:r>
              <a:rPr sz="2200" b="1">
                <a:solidFill>
                  <a:srgbClr val="3FB0C6"/>
                </a:solidFill>
                <a:latin typeface="Consolas"/>
              </a:rPr>
              <a:t>2:1</a:t>
            </a:r>
          </a:p>
          <a:p>
            <a:pPr algn="ctr">
              <a:lnSpc>
                <a:spcPct val="100000"/>
              </a:lnSpc>
              <a:spcAft>
                <a:spcPts val="0"/>
              </a:spcAft>
            </a:pPr>
            <a:r>
              <a:rPr sz="1300" b="0">
                <a:solidFill>
                  <a:srgbClr val="57C08A"/>
                </a:solidFill>
                <a:latin typeface="Consolas"/>
              </a:rPr>
              <a:t>12 / 12</a:t>
            </a:r>
          </a:p>
        </p:txBody>
      </p:sp>
      <p:sp>
        <p:nvSpPr>
          <p:cNvPr id="7" name="Rounded Rectangle 6"/>
          <p:cNvSpPr/>
          <p:nvPr/>
        </p:nvSpPr>
        <p:spPr>
          <a:xfrm>
            <a:off x="2651760" y="2011680"/>
            <a:ext cx="1737360" cy="1188720"/>
          </a:xfrm>
          <a:prstGeom prst="roundRect">
            <a:avLst>
              <a:gd name="adj" fmla="val 6000"/>
            </a:avLst>
          </a:prstGeom>
          <a:solidFill>
            <a:srgbClr val="141D21"/>
          </a:solidFill>
          <a:ln w="15875">
            <a:solidFill>
              <a:srgbClr val="1F5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651760" y="2148840"/>
            <a:ext cx="1737360" cy="1005840"/>
          </a:xfrm>
          <a:prstGeom prst="rect">
            <a:avLst/>
          </a:prstGeom>
          <a:noFill/>
        </p:spPr>
        <p:txBody>
          <a:bodyPr wrap="square" anchor="ctr">
            <a:spAutoFit/>
          </a:bodyPr>
          <a:lstStyle/>
          <a:p>
            <a:pPr algn="ctr">
              <a:lnSpc>
                <a:spcPct val="100000"/>
              </a:lnSpc>
              <a:spcAft>
                <a:spcPts val="200"/>
              </a:spcAft>
            </a:pPr>
            <a:r>
              <a:rPr sz="2200" b="1">
                <a:solidFill>
                  <a:srgbClr val="3FB0C6"/>
                </a:solidFill>
                <a:latin typeface="Consolas"/>
              </a:rPr>
              <a:t>4:1</a:t>
            </a:r>
          </a:p>
          <a:p>
            <a:pPr algn="ctr">
              <a:lnSpc>
                <a:spcPct val="100000"/>
              </a:lnSpc>
              <a:spcAft>
                <a:spcPts val="0"/>
              </a:spcAft>
            </a:pPr>
            <a:r>
              <a:rPr sz="1300" b="0">
                <a:solidFill>
                  <a:srgbClr val="57C08A"/>
                </a:solidFill>
                <a:latin typeface="Consolas"/>
              </a:rPr>
              <a:t>12 / 12</a:t>
            </a:r>
          </a:p>
        </p:txBody>
      </p:sp>
      <p:sp>
        <p:nvSpPr>
          <p:cNvPr id="9" name="Rounded Rectangle 8"/>
          <p:cNvSpPr/>
          <p:nvPr/>
        </p:nvSpPr>
        <p:spPr>
          <a:xfrm>
            <a:off x="4663440" y="2011680"/>
            <a:ext cx="1737360" cy="1188720"/>
          </a:xfrm>
          <a:prstGeom prst="roundRect">
            <a:avLst>
              <a:gd name="adj" fmla="val 6000"/>
            </a:avLst>
          </a:prstGeom>
          <a:solidFill>
            <a:srgbClr val="141D21"/>
          </a:solidFill>
          <a:ln w="15875">
            <a:solidFill>
              <a:srgbClr val="1F5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63440" y="2148840"/>
            <a:ext cx="1737360" cy="1005840"/>
          </a:xfrm>
          <a:prstGeom prst="rect">
            <a:avLst/>
          </a:prstGeom>
          <a:noFill/>
        </p:spPr>
        <p:txBody>
          <a:bodyPr wrap="square" anchor="ctr">
            <a:spAutoFit/>
          </a:bodyPr>
          <a:lstStyle/>
          <a:p>
            <a:pPr algn="ctr">
              <a:lnSpc>
                <a:spcPct val="100000"/>
              </a:lnSpc>
              <a:spcAft>
                <a:spcPts val="200"/>
              </a:spcAft>
            </a:pPr>
            <a:r>
              <a:rPr sz="2200" b="1">
                <a:solidFill>
                  <a:srgbClr val="3FB0C6"/>
                </a:solidFill>
                <a:latin typeface="Consolas"/>
              </a:rPr>
              <a:t>8:1</a:t>
            </a:r>
          </a:p>
          <a:p>
            <a:pPr algn="ctr">
              <a:lnSpc>
                <a:spcPct val="100000"/>
              </a:lnSpc>
              <a:spcAft>
                <a:spcPts val="0"/>
              </a:spcAft>
            </a:pPr>
            <a:r>
              <a:rPr sz="1300" b="0">
                <a:solidFill>
                  <a:srgbClr val="57C08A"/>
                </a:solidFill>
                <a:latin typeface="Consolas"/>
              </a:rPr>
              <a:t>12 / 12</a:t>
            </a:r>
          </a:p>
        </p:txBody>
      </p:sp>
      <p:sp>
        <p:nvSpPr>
          <p:cNvPr id="11" name="Rounded Rectangle 10"/>
          <p:cNvSpPr/>
          <p:nvPr/>
        </p:nvSpPr>
        <p:spPr>
          <a:xfrm>
            <a:off x="6675120" y="2011680"/>
            <a:ext cx="1737360" cy="1188720"/>
          </a:xfrm>
          <a:prstGeom prst="roundRect">
            <a:avLst>
              <a:gd name="adj" fmla="val 6000"/>
            </a:avLst>
          </a:prstGeom>
          <a:solidFill>
            <a:srgbClr val="141D21"/>
          </a:solidFill>
          <a:ln w="15875">
            <a:solidFill>
              <a:srgbClr val="1F5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675120" y="2148840"/>
            <a:ext cx="1737360" cy="1005840"/>
          </a:xfrm>
          <a:prstGeom prst="rect">
            <a:avLst/>
          </a:prstGeom>
          <a:noFill/>
        </p:spPr>
        <p:txBody>
          <a:bodyPr wrap="square" anchor="ctr">
            <a:spAutoFit/>
          </a:bodyPr>
          <a:lstStyle/>
          <a:p>
            <a:pPr algn="ctr">
              <a:lnSpc>
                <a:spcPct val="100000"/>
              </a:lnSpc>
              <a:spcAft>
                <a:spcPts val="200"/>
              </a:spcAft>
            </a:pPr>
            <a:r>
              <a:rPr sz="2200" b="1">
                <a:solidFill>
                  <a:srgbClr val="3FB0C6"/>
                </a:solidFill>
                <a:latin typeface="Consolas"/>
              </a:rPr>
              <a:t>16:1</a:t>
            </a:r>
          </a:p>
          <a:p>
            <a:pPr algn="ctr">
              <a:lnSpc>
                <a:spcPct val="100000"/>
              </a:lnSpc>
              <a:spcAft>
                <a:spcPts val="0"/>
              </a:spcAft>
            </a:pPr>
            <a:r>
              <a:rPr sz="1300" b="0">
                <a:solidFill>
                  <a:srgbClr val="57C08A"/>
                </a:solidFill>
                <a:latin typeface="Consolas"/>
              </a:rPr>
              <a:t>12 / 12</a:t>
            </a:r>
          </a:p>
        </p:txBody>
      </p:sp>
      <p:sp>
        <p:nvSpPr>
          <p:cNvPr id="13" name="TextBox 12"/>
          <p:cNvSpPr txBox="1"/>
          <p:nvPr/>
        </p:nvSpPr>
        <p:spPr>
          <a:xfrm>
            <a:off x="640080" y="3749039"/>
            <a:ext cx="10424160" cy="1188720"/>
          </a:xfrm>
          <a:prstGeom prst="rect">
            <a:avLst/>
          </a:prstGeom>
          <a:noFill/>
        </p:spPr>
        <p:txBody>
          <a:bodyPr wrap="square" anchor="t">
            <a:spAutoFit/>
          </a:bodyPr>
          <a:lstStyle/>
          <a:p>
            <a:pPr algn="l">
              <a:lnSpc>
                <a:spcPct val="125000"/>
              </a:lnSpc>
              <a:spcAft>
                <a:spcPts val="0"/>
              </a:spcAft>
            </a:pPr>
            <a:r>
              <a:rPr sz="1800" b="0">
                <a:solidFill>
                  <a:srgbClr val="9FB2B6"/>
                </a:solidFill>
                <a:latin typeface="Calibri"/>
              </a:rPr>
              <a:t>Every compression ratio and the full prompt scored a perfect 12 / 12 on the task suite, while input dropped from ~24k to ~9–11k tokens per turn.</a:t>
            </a:r>
          </a:p>
        </p:txBody>
      </p:sp>
      <p:sp>
        <p:nvSpPr>
          <p:cNvPr id="14" name="Rounded Rectangle 13"/>
          <p:cNvSpPr/>
          <p:nvPr/>
        </p:nvSpPr>
        <p:spPr>
          <a:xfrm>
            <a:off x="640080" y="5212080"/>
            <a:ext cx="4206240" cy="502920"/>
          </a:xfrm>
          <a:prstGeom prst="roundRect">
            <a:avLst>
              <a:gd name="adj" fmla="val 6000"/>
            </a:avLst>
          </a:prstGeom>
          <a:noFill/>
          <a:ln w="12700">
            <a:solidFill>
              <a:srgbClr val="5A4A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77240" y="5285232"/>
            <a:ext cx="4023360" cy="365760"/>
          </a:xfrm>
          <a:prstGeom prst="rect">
            <a:avLst/>
          </a:prstGeom>
          <a:noFill/>
        </p:spPr>
        <p:txBody>
          <a:bodyPr wrap="square" anchor="t">
            <a:spAutoFit/>
          </a:bodyPr>
          <a:lstStyle/>
          <a:p>
            <a:pPr algn="l">
              <a:lnSpc>
                <a:spcPct val="100000"/>
              </a:lnSpc>
              <a:spcAft>
                <a:spcPts val="0"/>
              </a:spcAft>
            </a:pPr>
            <a:r>
              <a:rPr sz="1200" b="0">
                <a:solidFill>
                  <a:srgbClr val="E3B24C"/>
                </a:solidFill>
                <a:latin typeface="Consolas"/>
              </a:rPr>
              <a:t>single run · small, partly-reused suite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365760"/>
          </a:xfrm>
          <a:prstGeom prst="rect">
            <a:avLst/>
          </a:prstGeom>
          <a:noFill/>
        </p:spPr>
        <p:txBody>
          <a:bodyPr wrap="square" anchor="t">
            <a:spAutoFit/>
          </a:bodyPr>
          <a:lstStyle/>
          <a:p>
            <a:pPr algn="l">
              <a:lnSpc>
                <a:spcPct val="100000"/>
              </a:lnSpc>
              <a:spcAft>
                <a:spcPts val="0"/>
              </a:spcAft>
            </a:pPr>
            <a:r>
              <a:rPr sz="1300" b="1">
                <a:solidFill>
                  <a:srgbClr val="3FB0C6"/>
                </a:solidFill>
                <a:latin typeface="Consolas"/>
              </a:rPr>
              <a:t>THE PAYOFF (MEASURED)</a:t>
            </a:r>
          </a:p>
        </p:txBody>
      </p:sp>
      <p:sp>
        <p:nvSpPr>
          <p:cNvPr id="4" name="TextBox 3"/>
          <p:cNvSpPr txBox="1"/>
          <p:nvPr/>
        </p:nvSpPr>
        <p:spPr>
          <a:xfrm>
            <a:off x="640080" y="841248"/>
            <a:ext cx="10881360" cy="1371600"/>
          </a:xfrm>
          <a:prstGeom prst="rect">
            <a:avLst/>
          </a:prstGeom>
          <a:noFill/>
        </p:spPr>
        <p:txBody>
          <a:bodyPr wrap="square" anchor="t">
            <a:spAutoFit/>
          </a:bodyPr>
          <a:lstStyle/>
          <a:p>
            <a:pPr algn="l">
              <a:lnSpc>
                <a:spcPct val="102000"/>
              </a:lnSpc>
              <a:spcAft>
                <a:spcPts val="0"/>
              </a:spcAft>
            </a:pPr>
            <a:r>
              <a:rPr sz="3400" b="1">
                <a:solidFill>
                  <a:srgbClr val="EEF3F3"/>
                </a:solidFill>
                <a:latin typeface="Georgia"/>
              </a:rPr>
              <a:t>Finite-window serving measurements</a:t>
            </a:r>
          </a:p>
        </p:txBody>
      </p:sp>
      <p:graphicFrame>
        <p:nvGraphicFramePr>
          <p:cNvPr id="5" name="Chart 4"/>
          <p:cNvGraphicFramePr>
            <a:graphicFrameLocks noGrp="1"/>
          </p:cNvGraphicFramePr>
          <p:nvPr/>
        </p:nvGraphicFramePr>
        <p:xfrm>
          <a:off x="640080" y="1920240"/>
          <a:ext cx="6766560" cy="4206240"/>
        </p:xfrm>
        <a:graphic>
          <a:graphicData uri="http://schemas.openxmlformats.org/drawingml/2006/chart">
            <c:chart xmlns:c="http://schemas.openxmlformats.org/drawingml/2006/chart" r:id="rId2"/>
          </a:graphicData>
        </a:graphic>
      </p:graphicFrame>
      <p:sp>
        <p:nvSpPr>
          <p:cNvPr id="6" name="TextBox 5"/>
          <p:cNvSpPr txBox="1"/>
          <p:nvPr/>
        </p:nvSpPr>
        <p:spPr>
          <a:xfrm>
            <a:off x="7680960" y="2011680"/>
            <a:ext cx="3931920" cy="4023360"/>
          </a:xfrm>
          <a:prstGeom prst="rect">
            <a:avLst/>
          </a:prstGeom>
          <a:noFill/>
        </p:spPr>
        <p:txBody>
          <a:bodyPr wrap="square" anchor="t">
            <a:spAutoFit/>
          </a:bodyPr>
          <a:lstStyle/>
          <a:p>
            <a:pPr algn="l">
              <a:lnSpc>
                <a:spcPct val="100000"/>
              </a:lnSpc>
              <a:spcAft>
                <a:spcPts val="200"/>
              </a:spcAft>
            </a:pPr>
            <a:r>
              <a:rPr sz="3000" b="1">
                <a:solidFill>
                  <a:srgbClr val="C39BE0"/>
                </a:solidFill>
                <a:latin typeface="Consolas"/>
              </a:rPr>
              <a:t>2x</a:t>
            </a:r>
          </a:p>
          <a:p>
            <a:pPr algn="l">
              <a:lnSpc>
                <a:spcPct val="100000"/>
              </a:lnSpc>
              <a:spcAft>
                <a:spcPts val="1200"/>
              </a:spcAft>
            </a:pPr>
            <a:r>
              <a:rPr sz="1200" b="0">
                <a:solidFill>
                  <a:srgbClr val="9FB2B6"/>
                </a:solidFill>
                <a:latin typeface="Consolas"/>
              </a:rPr>
              <a:t>target rate passing the latency criterion (18 → 36 req/min)</a:t>
            </a:r>
          </a:p>
          <a:p>
            <a:pPr algn="l">
              <a:lnSpc>
                <a:spcPct val="100000"/>
              </a:lnSpc>
              <a:spcAft>
                <a:spcPts val="200"/>
              </a:spcAft>
            </a:pPr>
            <a:r>
              <a:rPr sz="3000" b="1">
                <a:solidFill>
                  <a:srgbClr val="3FB0C6"/>
                </a:solidFill>
                <a:latin typeface="Consolas"/>
              </a:rPr>
              <a:t>+44%</a:t>
            </a:r>
          </a:p>
          <a:p>
            <a:pPr algn="l">
              <a:lnSpc>
                <a:spcPct val="100000"/>
              </a:lnSpc>
              <a:spcAft>
                <a:spcPts val="1400"/>
              </a:spcAft>
            </a:pPr>
            <a:r>
              <a:rPr sz="1200" b="0">
                <a:solidFill>
                  <a:srgbClr val="9FB2B6"/>
                </a:solidFill>
                <a:latin typeface="Consolas"/>
              </a:rPr>
              <a:t>peak throughput, same GPU (42.7 → 61.3 req/min)</a:t>
            </a:r>
          </a:p>
          <a:p>
            <a:pPr algn="l">
              <a:lnSpc>
                <a:spcPct val="120000"/>
              </a:lnSpc>
              <a:spcAft>
                <a:spcPts val="0"/>
              </a:spcAft>
            </a:pPr>
            <a:r>
              <a:rPr sz="1400" b="0">
                <a:solidFill>
                  <a:srgbClr val="EEF3F3"/>
                </a:solidFill>
                <a:latin typeface="Calibri"/>
              </a:rPr>
              <a:t>The advantage grows with load (1.12x at 1 session → 1.65x at 48) and is incremental over prefix caching: 2–4x larger when caching can't help. J10: 202 runs across both GPUs, 0 request errors.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365760"/>
          </a:xfrm>
          <a:prstGeom prst="rect">
            <a:avLst/>
          </a:prstGeom>
          <a:noFill/>
        </p:spPr>
        <p:txBody>
          <a:bodyPr wrap="square" anchor="t">
            <a:spAutoFit/>
          </a:bodyPr>
          <a:lstStyle/>
          <a:p>
            <a:pPr algn="l">
              <a:lnSpc>
                <a:spcPct val="100000"/>
              </a:lnSpc>
              <a:spcAft>
                <a:spcPts val="0"/>
              </a:spcAft>
            </a:pPr>
            <a:r>
              <a:rPr sz="1300" b="1">
                <a:solidFill>
                  <a:srgbClr val="3FB0C6"/>
                </a:solidFill>
                <a:latin typeface="Consolas"/>
              </a:rPr>
              <a:t>CORRECTION · J11</a:t>
            </a:r>
          </a:p>
        </p:txBody>
      </p:sp>
      <p:sp>
        <p:nvSpPr>
          <p:cNvPr id="4" name="TextBox 3"/>
          <p:cNvSpPr txBox="1"/>
          <p:nvPr/>
        </p:nvSpPr>
        <p:spPr>
          <a:xfrm>
            <a:off x="640080" y="841248"/>
            <a:ext cx="10881360" cy="1371600"/>
          </a:xfrm>
          <a:prstGeom prst="rect">
            <a:avLst/>
          </a:prstGeom>
          <a:noFill/>
        </p:spPr>
        <p:txBody>
          <a:bodyPr wrap="square" anchor="t">
            <a:spAutoFit/>
          </a:bodyPr>
          <a:lstStyle/>
          <a:p>
            <a:pPr algn="l">
              <a:lnSpc>
                <a:spcPct val="102000"/>
              </a:lnSpc>
              <a:spcAft>
                <a:spcPts val="0"/>
              </a:spcAft>
            </a:pPr>
            <a:r>
              <a:rPr sz="3400" b="1">
                <a:solidFill>
                  <a:srgbClr val="EEF3F3"/>
                </a:solidFill>
                <a:latin typeface="Georgia"/>
              </a:rPr>
              <a:t>The residency explanation was wrong</a:t>
            </a:r>
          </a:p>
        </p:txBody>
      </p:sp>
      <p:sp>
        <p:nvSpPr>
          <p:cNvPr id="5" name="TextBox 4"/>
          <p:cNvSpPr txBox="1"/>
          <p:nvPr/>
        </p:nvSpPr>
        <p:spPr>
          <a:xfrm>
            <a:off x="640080" y="1828800"/>
            <a:ext cx="10607040" cy="1005840"/>
          </a:xfrm>
          <a:prstGeom prst="rect">
            <a:avLst/>
          </a:prstGeom>
          <a:noFill/>
        </p:spPr>
        <p:txBody>
          <a:bodyPr wrap="square" anchor="t">
            <a:spAutoFit/>
          </a:bodyPr>
          <a:lstStyle/>
          <a:p>
            <a:pPr algn="l">
              <a:lnSpc>
                <a:spcPct val="120000"/>
              </a:lnSpc>
              <a:spcAft>
                <a:spcPts val="0"/>
              </a:spcAft>
            </a:pPr>
            <a:r>
              <a:rPr sz="1700" b="0">
                <a:solidFill>
                  <a:srgbClr val="9FB2B6"/>
                </a:solidFill>
                <a:latin typeface="Calibri"/>
              </a:rPr>
              <a:t>External review found a 100-connection limit in our load generator. J11 removed it and measured 123 to 137 simultaneous requests on the H200. We withdrew the hardware-ceiling explanation. The cause of the throughput difference remains under investigation.</a:t>
            </a:r>
          </a:p>
        </p:txBody>
      </p:sp>
      <p:sp>
        <p:nvSpPr>
          <p:cNvPr id="6" name="Rounded Rectangle 5"/>
          <p:cNvSpPr/>
          <p:nvPr/>
        </p:nvSpPr>
        <p:spPr>
          <a:xfrm>
            <a:off x="640080" y="3200400"/>
            <a:ext cx="384048" cy="384048"/>
          </a:xfrm>
          <a:prstGeom prst="roundRect">
            <a:avLst>
              <a:gd name="adj" fmla="val 6000"/>
            </a:avLst>
          </a:prstGeom>
          <a:solidFill>
            <a:srgbClr val="3FB0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115568" y="3200400"/>
            <a:ext cx="384048" cy="384048"/>
          </a:xfrm>
          <a:prstGeom prst="roundRect">
            <a:avLst>
              <a:gd name="adj" fmla="val 6000"/>
            </a:avLst>
          </a:prstGeom>
          <a:solidFill>
            <a:srgbClr val="3FB0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1591056" y="3200400"/>
            <a:ext cx="384048" cy="384048"/>
          </a:xfrm>
          <a:prstGeom prst="roundRect">
            <a:avLst>
              <a:gd name="adj" fmla="val 6000"/>
            </a:avLst>
          </a:prstGeom>
          <a:solidFill>
            <a:srgbClr val="3FB0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2066543" y="3200400"/>
            <a:ext cx="384048" cy="384048"/>
          </a:xfrm>
          <a:prstGeom prst="roundRect">
            <a:avLst>
              <a:gd name="adj" fmla="val 6000"/>
            </a:avLst>
          </a:prstGeom>
          <a:solidFill>
            <a:srgbClr val="3FB0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ounded Rectangle 9"/>
          <p:cNvSpPr/>
          <p:nvPr/>
        </p:nvSpPr>
        <p:spPr>
          <a:xfrm>
            <a:off x="2542032" y="3200400"/>
            <a:ext cx="384048" cy="384048"/>
          </a:xfrm>
          <a:prstGeom prst="roundRect">
            <a:avLst>
              <a:gd name="adj" fmla="val 6000"/>
            </a:avLst>
          </a:prstGeom>
          <a:solidFill>
            <a:srgbClr val="3FB0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3017520" y="3200400"/>
            <a:ext cx="384048" cy="384048"/>
          </a:xfrm>
          <a:prstGeom prst="roundRect">
            <a:avLst>
              <a:gd name="adj" fmla="val 6000"/>
            </a:avLst>
          </a:prstGeom>
          <a:solidFill>
            <a:srgbClr val="3FB0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93008" y="3200400"/>
            <a:ext cx="384048" cy="384048"/>
          </a:xfrm>
          <a:prstGeom prst="roundRect">
            <a:avLst>
              <a:gd name="adj" fmla="val 6000"/>
            </a:avLst>
          </a:prstGeom>
          <a:solidFill>
            <a:srgbClr val="3FB0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968496" y="3200400"/>
            <a:ext cx="384048" cy="384048"/>
          </a:xfrm>
          <a:prstGeom prst="roundRect">
            <a:avLst>
              <a:gd name="adj" fmla="val 6000"/>
            </a:avLst>
          </a:prstGeom>
          <a:solidFill>
            <a:srgbClr val="3FB0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4443984" y="3200400"/>
            <a:ext cx="384048" cy="384048"/>
          </a:xfrm>
          <a:prstGeom prst="roundRect">
            <a:avLst>
              <a:gd name="adj" fmla="val 6000"/>
            </a:avLst>
          </a:prstGeom>
          <a:solidFill>
            <a:srgbClr val="3FB0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919472" y="3200400"/>
            <a:ext cx="384048" cy="384048"/>
          </a:xfrm>
          <a:prstGeom prst="roundRect">
            <a:avLst>
              <a:gd name="adj" fmla="val 6000"/>
            </a:avLst>
          </a:prstGeom>
          <a:solidFill>
            <a:srgbClr val="3FB0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5394960" y="3200400"/>
            <a:ext cx="384048" cy="384048"/>
          </a:xfrm>
          <a:prstGeom prst="roundRect">
            <a:avLst>
              <a:gd name="adj" fmla="val 6000"/>
            </a:avLst>
          </a:prstGeom>
          <a:solidFill>
            <a:srgbClr val="3FB0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5870448" y="3200400"/>
            <a:ext cx="384048" cy="384048"/>
          </a:xfrm>
          <a:prstGeom prst="roundRect">
            <a:avLst>
              <a:gd name="adj" fmla="val 6000"/>
            </a:avLst>
          </a:prstGeom>
          <a:solidFill>
            <a:srgbClr val="3FB0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45936" y="3200400"/>
            <a:ext cx="384048" cy="384048"/>
          </a:xfrm>
          <a:prstGeom prst="roundRect">
            <a:avLst>
              <a:gd name="adj" fmla="val 6000"/>
            </a:avLst>
          </a:prstGeom>
          <a:solidFill>
            <a:srgbClr val="3FB0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821424" y="3200400"/>
            <a:ext cx="384048" cy="384048"/>
          </a:xfrm>
          <a:prstGeom prst="roundRect">
            <a:avLst>
              <a:gd name="adj" fmla="val 6000"/>
            </a:avLst>
          </a:prstGeom>
          <a:solidFill>
            <a:srgbClr val="3FB0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7296912" y="3200400"/>
            <a:ext cx="384048" cy="384048"/>
          </a:xfrm>
          <a:prstGeom prst="roundRect">
            <a:avLst>
              <a:gd name="adj" fmla="val 6000"/>
            </a:avLst>
          </a:prstGeom>
          <a:solidFill>
            <a:srgbClr val="3FB0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772400" y="3200400"/>
            <a:ext cx="384048" cy="384048"/>
          </a:xfrm>
          <a:prstGeom prst="roundRect">
            <a:avLst>
              <a:gd name="adj" fmla="val 6000"/>
            </a:avLst>
          </a:prstGeom>
          <a:solidFill>
            <a:srgbClr val="3FB0C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640080" y="3675887"/>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1115568" y="3675887"/>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1591056" y="3675887"/>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2066543" y="3675887"/>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2542032" y="3675887"/>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3017520" y="3675887"/>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493008" y="3675887"/>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968496" y="3675887"/>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443984" y="3675887"/>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ounded Rectangle 30"/>
          <p:cNvSpPr/>
          <p:nvPr/>
        </p:nvSpPr>
        <p:spPr>
          <a:xfrm>
            <a:off x="4919472" y="3675887"/>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5394960" y="3675887"/>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5870448" y="3675887"/>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ounded Rectangle 33"/>
          <p:cNvSpPr/>
          <p:nvPr/>
        </p:nvSpPr>
        <p:spPr>
          <a:xfrm>
            <a:off x="6345936" y="3675887"/>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ounded Rectangle 34"/>
          <p:cNvSpPr/>
          <p:nvPr/>
        </p:nvSpPr>
        <p:spPr>
          <a:xfrm>
            <a:off x="6821424" y="3675887"/>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7296912" y="3675887"/>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7772400" y="3675887"/>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ounded Rectangle 37"/>
          <p:cNvSpPr/>
          <p:nvPr/>
        </p:nvSpPr>
        <p:spPr>
          <a:xfrm>
            <a:off x="640080" y="4151376"/>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Rounded Rectangle 38"/>
          <p:cNvSpPr/>
          <p:nvPr/>
        </p:nvSpPr>
        <p:spPr>
          <a:xfrm>
            <a:off x="1115568" y="4151376"/>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Rounded Rectangle 39"/>
          <p:cNvSpPr/>
          <p:nvPr/>
        </p:nvSpPr>
        <p:spPr>
          <a:xfrm>
            <a:off x="1591056" y="4151376"/>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ounded Rectangle 40"/>
          <p:cNvSpPr/>
          <p:nvPr/>
        </p:nvSpPr>
        <p:spPr>
          <a:xfrm>
            <a:off x="2066543" y="4151376"/>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ounded Rectangle 41"/>
          <p:cNvSpPr/>
          <p:nvPr/>
        </p:nvSpPr>
        <p:spPr>
          <a:xfrm>
            <a:off x="2542032" y="4151376"/>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ounded Rectangle 42"/>
          <p:cNvSpPr/>
          <p:nvPr/>
        </p:nvSpPr>
        <p:spPr>
          <a:xfrm>
            <a:off x="3017520" y="4151376"/>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3493008" y="4151376"/>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ounded Rectangle 44"/>
          <p:cNvSpPr/>
          <p:nvPr/>
        </p:nvSpPr>
        <p:spPr>
          <a:xfrm>
            <a:off x="3968496" y="4151376"/>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ounded Rectangle 45"/>
          <p:cNvSpPr/>
          <p:nvPr/>
        </p:nvSpPr>
        <p:spPr>
          <a:xfrm>
            <a:off x="4443984" y="4151376"/>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ounded Rectangle 46"/>
          <p:cNvSpPr/>
          <p:nvPr/>
        </p:nvSpPr>
        <p:spPr>
          <a:xfrm>
            <a:off x="4919472" y="4151376"/>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Rounded Rectangle 47"/>
          <p:cNvSpPr/>
          <p:nvPr/>
        </p:nvSpPr>
        <p:spPr>
          <a:xfrm>
            <a:off x="5394960" y="4151376"/>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Rounded Rectangle 48"/>
          <p:cNvSpPr/>
          <p:nvPr/>
        </p:nvSpPr>
        <p:spPr>
          <a:xfrm>
            <a:off x="5870448" y="4151376"/>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ounded Rectangle 49"/>
          <p:cNvSpPr/>
          <p:nvPr/>
        </p:nvSpPr>
        <p:spPr>
          <a:xfrm>
            <a:off x="6345936" y="4151376"/>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6821424" y="4151376"/>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Rounded Rectangle 51"/>
          <p:cNvSpPr/>
          <p:nvPr/>
        </p:nvSpPr>
        <p:spPr>
          <a:xfrm>
            <a:off x="7296912" y="4151376"/>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ounded Rectangle 52"/>
          <p:cNvSpPr/>
          <p:nvPr/>
        </p:nvSpPr>
        <p:spPr>
          <a:xfrm>
            <a:off x="7772400" y="4151376"/>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ounded Rectangle 53"/>
          <p:cNvSpPr/>
          <p:nvPr/>
        </p:nvSpPr>
        <p:spPr>
          <a:xfrm>
            <a:off x="640080" y="4626864"/>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ounded Rectangle 54"/>
          <p:cNvSpPr/>
          <p:nvPr/>
        </p:nvSpPr>
        <p:spPr>
          <a:xfrm>
            <a:off x="1115568" y="4626864"/>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ounded Rectangle 55"/>
          <p:cNvSpPr/>
          <p:nvPr/>
        </p:nvSpPr>
        <p:spPr>
          <a:xfrm>
            <a:off x="1591056" y="4626864"/>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Rounded Rectangle 56"/>
          <p:cNvSpPr/>
          <p:nvPr/>
        </p:nvSpPr>
        <p:spPr>
          <a:xfrm>
            <a:off x="2066543" y="4626864"/>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2542032" y="4626864"/>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Rounded Rectangle 58"/>
          <p:cNvSpPr/>
          <p:nvPr/>
        </p:nvSpPr>
        <p:spPr>
          <a:xfrm>
            <a:off x="3017520" y="4626864"/>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Rounded Rectangle 59"/>
          <p:cNvSpPr/>
          <p:nvPr/>
        </p:nvSpPr>
        <p:spPr>
          <a:xfrm>
            <a:off x="3493008" y="4626864"/>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Rounded Rectangle 60"/>
          <p:cNvSpPr/>
          <p:nvPr/>
        </p:nvSpPr>
        <p:spPr>
          <a:xfrm>
            <a:off x="3968496" y="4626864"/>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ounded Rectangle 61"/>
          <p:cNvSpPr/>
          <p:nvPr/>
        </p:nvSpPr>
        <p:spPr>
          <a:xfrm>
            <a:off x="4443984" y="4626864"/>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Rounded Rectangle 62"/>
          <p:cNvSpPr/>
          <p:nvPr/>
        </p:nvSpPr>
        <p:spPr>
          <a:xfrm>
            <a:off x="4919472" y="4626864"/>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Rounded Rectangle 63"/>
          <p:cNvSpPr/>
          <p:nvPr/>
        </p:nvSpPr>
        <p:spPr>
          <a:xfrm>
            <a:off x="5394960" y="4626864"/>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Rounded Rectangle 64"/>
          <p:cNvSpPr/>
          <p:nvPr/>
        </p:nvSpPr>
        <p:spPr>
          <a:xfrm>
            <a:off x="5870448" y="4626864"/>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Rounded Rectangle 65"/>
          <p:cNvSpPr/>
          <p:nvPr/>
        </p:nvSpPr>
        <p:spPr>
          <a:xfrm>
            <a:off x="6345936" y="4626864"/>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Rounded Rectangle 66"/>
          <p:cNvSpPr/>
          <p:nvPr/>
        </p:nvSpPr>
        <p:spPr>
          <a:xfrm>
            <a:off x="6821424" y="4626864"/>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Rounded Rectangle 67"/>
          <p:cNvSpPr/>
          <p:nvPr/>
        </p:nvSpPr>
        <p:spPr>
          <a:xfrm>
            <a:off x="7296912" y="4626864"/>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Rounded Rectangle 68"/>
          <p:cNvSpPr/>
          <p:nvPr/>
        </p:nvSpPr>
        <p:spPr>
          <a:xfrm>
            <a:off x="7772400" y="4626864"/>
            <a:ext cx="384048" cy="384048"/>
          </a:xfrm>
          <a:prstGeom prst="roundRect">
            <a:avLst>
              <a:gd name="adj" fmla="val 6000"/>
            </a:avLst>
          </a:prstGeom>
          <a:solidFill>
            <a:srgbClr val="24303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640080" y="5303520"/>
            <a:ext cx="10607040" cy="1051560"/>
          </a:xfrm>
          <a:prstGeom prst="rect">
            <a:avLst/>
          </a:prstGeom>
          <a:noFill/>
        </p:spPr>
        <p:txBody>
          <a:bodyPr wrap="square" anchor="t">
            <a:spAutoFit/>
          </a:bodyPr>
          <a:lstStyle/>
          <a:p>
            <a:pPr algn="l">
              <a:lnSpc>
                <a:spcPct val="115000"/>
              </a:lnSpc>
              <a:spcAft>
                <a:spcPts val="0"/>
              </a:spcAft>
            </a:pPr>
            <a:r>
              <a:rPr sz="1250" b="0">
                <a:solidFill>
                  <a:srgbClr val="9FB2B6"/>
                </a:solidFill>
                <a:latin typeface="Calibri"/>
              </a:rPr>
              <a:t>Architecture: 16 full-attention layers and 48 linear-attention layers. This diagram does not establish a residency mechanism. J11 measured 137 gist versus 126 full at 256 offered requests, with nearly full cache. Lifting the cap reduced throughput in three of four comparisons. One run per condition; no quality test.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365760"/>
          </a:xfrm>
          <a:prstGeom prst="rect">
            <a:avLst/>
          </a:prstGeom>
          <a:noFill/>
        </p:spPr>
        <p:txBody>
          <a:bodyPr wrap="square" anchor="t">
            <a:spAutoFit/>
          </a:bodyPr>
          <a:lstStyle/>
          <a:p>
            <a:pPr algn="l">
              <a:lnSpc>
                <a:spcPct val="100000"/>
              </a:lnSpc>
              <a:spcAft>
                <a:spcPts val="0"/>
              </a:spcAft>
            </a:pPr>
            <a:r>
              <a:rPr sz="1300" b="1">
                <a:solidFill>
                  <a:srgbClr val="3FB0C6"/>
                </a:solidFill>
                <a:latin typeface="Consolas"/>
              </a:rPr>
              <a:t>CORRECTED COST COMPARISON</a:t>
            </a:r>
          </a:p>
        </p:txBody>
      </p:sp>
      <p:sp>
        <p:nvSpPr>
          <p:cNvPr id="4" name="TextBox 3"/>
          <p:cNvSpPr txBox="1"/>
          <p:nvPr/>
        </p:nvSpPr>
        <p:spPr>
          <a:xfrm>
            <a:off x="640080" y="841248"/>
            <a:ext cx="10881360" cy="1371600"/>
          </a:xfrm>
          <a:prstGeom prst="rect">
            <a:avLst/>
          </a:prstGeom>
          <a:noFill/>
        </p:spPr>
        <p:txBody>
          <a:bodyPr wrap="square" anchor="t">
            <a:spAutoFit/>
          </a:bodyPr>
          <a:lstStyle/>
          <a:p>
            <a:pPr algn="l">
              <a:lnSpc>
                <a:spcPct val="102000"/>
              </a:lnSpc>
              <a:spcAft>
                <a:spcPts val="0"/>
              </a:spcAft>
            </a:pPr>
            <a:r>
              <a:rPr sz="3400" b="1">
                <a:solidFill>
                  <a:srgbClr val="EEF3F3"/>
                </a:solidFill>
                <a:latin typeface="Georgia"/>
              </a:rPr>
              <a:t>Similar replay output per rental dollar</a:t>
            </a:r>
          </a:p>
        </p:txBody>
      </p:sp>
      <p:sp>
        <p:nvSpPr>
          <p:cNvPr id="5" name="TextBox 4"/>
          <p:cNvSpPr txBox="1"/>
          <p:nvPr/>
        </p:nvSpPr>
        <p:spPr>
          <a:xfrm>
            <a:off x="640080" y="2011680"/>
            <a:ext cx="2560320" cy="731520"/>
          </a:xfrm>
          <a:prstGeom prst="rect">
            <a:avLst/>
          </a:prstGeom>
          <a:noFill/>
        </p:spPr>
        <p:txBody>
          <a:bodyPr wrap="square" anchor="t">
            <a:spAutoFit/>
          </a:bodyPr>
          <a:lstStyle/>
          <a:p>
            <a:pPr algn="l">
              <a:lnSpc>
                <a:spcPct val="100000"/>
              </a:lnSpc>
              <a:spcAft>
                <a:spcPts val="0"/>
              </a:spcAft>
            </a:pPr>
            <a:r>
              <a:rPr sz="3400" b="1">
                <a:solidFill>
                  <a:srgbClr val="4A5A60"/>
                </a:solidFill>
                <a:latin typeface="Consolas"/>
              </a:rPr>
              <a:t>16.16</a:t>
            </a:r>
          </a:p>
        </p:txBody>
      </p:sp>
      <p:sp>
        <p:nvSpPr>
          <p:cNvPr id="6" name="TextBox 5"/>
          <p:cNvSpPr txBox="1"/>
          <p:nvPr/>
        </p:nvSpPr>
        <p:spPr>
          <a:xfrm>
            <a:off x="640080" y="2697480"/>
            <a:ext cx="2560320" cy="457200"/>
          </a:xfrm>
          <a:prstGeom prst="rect">
            <a:avLst/>
          </a:prstGeom>
          <a:noFill/>
        </p:spPr>
        <p:txBody>
          <a:bodyPr wrap="square" anchor="t">
            <a:spAutoFit/>
          </a:bodyPr>
          <a:lstStyle/>
          <a:p>
            <a:pPr algn="l">
              <a:lnSpc>
                <a:spcPct val="100000"/>
              </a:lnSpc>
              <a:spcAft>
                <a:spcPts val="0"/>
              </a:spcAft>
            </a:pPr>
            <a:r>
              <a:rPr sz="1200" b="0">
                <a:solidFill>
                  <a:srgbClr val="9FB2B6"/>
                </a:solidFill>
                <a:latin typeface="Consolas"/>
              </a:rPr>
              <a:t>H100 · full prompt</a:t>
            </a:r>
          </a:p>
        </p:txBody>
      </p:sp>
      <p:sp>
        <p:nvSpPr>
          <p:cNvPr id="7" name="TextBox 6"/>
          <p:cNvSpPr txBox="1"/>
          <p:nvPr/>
        </p:nvSpPr>
        <p:spPr>
          <a:xfrm>
            <a:off x="3383280" y="2011680"/>
            <a:ext cx="2560320" cy="731520"/>
          </a:xfrm>
          <a:prstGeom prst="rect">
            <a:avLst/>
          </a:prstGeom>
          <a:noFill/>
        </p:spPr>
        <p:txBody>
          <a:bodyPr wrap="square" anchor="t">
            <a:spAutoFit/>
          </a:bodyPr>
          <a:lstStyle/>
          <a:p>
            <a:pPr algn="l">
              <a:lnSpc>
                <a:spcPct val="100000"/>
              </a:lnSpc>
              <a:spcAft>
                <a:spcPts val="0"/>
              </a:spcAft>
            </a:pPr>
            <a:r>
              <a:rPr sz="3400" b="1">
                <a:solidFill>
                  <a:srgbClr val="C39BE0"/>
                </a:solidFill>
                <a:latin typeface="Consolas"/>
              </a:rPr>
              <a:t>23.23</a:t>
            </a:r>
          </a:p>
        </p:txBody>
      </p:sp>
      <p:sp>
        <p:nvSpPr>
          <p:cNvPr id="8" name="TextBox 7"/>
          <p:cNvSpPr txBox="1"/>
          <p:nvPr/>
        </p:nvSpPr>
        <p:spPr>
          <a:xfrm>
            <a:off x="3383280" y="2697480"/>
            <a:ext cx="2560320" cy="457200"/>
          </a:xfrm>
          <a:prstGeom prst="rect">
            <a:avLst/>
          </a:prstGeom>
          <a:noFill/>
        </p:spPr>
        <p:txBody>
          <a:bodyPr wrap="square" anchor="t">
            <a:spAutoFit/>
          </a:bodyPr>
          <a:lstStyle/>
          <a:p>
            <a:pPr algn="l">
              <a:lnSpc>
                <a:spcPct val="100000"/>
              </a:lnSpc>
              <a:spcAft>
                <a:spcPts val="0"/>
              </a:spcAft>
            </a:pPr>
            <a:r>
              <a:rPr sz="1200" b="0">
                <a:solidFill>
                  <a:srgbClr val="9FB2B6"/>
                </a:solidFill>
                <a:latin typeface="Consolas"/>
              </a:rPr>
              <a:t>H100 · gist 8:1</a:t>
            </a:r>
          </a:p>
        </p:txBody>
      </p:sp>
      <p:sp>
        <p:nvSpPr>
          <p:cNvPr id="9" name="TextBox 8"/>
          <p:cNvSpPr txBox="1"/>
          <p:nvPr/>
        </p:nvSpPr>
        <p:spPr>
          <a:xfrm>
            <a:off x="6126480" y="2011680"/>
            <a:ext cx="2560320" cy="731520"/>
          </a:xfrm>
          <a:prstGeom prst="rect">
            <a:avLst/>
          </a:prstGeom>
          <a:noFill/>
        </p:spPr>
        <p:txBody>
          <a:bodyPr wrap="square" anchor="t">
            <a:spAutoFit/>
          </a:bodyPr>
          <a:lstStyle/>
          <a:p>
            <a:pPr algn="l">
              <a:lnSpc>
                <a:spcPct val="100000"/>
              </a:lnSpc>
              <a:spcAft>
                <a:spcPts val="0"/>
              </a:spcAft>
            </a:pPr>
            <a:r>
              <a:rPr sz="3400" b="1">
                <a:solidFill>
                  <a:srgbClr val="3FB0C6"/>
                </a:solidFill>
                <a:latin typeface="Consolas"/>
              </a:rPr>
              <a:t>23.38</a:t>
            </a:r>
          </a:p>
        </p:txBody>
      </p:sp>
      <p:sp>
        <p:nvSpPr>
          <p:cNvPr id="10" name="TextBox 9"/>
          <p:cNvSpPr txBox="1"/>
          <p:nvPr/>
        </p:nvSpPr>
        <p:spPr>
          <a:xfrm>
            <a:off x="6126480" y="2697480"/>
            <a:ext cx="2560320" cy="457200"/>
          </a:xfrm>
          <a:prstGeom prst="rect">
            <a:avLst/>
          </a:prstGeom>
          <a:noFill/>
        </p:spPr>
        <p:txBody>
          <a:bodyPr wrap="square" anchor="t">
            <a:spAutoFit/>
          </a:bodyPr>
          <a:lstStyle/>
          <a:p>
            <a:pPr algn="l">
              <a:lnSpc>
                <a:spcPct val="100000"/>
              </a:lnSpc>
              <a:spcAft>
                <a:spcPts val="0"/>
              </a:spcAft>
            </a:pPr>
            <a:r>
              <a:rPr sz="1200" b="0">
                <a:solidFill>
                  <a:srgbClr val="9FB2B6"/>
                </a:solidFill>
                <a:latin typeface="Consolas"/>
              </a:rPr>
              <a:t>H200 · full prompt</a:t>
            </a:r>
          </a:p>
        </p:txBody>
      </p:sp>
      <p:sp>
        <p:nvSpPr>
          <p:cNvPr id="11" name="TextBox 10"/>
          <p:cNvSpPr txBox="1"/>
          <p:nvPr/>
        </p:nvSpPr>
        <p:spPr>
          <a:xfrm>
            <a:off x="8869680" y="2011680"/>
            <a:ext cx="2560320" cy="731520"/>
          </a:xfrm>
          <a:prstGeom prst="rect">
            <a:avLst/>
          </a:prstGeom>
          <a:noFill/>
        </p:spPr>
        <p:txBody>
          <a:bodyPr wrap="square" anchor="t">
            <a:spAutoFit/>
          </a:bodyPr>
          <a:lstStyle/>
          <a:p>
            <a:pPr algn="l">
              <a:lnSpc>
                <a:spcPct val="100000"/>
              </a:lnSpc>
              <a:spcAft>
                <a:spcPts val="0"/>
              </a:spcAft>
            </a:pPr>
            <a:r>
              <a:rPr sz="3400" b="1">
                <a:solidFill>
                  <a:srgbClr val="4A5A60"/>
                </a:solidFill>
                <a:latin typeface="Consolas"/>
              </a:rPr>
              <a:t>22.83</a:t>
            </a:r>
          </a:p>
        </p:txBody>
      </p:sp>
      <p:sp>
        <p:nvSpPr>
          <p:cNvPr id="12" name="TextBox 11"/>
          <p:cNvSpPr txBox="1"/>
          <p:nvPr/>
        </p:nvSpPr>
        <p:spPr>
          <a:xfrm>
            <a:off x="8869680" y="2697480"/>
            <a:ext cx="2560320" cy="457200"/>
          </a:xfrm>
          <a:prstGeom prst="rect">
            <a:avLst/>
          </a:prstGeom>
          <a:noFill/>
        </p:spPr>
        <p:txBody>
          <a:bodyPr wrap="square" anchor="t">
            <a:spAutoFit/>
          </a:bodyPr>
          <a:lstStyle/>
          <a:p>
            <a:pPr algn="l">
              <a:lnSpc>
                <a:spcPct val="100000"/>
              </a:lnSpc>
              <a:spcAft>
                <a:spcPts val="0"/>
              </a:spcAft>
            </a:pPr>
            <a:r>
              <a:rPr sz="1200" b="0">
                <a:solidFill>
                  <a:srgbClr val="9FB2B6"/>
                </a:solidFill>
                <a:latin typeface="Consolas"/>
              </a:rPr>
              <a:t>H200 · gist 8:1</a:t>
            </a:r>
          </a:p>
        </p:txBody>
      </p:sp>
      <p:sp>
        <p:nvSpPr>
          <p:cNvPr id="13" name="TextBox 12"/>
          <p:cNvSpPr txBox="1"/>
          <p:nvPr/>
        </p:nvSpPr>
        <p:spPr>
          <a:xfrm>
            <a:off x="640080" y="3246120"/>
            <a:ext cx="10881360" cy="457200"/>
          </a:xfrm>
          <a:prstGeom prst="rect">
            <a:avLst/>
          </a:prstGeom>
          <a:noFill/>
        </p:spPr>
        <p:txBody>
          <a:bodyPr wrap="square" anchor="t">
            <a:spAutoFit/>
          </a:bodyPr>
          <a:lstStyle/>
          <a:p>
            <a:pPr algn="l">
              <a:lnSpc>
                <a:spcPct val="100000"/>
              </a:lnSpc>
              <a:spcAft>
                <a:spcPts val="0"/>
              </a:spcAft>
            </a:pPr>
            <a:r>
              <a:rPr sz="1200" b="0">
                <a:solidFill>
                  <a:srgbClr val="9FB2B6"/>
                </a:solidFill>
                <a:latin typeface="Consolas"/>
              </a:rPr>
              <a:t>peak replay req/min per ($/h), quoted prices: H100 $2.64/h; H200 $3.65/h</a:t>
            </a:r>
          </a:p>
        </p:txBody>
      </p:sp>
      <p:sp>
        <p:nvSpPr>
          <p:cNvPr id="14" name="TextBox 13"/>
          <p:cNvSpPr txBox="1"/>
          <p:nvPr/>
        </p:nvSpPr>
        <p:spPr>
          <a:xfrm>
            <a:off x="640080" y="3840480"/>
            <a:ext cx="10881360" cy="1143000"/>
          </a:xfrm>
          <a:prstGeom prst="rect">
            <a:avLst/>
          </a:prstGeom>
          <a:noFill/>
        </p:spPr>
        <p:txBody>
          <a:bodyPr wrap="square" anchor="t">
            <a:spAutoFit/>
          </a:bodyPr>
          <a:lstStyle/>
          <a:p>
            <a:pPr algn="l">
              <a:lnSpc>
                <a:spcPct val="125000"/>
              </a:lnSpc>
              <a:spcAft>
                <a:spcPts val="0"/>
              </a:spcAft>
            </a:pPr>
            <a:r>
              <a:rPr sz="1700" b="0">
                <a:solidFill>
                  <a:srgbClr val="EEF3F3"/>
                </a:solidFill>
                <a:latin typeface="Calibri"/>
              </a:rPr>
              <a:t>H200 with the full prompt gives 23.38, slightly above H100 with gist at 23.23. Earlier figures mixed quoted and effective prices. Cheaper-card substitution is not established.</a:t>
            </a:r>
          </a:p>
        </p:txBody>
      </p:sp>
      <p:sp>
        <p:nvSpPr>
          <p:cNvPr id="15" name="TextBox 14"/>
          <p:cNvSpPr txBox="1"/>
          <p:nvPr/>
        </p:nvSpPr>
        <p:spPr>
          <a:xfrm>
            <a:off x="640080" y="5166360"/>
            <a:ext cx="10881360" cy="1097280"/>
          </a:xfrm>
          <a:prstGeom prst="rect">
            <a:avLst/>
          </a:prstGeom>
          <a:noFill/>
        </p:spPr>
        <p:txBody>
          <a:bodyPr wrap="square" anchor="t">
            <a:spAutoFit/>
          </a:bodyPr>
          <a:lstStyle/>
          <a:p>
            <a:pPr algn="l">
              <a:lnSpc>
                <a:spcPct val="115000"/>
              </a:lnSpc>
              <a:spcAft>
                <a:spcPts val="0"/>
              </a:spcAft>
            </a:pPr>
            <a:r>
              <a:rPr sz="1300" b="0">
                <a:solidFill>
                  <a:srgbClr val="9FB2B6"/>
                </a:solidFill>
                <a:latin typeface="Calibri"/>
              </a:rPr>
              <a:t>These peaks are finite-window replay measurements, with unequal hardware tuning and no quality test at load. Prefix-cache hit rates also differ: full 0.791 to 0.840, gist 0.580 to 0.626 in J11. The higher cached fraction favours full on that metric; its effect on the comparison was not controlled.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365760"/>
          </a:xfrm>
          <a:prstGeom prst="rect">
            <a:avLst/>
          </a:prstGeom>
          <a:noFill/>
        </p:spPr>
        <p:txBody>
          <a:bodyPr wrap="square" anchor="t">
            <a:spAutoFit/>
          </a:bodyPr>
          <a:lstStyle/>
          <a:p>
            <a:pPr algn="l">
              <a:lnSpc>
                <a:spcPct val="100000"/>
              </a:lnSpc>
              <a:spcAft>
                <a:spcPts val="0"/>
              </a:spcAft>
            </a:pPr>
            <a:r>
              <a:rPr sz="1300" b="1">
                <a:solidFill>
                  <a:srgbClr val="3FB0C6"/>
                </a:solidFill>
                <a:latin typeface="Consolas"/>
              </a:rPr>
              <a:t>THE CAPABILITY</a:t>
            </a:r>
          </a:p>
        </p:txBody>
      </p:sp>
      <p:sp>
        <p:nvSpPr>
          <p:cNvPr id="4" name="TextBox 3"/>
          <p:cNvSpPr txBox="1"/>
          <p:nvPr/>
        </p:nvSpPr>
        <p:spPr>
          <a:xfrm>
            <a:off x="640080" y="841248"/>
            <a:ext cx="10881360" cy="1371600"/>
          </a:xfrm>
          <a:prstGeom prst="rect">
            <a:avLst/>
          </a:prstGeom>
          <a:noFill/>
        </p:spPr>
        <p:txBody>
          <a:bodyPr wrap="square" anchor="t">
            <a:spAutoFit/>
          </a:bodyPr>
          <a:lstStyle/>
          <a:p>
            <a:pPr algn="l">
              <a:lnSpc>
                <a:spcPct val="102000"/>
              </a:lnSpc>
              <a:spcAft>
                <a:spcPts val="0"/>
              </a:spcAft>
            </a:pPr>
            <a:r>
              <a:rPr sz="3400" b="1">
                <a:solidFill>
                  <a:srgbClr val="EEF3F3"/>
                </a:solidFill>
                <a:latin typeface="Georgia"/>
              </a:rPr>
              <a:t>We built the lab, not just the result</a:t>
            </a:r>
          </a:p>
        </p:txBody>
      </p:sp>
      <p:sp>
        <p:nvSpPr>
          <p:cNvPr id="5" name="Rounded Rectangle 4"/>
          <p:cNvSpPr/>
          <p:nvPr/>
        </p:nvSpPr>
        <p:spPr>
          <a:xfrm>
            <a:off x="640080" y="2560320"/>
            <a:ext cx="1828800" cy="960120"/>
          </a:xfrm>
          <a:prstGeom prst="roundRect">
            <a:avLst>
              <a:gd name="adj" fmla="val 6000"/>
            </a:avLst>
          </a:prstGeom>
          <a:solidFill>
            <a:srgbClr val="141D21"/>
          </a:solidFill>
          <a:ln w="12700">
            <a:solidFill>
              <a:srgbClr val="253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2560320"/>
            <a:ext cx="1828800" cy="960120"/>
          </a:xfrm>
          <a:prstGeom prst="rect">
            <a:avLst/>
          </a:prstGeom>
          <a:noFill/>
        </p:spPr>
        <p:txBody>
          <a:bodyPr wrap="square" anchor="ctr">
            <a:spAutoFit/>
          </a:bodyPr>
          <a:lstStyle/>
          <a:p>
            <a:pPr algn="ctr">
              <a:lnSpc>
                <a:spcPct val="100000"/>
              </a:lnSpc>
              <a:spcAft>
                <a:spcPts val="0"/>
              </a:spcAft>
            </a:pPr>
            <a:r>
              <a:rPr sz="1400" b="1">
                <a:solidFill>
                  <a:srgbClr val="FFFFFF"/>
                </a:solidFill>
                <a:latin typeface="Calibri"/>
              </a:rPr>
              <a:t>Provision GPU</a:t>
            </a:r>
          </a:p>
        </p:txBody>
      </p:sp>
      <p:sp>
        <p:nvSpPr>
          <p:cNvPr id="7" name="TextBox 6"/>
          <p:cNvSpPr txBox="1"/>
          <p:nvPr/>
        </p:nvSpPr>
        <p:spPr>
          <a:xfrm>
            <a:off x="2468880" y="2560320"/>
            <a:ext cx="502920" cy="960120"/>
          </a:xfrm>
          <a:prstGeom prst="rect">
            <a:avLst/>
          </a:prstGeom>
          <a:noFill/>
        </p:spPr>
        <p:txBody>
          <a:bodyPr wrap="square" anchor="ctr">
            <a:spAutoFit/>
          </a:bodyPr>
          <a:lstStyle/>
          <a:p>
            <a:pPr algn="ctr">
              <a:lnSpc>
                <a:spcPct val="100000"/>
              </a:lnSpc>
              <a:spcAft>
                <a:spcPts val="0"/>
              </a:spcAft>
            </a:pPr>
            <a:r>
              <a:rPr sz="2000" b="1">
                <a:solidFill>
                  <a:srgbClr val="3FB0C6"/>
                </a:solidFill>
                <a:latin typeface="Calibri"/>
              </a:rPr>
              <a:t>→</a:t>
            </a:r>
          </a:p>
        </p:txBody>
      </p:sp>
      <p:sp>
        <p:nvSpPr>
          <p:cNvPr id="8" name="Rounded Rectangle 7"/>
          <p:cNvSpPr/>
          <p:nvPr/>
        </p:nvSpPr>
        <p:spPr>
          <a:xfrm>
            <a:off x="2971800" y="2560320"/>
            <a:ext cx="1234440" cy="960120"/>
          </a:xfrm>
          <a:prstGeom prst="roundRect">
            <a:avLst>
              <a:gd name="adj" fmla="val 6000"/>
            </a:avLst>
          </a:prstGeom>
          <a:solidFill>
            <a:srgbClr val="141D21"/>
          </a:solidFill>
          <a:ln w="12700">
            <a:solidFill>
              <a:srgbClr val="253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2971800" y="2560320"/>
            <a:ext cx="1234440" cy="960120"/>
          </a:xfrm>
          <a:prstGeom prst="rect">
            <a:avLst/>
          </a:prstGeom>
          <a:noFill/>
        </p:spPr>
        <p:txBody>
          <a:bodyPr wrap="square" anchor="ctr">
            <a:spAutoFit/>
          </a:bodyPr>
          <a:lstStyle/>
          <a:p>
            <a:pPr algn="ctr">
              <a:lnSpc>
                <a:spcPct val="100000"/>
              </a:lnSpc>
              <a:spcAft>
                <a:spcPts val="0"/>
              </a:spcAft>
            </a:pPr>
            <a:r>
              <a:rPr sz="1400" b="1">
                <a:solidFill>
                  <a:srgbClr val="FFFFFF"/>
                </a:solidFill>
                <a:latin typeface="Calibri"/>
              </a:rPr>
              <a:t>Train</a:t>
            </a:r>
          </a:p>
        </p:txBody>
      </p:sp>
      <p:sp>
        <p:nvSpPr>
          <p:cNvPr id="10" name="TextBox 9"/>
          <p:cNvSpPr txBox="1"/>
          <p:nvPr/>
        </p:nvSpPr>
        <p:spPr>
          <a:xfrm>
            <a:off x="4206240" y="2560320"/>
            <a:ext cx="502920" cy="960120"/>
          </a:xfrm>
          <a:prstGeom prst="rect">
            <a:avLst/>
          </a:prstGeom>
          <a:noFill/>
        </p:spPr>
        <p:txBody>
          <a:bodyPr wrap="square" anchor="ctr">
            <a:spAutoFit/>
          </a:bodyPr>
          <a:lstStyle/>
          <a:p>
            <a:pPr algn="ctr">
              <a:lnSpc>
                <a:spcPct val="100000"/>
              </a:lnSpc>
              <a:spcAft>
                <a:spcPts val="0"/>
              </a:spcAft>
            </a:pPr>
            <a:r>
              <a:rPr sz="2000" b="1">
                <a:solidFill>
                  <a:srgbClr val="3FB0C6"/>
                </a:solidFill>
                <a:latin typeface="Calibri"/>
              </a:rPr>
              <a:t>→</a:t>
            </a:r>
          </a:p>
        </p:txBody>
      </p:sp>
      <p:sp>
        <p:nvSpPr>
          <p:cNvPr id="11" name="Rounded Rectangle 10"/>
          <p:cNvSpPr/>
          <p:nvPr/>
        </p:nvSpPr>
        <p:spPr>
          <a:xfrm>
            <a:off x="4709159" y="2560320"/>
            <a:ext cx="1234440" cy="960120"/>
          </a:xfrm>
          <a:prstGeom prst="roundRect">
            <a:avLst>
              <a:gd name="adj" fmla="val 6000"/>
            </a:avLst>
          </a:prstGeom>
          <a:solidFill>
            <a:srgbClr val="141D21"/>
          </a:solidFill>
          <a:ln w="12700">
            <a:solidFill>
              <a:srgbClr val="253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709159" y="2560320"/>
            <a:ext cx="1234440" cy="960120"/>
          </a:xfrm>
          <a:prstGeom prst="rect">
            <a:avLst/>
          </a:prstGeom>
          <a:noFill/>
        </p:spPr>
        <p:txBody>
          <a:bodyPr wrap="square" anchor="ctr">
            <a:spAutoFit/>
          </a:bodyPr>
          <a:lstStyle/>
          <a:p>
            <a:pPr algn="ctr">
              <a:lnSpc>
                <a:spcPct val="100000"/>
              </a:lnSpc>
              <a:spcAft>
                <a:spcPts val="0"/>
              </a:spcAft>
            </a:pPr>
            <a:r>
              <a:rPr sz="1400" b="1">
                <a:solidFill>
                  <a:srgbClr val="FFFFFF"/>
                </a:solidFill>
                <a:latin typeface="Calibri"/>
              </a:rPr>
              <a:t>Serve</a:t>
            </a:r>
          </a:p>
        </p:txBody>
      </p:sp>
      <p:sp>
        <p:nvSpPr>
          <p:cNvPr id="13" name="TextBox 12"/>
          <p:cNvSpPr txBox="1"/>
          <p:nvPr/>
        </p:nvSpPr>
        <p:spPr>
          <a:xfrm>
            <a:off x="5943600" y="2560320"/>
            <a:ext cx="502920" cy="960120"/>
          </a:xfrm>
          <a:prstGeom prst="rect">
            <a:avLst/>
          </a:prstGeom>
          <a:noFill/>
        </p:spPr>
        <p:txBody>
          <a:bodyPr wrap="square" anchor="ctr">
            <a:spAutoFit/>
          </a:bodyPr>
          <a:lstStyle/>
          <a:p>
            <a:pPr algn="ctr">
              <a:lnSpc>
                <a:spcPct val="100000"/>
              </a:lnSpc>
              <a:spcAft>
                <a:spcPts val="0"/>
              </a:spcAft>
            </a:pPr>
            <a:r>
              <a:rPr sz="2000" b="1">
                <a:solidFill>
                  <a:srgbClr val="3FB0C6"/>
                </a:solidFill>
                <a:latin typeface="Calibri"/>
              </a:rPr>
              <a:t>→</a:t>
            </a:r>
          </a:p>
        </p:txBody>
      </p:sp>
      <p:sp>
        <p:nvSpPr>
          <p:cNvPr id="14" name="Rounded Rectangle 13"/>
          <p:cNvSpPr/>
          <p:nvPr/>
        </p:nvSpPr>
        <p:spPr>
          <a:xfrm>
            <a:off x="6446520" y="2560320"/>
            <a:ext cx="1554480" cy="960120"/>
          </a:xfrm>
          <a:prstGeom prst="roundRect">
            <a:avLst>
              <a:gd name="adj" fmla="val 6000"/>
            </a:avLst>
          </a:prstGeom>
          <a:solidFill>
            <a:srgbClr val="141D21"/>
          </a:solidFill>
          <a:ln w="12700">
            <a:solidFill>
              <a:srgbClr val="253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46520" y="2560320"/>
            <a:ext cx="1554480" cy="960120"/>
          </a:xfrm>
          <a:prstGeom prst="rect">
            <a:avLst/>
          </a:prstGeom>
          <a:noFill/>
        </p:spPr>
        <p:txBody>
          <a:bodyPr wrap="square" anchor="ctr">
            <a:spAutoFit/>
          </a:bodyPr>
          <a:lstStyle/>
          <a:p>
            <a:pPr algn="ctr">
              <a:lnSpc>
                <a:spcPct val="100000"/>
              </a:lnSpc>
              <a:spcAft>
                <a:spcPts val="0"/>
              </a:spcAft>
            </a:pPr>
            <a:r>
              <a:rPr sz="1400" b="1">
                <a:solidFill>
                  <a:srgbClr val="FFFFFF"/>
                </a:solidFill>
                <a:latin typeface="Calibri"/>
              </a:rPr>
              <a:t>Evaluate</a:t>
            </a:r>
          </a:p>
        </p:txBody>
      </p:sp>
      <p:sp>
        <p:nvSpPr>
          <p:cNvPr id="16" name="TextBox 15"/>
          <p:cNvSpPr txBox="1"/>
          <p:nvPr/>
        </p:nvSpPr>
        <p:spPr>
          <a:xfrm>
            <a:off x="8001000" y="2560320"/>
            <a:ext cx="502920" cy="960120"/>
          </a:xfrm>
          <a:prstGeom prst="rect">
            <a:avLst/>
          </a:prstGeom>
          <a:noFill/>
        </p:spPr>
        <p:txBody>
          <a:bodyPr wrap="square" anchor="ctr">
            <a:spAutoFit/>
          </a:bodyPr>
          <a:lstStyle/>
          <a:p>
            <a:pPr algn="ctr">
              <a:lnSpc>
                <a:spcPct val="100000"/>
              </a:lnSpc>
              <a:spcAft>
                <a:spcPts val="0"/>
              </a:spcAft>
            </a:pPr>
            <a:r>
              <a:rPr sz="2000" b="1">
                <a:solidFill>
                  <a:srgbClr val="3FB0C6"/>
                </a:solidFill>
                <a:latin typeface="Calibri"/>
              </a:rPr>
              <a:t>→</a:t>
            </a:r>
          </a:p>
        </p:txBody>
      </p:sp>
      <p:sp>
        <p:nvSpPr>
          <p:cNvPr id="17" name="Rounded Rectangle 16"/>
          <p:cNvSpPr/>
          <p:nvPr/>
        </p:nvSpPr>
        <p:spPr>
          <a:xfrm>
            <a:off x="8503920" y="2560320"/>
            <a:ext cx="1371600" cy="960120"/>
          </a:xfrm>
          <a:prstGeom prst="roundRect">
            <a:avLst>
              <a:gd name="adj" fmla="val 6000"/>
            </a:avLst>
          </a:prstGeom>
          <a:solidFill>
            <a:srgbClr val="141D21"/>
          </a:solidFill>
          <a:ln w="12700">
            <a:solidFill>
              <a:srgbClr val="253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3920" y="2560320"/>
            <a:ext cx="1371600" cy="960120"/>
          </a:xfrm>
          <a:prstGeom prst="rect">
            <a:avLst/>
          </a:prstGeom>
          <a:noFill/>
        </p:spPr>
        <p:txBody>
          <a:bodyPr wrap="square" anchor="ctr">
            <a:spAutoFit/>
          </a:bodyPr>
          <a:lstStyle/>
          <a:p>
            <a:pPr algn="ctr">
              <a:lnSpc>
                <a:spcPct val="100000"/>
              </a:lnSpc>
              <a:spcAft>
                <a:spcPts val="0"/>
              </a:spcAft>
            </a:pPr>
            <a:r>
              <a:rPr sz="1400" b="1">
                <a:solidFill>
                  <a:srgbClr val="FFFFFF"/>
                </a:solidFill>
                <a:latin typeface="Calibri"/>
              </a:rPr>
              <a:t>Destroy</a:t>
            </a:r>
          </a:p>
        </p:txBody>
      </p:sp>
      <p:sp>
        <p:nvSpPr>
          <p:cNvPr id="19" name="TextBox 18"/>
          <p:cNvSpPr txBox="1"/>
          <p:nvPr/>
        </p:nvSpPr>
        <p:spPr>
          <a:xfrm>
            <a:off x="9875520" y="2560320"/>
            <a:ext cx="502920" cy="960120"/>
          </a:xfrm>
          <a:prstGeom prst="rect">
            <a:avLst/>
          </a:prstGeom>
          <a:noFill/>
        </p:spPr>
        <p:txBody>
          <a:bodyPr wrap="square" anchor="ctr">
            <a:spAutoFit/>
          </a:bodyPr>
          <a:lstStyle/>
          <a:p>
            <a:pPr algn="ctr">
              <a:lnSpc>
                <a:spcPct val="100000"/>
              </a:lnSpc>
              <a:spcAft>
                <a:spcPts val="0"/>
              </a:spcAft>
            </a:pPr>
            <a:r>
              <a:rPr sz="2000" b="1">
                <a:solidFill>
                  <a:srgbClr val="E08A4C"/>
                </a:solidFill>
                <a:latin typeface="Calibri"/>
              </a:rPr>
              <a:t>↺</a:t>
            </a:r>
          </a:p>
        </p:txBody>
      </p:sp>
      <p:sp>
        <p:nvSpPr>
          <p:cNvPr id="20" name="Rounded Rectangle 19"/>
          <p:cNvSpPr/>
          <p:nvPr/>
        </p:nvSpPr>
        <p:spPr>
          <a:xfrm>
            <a:off x="10378440" y="2560320"/>
            <a:ext cx="1554480" cy="960120"/>
          </a:xfrm>
          <a:prstGeom prst="roundRect">
            <a:avLst>
              <a:gd name="adj" fmla="val 6000"/>
            </a:avLst>
          </a:prstGeom>
          <a:noFill/>
          <a:ln w="12700">
            <a:solidFill>
              <a:srgbClr val="3A4A5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378440" y="2560320"/>
            <a:ext cx="1554480" cy="960120"/>
          </a:xfrm>
          <a:prstGeom prst="rect">
            <a:avLst/>
          </a:prstGeom>
          <a:noFill/>
        </p:spPr>
        <p:txBody>
          <a:bodyPr wrap="square" anchor="ctr">
            <a:spAutoFit/>
          </a:bodyPr>
          <a:lstStyle/>
          <a:p>
            <a:pPr algn="ctr">
              <a:lnSpc>
                <a:spcPct val="100000"/>
              </a:lnSpc>
              <a:spcAft>
                <a:spcPts val="0"/>
              </a:spcAft>
            </a:pPr>
            <a:r>
              <a:rPr sz="1300" b="0">
                <a:solidFill>
                  <a:srgbClr val="9FB2B6"/>
                </a:solidFill>
                <a:latin typeface="Calibri"/>
              </a:rPr>
              <a:t>next recipe</a:t>
            </a:r>
          </a:p>
        </p:txBody>
      </p:sp>
      <p:sp>
        <p:nvSpPr>
          <p:cNvPr id="22" name="Rounded Rectangle 21"/>
          <p:cNvSpPr/>
          <p:nvPr/>
        </p:nvSpPr>
        <p:spPr>
          <a:xfrm>
            <a:off x="640080" y="3977639"/>
            <a:ext cx="10881360" cy="868680"/>
          </a:xfrm>
          <a:prstGeom prst="roundRect">
            <a:avLst>
              <a:gd name="adj" fmla="val 6000"/>
            </a:avLst>
          </a:prstGeom>
          <a:solidFill>
            <a:srgbClr val="221A11"/>
          </a:solidFill>
          <a:ln w="12700">
            <a:solidFill>
              <a:srgbClr val="5A4A2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68680" y="3977639"/>
            <a:ext cx="10424160" cy="868680"/>
          </a:xfrm>
          <a:prstGeom prst="rect">
            <a:avLst/>
          </a:prstGeom>
          <a:noFill/>
        </p:spPr>
        <p:txBody>
          <a:bodyPr wrap="square" anchor="ctr">
            <a:spAutoFit/>
          </a:bodyPr>
          <a:lstStyle/>
          <a:p>
            <a:pPr algn="l">
              <a:lnSpc>
                <a:spcPct val="100000"/>
              </a:lnSpc>
              <a:spcAft>
                <a:spcPts val="0"/>
              </a:spcAft>
            </a:pPr>
            <a:r>
              <a:rPr sz="1300" b="0">
                <a:solidFill>
                  <a:srgbClr val="E08A4C"/>
                </a:solidFill>
                <a:latin typeface="Consolas"/>
              </a:rPr>
              <a:t>SPEND-SAFETY · structural  ·  idle watchdog · ledger at creation · sync-before-destroy · global deadline</a:t>
            </a:r>
          </a:p>
        </p:txBody>
      </p:sp>
      <p:sp>
        <p:nvSpPr>
          <p:cNvPr id="24" name="TextBox 23"/>
          <p:cNvSpPr txBox="1"/>
          <p:nvPr/>
        </p:nvSpPr>
        <p:spPr>
          <a:xfrm>
            <a:off x="640080" y="5120640"/>
            <a:ext cx="10881360" cy="731520"/>
          </a:xfrm>
          <a:prstGeom prst="rect">
            <a:avLst/>
          </a:prstGeom>
          <a:noFill/>
        </p:spPr>
        <p:txBody>
          <a:bodyPr wrap="square" anchor="t">
            <a:spAutoFit/>
          </a:bodyPr>
          <a:lstStyle/>
          <a:p>
            <a:pPr algn="l">
              <a:lnSpc>
                <a:spcPct val="120000"/>
              </a:lnSpc>
              <a:spcAft>
                <a:spcPts val="0"/>
              </a:spcAft>
            </a:pPr>
            <a:r>
              <a:rPr sz="1400" b="0">
                <a:solidFill>
                  <a:srgbClr val="9FB2B6"/>
                </a:solidFill>
                <a:latin typeface="Calibri"/>
              </a:rPr>
              <a:t>One detached controller drives every recipe end to end, unattended. Makes the next model cheap to try: the capability outlasts this study.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365760"/>
          </a:xfrm>
          <a:prstGeom prst="rect">
            <a:avLst/>
          </a:prstGeom>
          <a:noFill/>
        </p:spPr>
        <p:txBody>
          <a:bodyPr wrap="square" anchor="t">
            <a:spAutoFit/>
          </a:bodyPr>
          <a:lstStyle/>
          <a:p>
            <a:pPr algn="l">
              <a:lnSpc>
                <a:spcPct val="100000"/>
              </a:lnSpc>
              <a:spcAft>
                <a:spcPts val="0"/>
              </a:spcAft>
            </a:pPr>
            <a:r>
              <a:rPr sz="1300" b="1">
                <a:solidFill>
                  <a:srgbClr val="3FB0C6"/>
                </a:solidFill>
                <a:latin typeface="Consolas"/>
              </a:rPr>
              <a:t>HONEST LEDGER</a:t>
            </a:r>
          </a:p>
        </p:txBody>
      </p:sp>
      <p:sp>
        <p:nvSpPr>
          <p:cNvPr id="4" name="TextBox 3"/>
          <p:cNvSpPr txBox="1"/>
          <p:nvPr/>
        </p:nvSpPr>
        <p:spPr>
          <a:xfrm>
            <a:off x="640080" y="841248"/>
            <a:ext cx="10881360" cy="1371600"/>
          </a:xfrm>
          <a:prstGeom prst="rect">
            <a:avLst/>
          </a:prstGeom>
          <a:noFill/>
        </p:spPr>
        <p:txBody>
          <a:bodyPr wrap="square" anchor="t">
            <a:spAutoFit/>
          </a:bodyPr>
          <a:lstStyle/>
          <a:p>
            <a:pPr algn="l">
              <a:lnSpc>
                <a:spcPct val="102000"/>
              </a:lnSpc>
              <a:spcAft>
                <a:spcPts val="0"/>
              </a:spcAft>
            </a:pPr>
            <a:r>
              <a:rPr sz="3400" b="1">
                <a:solidFill>
                  <a:srgbClr val="EEF3F3"/>
                </a:solidFill>
                <a:latin typeface="Georgia"/>
              </a:rPr>
              <a:t>What’s proven, what isn’t</a:t>
            </a:r>
          </a:p>
        </p:txBody>
      </p:sp>
      <p:sp>
        <p:nvSpPr>
          <p:cNvPr id="5" name="Rounded Rectangle 4"/>
          <p:cNvSpPr/>
          <p:nvPr/>
        </p:nvSpPr>
        <p:spPr>
          <a:xfrm>
            <a:off x="640080" y="1965960"/>
            <a:ext cx="5257800" cy="3977639"/>
          </a:xfrm>
          <a:prstGeom prst="roundRect">
            <a:avLst>
              <a:gd name="adj" fmla="val 6000"/>
            </a:avLst>
          </a:prstGeom>
          <a:solidFill>
            <a:srgbClr val="141D21"/>
          </a:solidFill>
          <a:ln w="12700">
            <a:solidFill>
              <a:srgbClr val="2C5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14400" y="2194560"/>
            <a:ext cx="4709160" cy="3566160"/>
          </a:xfrm>
          <a:prstGeom prst="rect">
            <a:avLst/>
          </a:prstGeom>
          <a:noFill/>
        </p:spPr>
        <p:txBody>
          <a:bodyPr wrap="square" anchor="t">
            <a:spAutoFit/>
          </a:bodyPr>
          <a:lstStyle/>
          <a:p>
            <a:pPr algn="l">
              <a:lnSpc>
                <a:spcPct val="100000"/>
              </a:lnSpc>
              <a:spcAft>
                <a:spcPts val="1000"/>
              </a:spcAft>
            </a:pPr>
            <a:r>
              <a:rPr sz="1200" b="1">
                <a:solidFill>
                  <a:srgbClr val="57C08A"/>
                </a:solidFill>
                <a:latin typeface="Consolas"/>
              </a:rPr>
              <a:t>ESTABLISHED HERE</a:t>
            </a:r>
          </a:p>
          <a:p>
            <a:pPr algn="l">
              <a:lnSpc>
                <a:spcPct val="112000"/>
              </a:lnSpc>
              <a:spcAft>
                <a:spcPts val="700"/>
              </a:spcAft>
            </a:pPr>
            <a:r>
              <a:rPr sz="1400" b="0">
                <a:solidFill>
                  <a:srgbClr val="EEF3F3"/>
                </a:solidFill>
                <a:latin typeface="Calibri"/>
              </a:rPr>
              <a:t>▪  Equal task scores on our suites, every ratio.</a:t>
            </a:r>
          </a:p>
          <a:p>
            <a:pPr algn="l">
              <a:lnSpc>
                <a:spcPct val="112000"/>
              </a:lnSpc>
              <a:spcAft>
                <a:spcPts val="700"/>
              </a:spcAft>
            </a:pPr>
            <a:r>
              <a:rPr sz="1400" b="0">
                <a:solidFill>
                  <a:srgbClr val="EEF3F3"/>
                </a:solidFill>
                <a:latin typeface="Calibri"/>
              </a:rPr>
              <a:t>▪  Half-to-two-thirds fewer tokens read per turn.</a:t>
            </a:r>
          </a:p>
          <a:p>
            <a:pPr algn="l">
              <a:lnSpc>
                <a:spcPct val="112000"/>
              </a:lnSpc>
              <a:spcAft>
                <a:spcPts val="700"/>
              </a:spcAft>
            </a:pPr>
            <a:r>
              <a:rPr sz="1400" b="0">
                <a:solidFill>
                  <a:srgbClr val="EEF3F3"/>
                </a:solidFill>
                <a:latin typeface="Calibri"/>
              </a:rPr>
              <a:t>▪  Finite-window H100 replay: 2x target rate, +44% observed peak.</a:t>
            </a:r>
          </a:p>
          <a:p>
            <a:pPr algn="l">
              <a:lnSpc>
                <a:spcPct val="112000"/>
              </a:lnSpc>
              <a:spcAft>
                <a:spcPts val="700"/>
              </a:spcAft>
            </a:pPr>
            <a:r>
              <a:rPr sz="1400" b="0">
                <a:solidFill>
                  <a:srgbClr val="EEF3F3"/>
                </a:solidFill>
                <a:latin typeface="Calibri"/>
              </a:rPr>
              <a:t>▪  Cache-off advantage observed on H100; mechanism unestablished.</a:t>
            </a:r>
          </a:p>
          <a:p>
            <a:pPr algn="l">
              <a:lnSpc>
                <a:spcPct val="112000"/>
              </a:lnSpc>
              <a:spcAft>
                <a:spcPts val="700"/>
              </a:spcAft>
            </a:pPr>
            <a:r>
              <a:rPr sz="1400" b="0">
                <a:solidFill>
                  <a:srgbClr val="EEF3F3"/>
                </a:solidFill>
                <a:latin typeface="Calibri"/>
              </a:rPr>
              <a:t>▪  Quoted-price comparison corrected; J11 withdraws the H200 ceiling explanation.</a:t>
            </a:r>
          </a:p>
        </p:txBody>
      </p:sp>
      <p:sp>
        <p:nvSpPr>
          <p:cNvPr id="7" name="Rounded Rectangle 6"/>
          <p:cNvSpPr/>
          <p:nvPr/>
        </p:nvSpPr>
        <p:spPr>
          <a:xfrm>
            <a:off x="6263640" y="1965960"/>
            <a:ext cx="5257800" cy="3977639"/>
          </a:xfrm>
          <a:prstGeom prst="roundRect">
            <a:avLst>
              <a:gd name="adj" fmla="val 6000"/>
            </a:avLst>
          </a:prstGeom>
          <a:solidFill>
            <a:srgbClr val="141D21"/>
          </a:solidFill>
          <a:ln w="12700">
            <a:solidFill>
              <a:srgbClr val="5A4A2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37959" y="2194560"/>
            <a:ext cx="4709160" cy="3566160"/>
          </a:xfrm>
          <a:prstGeom prst="rect">
            <a:avLst/>
          </a:prstGeom>
          <a:noFill/>
        </p:spPr>
        <p:txBody>
          <a:bodyPr wrap="square" anchor="t">
            <a:spAutoFit/>
          </a:bodyPr>
          <a:lstStyle/>
          <a:p>
            <a:pPr algn="l">
              <a:lnSpc>
                <a:spcPct val="100000"/>
              </a:lnSpc>
              <a:spcAft>
                <a:spcPts val="1000"/>
              </a:spcAft>
            </a:pPr>
            <a:r>
              <a:rPr sz="1200" b="1">
                <a:solidFill>
                  <a:srgbClr val="E3B24C"/>
                </a:solidFill>
                <a:latin typeface="Consolas"/>
              </a:rPr>
              <a:t>NOT YET</a:t>
            </a:r>
          </a:p>
          <a:p>
            <a:pPr algn="l">
              <a:lnSpc>
                <a:spcPct val="112000"/>
              </a:lnSpc>
              <a:spcAft>
                <a:spcPts val="700"/>
              </a:spcAft>
            </a:pPr>
            <a:r>
              <a:rPr sz="1400" b="0">
                <a:solidFill>
                  <a:srgbClr val="EEF3F3"/>
                </a:solidFill>
                <a:latin typeface="Calibri"/>
              </a:rPr>
              <a:t>▪  Generalisation, sustained capacity and savings on unseen work.</a:t>
            </a:r>
          </a:p>
          <a:p>
            <a:pPr algn="l">
              <a:lnSpc>
                <a:spcPct val="112000"/>
              </a:lnSpc>
              <a:spcAft>
                <a:spcPts val="700"/>
              </a:spcAft>
            </a:pPr>
            <a:r>
              <a:rPr sz="1400" b="0">
                <a:solidFill>
                  <a:srgbClr val="EEF3F3"/>
                </a:solidFill>
                <a:latin typeface="Calibri"/>
              </a:rPr>
              <a:t>▪  Per-hardware tuning (the H200 ran an H100-tuned config; one regression at 16 sessions).</a:t>
            </a:r>
          </a:p>
          <a:p>
            <a:pPr algn="l">
              <a:lnSpc>
                <a:spcPct val="112000"/>
              </a:lnSpc>
              <a:spcAft>
                <a:spcPts val="700"/>
              </a:spcAft>
            </a:pPr>
            <a:r>
              <a:rPr sz="1400" b="0">
                <a:solidFill>
                  <a:srgbClr val="EEF3F3"/>
                </a:solidFill>
                <a:latin typeface="Calibri"/>
              </a:rPr>
              <a:t>▪  Rare-tool reach (left unscored by harness faults).</a:t>
            </a:r>
          </a:p>
          <a:p>
            <a:pPr algn="l">
              <a:lnSpc>
                <a:spcPct val="112000"/>
              </a:lnSpc>
              <a:spcAft>
                <a:spcPts val="700"/>
              </a:spcAft>
            </a:pPr>
            <a:r>
              <a:rPr sz="1400" b="0">
                <a:solidFill>
                  <a:srgbClr val="EEF3F3"/>
                </a:solidFill>
                <a:latin typeface="Calibri"/>
              </a:rPr>
              <a:t>▪  Audit guarantees that compressed rules still bind.</a:t>
            </a:r>
          </a:p>
        </p:txBody>
      </p:sp>
      <p:sp>
        <p:nvSpPr>
          <p:cNvPr id="9" name="TextBox 8"/>
          <p:cNvSpPr txBox="1"/>
          <p:nvPr/>
        </p:nvSpPr>
        <p:spPr>
          <a:xfrm>
            <a:off x="640080" y="6080760"/>
            <a:ext cx="10881360" cy="457200"/>
          </a:xfrm>
          <a:prstGeom prst="rect">
            <a:avLst/>
          </a:prstGeom>
          <a:noFill/>
        </p:spPr>
        <p:txBody>
          <a:bodyPr wrap="square" anchor="t">
            <a:spAutoFit/>
          </a:bodyPr>
          <a:lstStyle/>
          <a:p>
            <a:pPr algn="l">
              <a:lnSpc>
                <a:spcPct val="100000"/>
              </a:lnSpc>
              <a:spcAft>
                <a:spcPts val="0"/>
              </a:spcAft>
            </a:pPr>
            <a:r>
              <a:rPr sz="1200" b="0">
                <a:solidFill>
                  <a:srgbClr val="9FB2B6"/>
                </a:solidFill>
                <a:latin typeface="Calibri"/>
              </a:rPr>
              <a:t>An independent adversarial review of the whole program was run and folded into the writeup.</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365760"/>
          </a:xfrm>
          <a:prstGeom prst="rect">
            <a:avLst/>
          </a:prstGeom>
          <a:noFill/>
        </p:spPr>
        <p:txBody>
          <a:bodyPr wrap="square" anchor="t">
            <a:spAutoFit/>
          </a:bodyPr>
          <a:lstStyle/>
          <a:p>
            <a:pPr algn="l">
              <a:lnSpc>
                <a:spcPct val="100000"/>
              </a:lnSpc>
              <a:spcAft>
                <a:spcPts val="0"/>
              </a:spcAft>
            </a:pPr>
            <a:r>
              <a:rPr sz="1300" b="1">
                <a:solidFill>
                  <a:srgbClr val="3FB0C6"/>
                </a:solidFill>
                <a:latin typeface="Consolas"/>
              </a:rPr>
              <a:t>THE ASK</a:t>
            </a:r>
          </a:p>
        </p:txBody>
      </p:sp>
      <p:sp>
        <p:nvSpPr>
          <p:cNvPr id="4" name="TextBox 3"/>
          <p:cNvSpPr txBox="1"/>
          <p:nvPr/>
        </p:nvSpPr>
        <p:spPr>
          <a:xfrm>
            <a:off x="640080" y="841248"/>
            <a:ext cx="10881360" cy="1371600"/>
          </a:xfrm>
          <a:prstGeom prst="rect">
            <a:avLst/>
          </a:prstGeom>
          <a:noFill/>
        </p:spPr>
        <p:txBody>
          <a:bodyPr wrap="square" anchor="t">
            <a:spAutoFit/>
          </a:bodyPr>
          <a:lstStyle/>
          <a:p>
            <a:pPr algn="l">
              <a:lnSpc>
                <a:spcPct val="102000"/>
              </a:lnSpc>
              <a:spcAft>
                <a:spcPts val="0"/>
              </a:spcAft>
            </a:pPr>
            <a:r>
              <a:rPr sz="3400" b="1">
                <a:solidFill>
                  <a:srgbClr val="EEF3F3"/>
                </a:solidFill>
                <a:latin typeface="Georgia"/>
              </a:rPr>
              <a:t>From “real lever” to a number you can budget</a:t>
            </a:r>
          </a:p>
        </p:txBody>
      </p:sp>
      <p:sp>
        <p:nvSpPr>
          <p:cNvPr id="5" name="Rounded Rectangle 4"/>
          <p:cNvSpPr/>
          <p:nvPr/>
        </p:nvSpPr>
        <p:spPr>
          <a:xfrm>
            <a:off x="640080" y="2011680"/>
            <a:ext cx="3429000" cy="3108960"/>
          </a:xfrm>
          <a:prstGeom prst="roundRect">
            <a:avLst>
              <a:gd name="adj" fmla="val 6000"/>
            </a:avLst>
          </a:prstGeom>
          <a:solidFill>
            <a:srgbClr val="141D21"/>
          </a:solidFill>
          <a:ln w="12700">
            <a:solidFill>
              <a:srgbClr val="253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96112" y="2231136"/>
            <a:ext cx="2916936" cy="2670048"/>
          </a:xfrm>
          <a:prstGeom prst="rect">
            <a:avLst/>
          </a:prstGeom>
          <a:noFill/>
        </p:spPr>
        <p:txBody>
          <a:bodyPr wrap="square" anchor="t">
            <a:spAutoFit/>
          </a:bodyPr>
          <a:lstStyle/>
          <a:p>
            <a:pPr algn="l">
              <a:lnSpc>
                <a:spcPct val="120000"/>
              </a:lnSpc>
              <a:spcAft>
                <a:spcPts val="0"/>
              </a:spcAft>
            </a:pPr>
            <a:r>
              <a:rPr sz="1500" b="0">
                <a:solidFill>
                  <a:srgbClr val="EEF3F3"/>
                </a:solidFill>
                <a:latin typeface="Calibri"/>
              </a:rPr>
              <a:t>A held-out eval with paired, repeated runs. Is the parity real beyond our own tasks?</a:t>
            </a:r>
          </a:p>
        </p:txBody>
      </p:sp>
      <p:sp>
        <p:nvSpPr>
          <p:cNvPr id="7" name="Rounded Rectangle 6"/>
          <p:cNvSpPr/>
          <p:nvPr/>
        </p:nvSpPr>
        <p:spPr>
          <a:xfrm>
            <a:off x="4251960" y="2011680"/>
            <a:ext cx="3429000" cy="3108960"/>
          </a:xfrm>
          <a:prstGeom prst="roundRect">
            <a:avLst>
              <a:gd name="adj" fmla="val 6000"/>
            </a:avLst>
          </a:prstGeom>
          <a:solidFill>
            <a:srgbClr val="141D21"/>
          </a:solidFill>
          <a:ln w="12700">
            <a:solidFill>
              <a:srgbClr val="253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507992" y="2231136"/>
            <a:ext cx="2916936" cy="2670048"/>
          </a:xfrm>
          <a:prstGeom prst="rect">
            <a:avLst/>
          </a:prstGeom>
          <a:noFill/>
        </p:spPr>
        <p:txBody>
          <a:bodyPr wrap="square" anchor="t">
            <a:spAutoFit/>
          </a:bodyPr>
          <a:lstStyle/>
          <a:p>
            <a:pPr algn="l">
              <a:lnSpc>
                <a:spcPct val="120000"/>
              </a:lnSpc>
              <a:spcAft>
                <a:spcPts val="0"/>
              </a:spcAft>
            </a:pPr>
            <a:r>
              <a:rPr sz="1500" b="0">
                <a:solidFill>
                  <a:srgbClr val="EEF3F3"/>
                </a:solidFill>
                <a:latin typeface="Calibri"/>
              </a:rPr>
              <a:t>Tune both prompt versions on each GPU and re-measure with explicit admission limits. The current results are finite-window replay observations.</a:t>
            </a:r>
          </a:p>
        </p:txBody>
      </p:sp>
      <p:sp>
        <p:nvSpPr>
          <p:cNvPr id="9" name="Rounded Rectangle 8"/>
          <p:cNvSpPr/>
          <p:nvPr/>
        </p:nvSpPr>
        <p:spPr>
          <a:xfrm>
            <a:off x="7863840" y="2011680"/>
            <a:ext cx="3429000" cy="3108960"/>
          </a:xfrm>
          <a:prstGeom prst="roundRect">
            <a:avLst>
              <a:gd name="adj" fmla="val 6000"/>
            </a:avLst>
          </a:prstGeom>
          <a:solidFill>
            <a:srgbClr val="141D21"/>
          </a:solidFill>
          <a:ln w="12700">
            <a:solidFill>
              <a:srgbClr val="253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119871" y="2231136"/>
            <a:ext cx="2916936" cy="2670048"/>
          </a:xfrm>
          <a:prstGeom prst="rect">
            <a:avLst/>
          </a:prstGeom>
          <a:noFill/>
        </p:spPr>
        <p:txBody>
          <a:bodyPr wrap="square" anchor="t">
            <a:spAutoFit/>
          </a:bodyPr>
          <a:lstStyle/>
          <a:p>
            <a:pPr algn="l">
              <a:lnSpc>
                <a:spcPct val="120000"/>
              </a:lnSpc>
              <a:spcAft>
                <a:spcPts val="0"/>
              </a:spcAft>
            </a:pPr>
            <a:r>
              <a:rPr sz="1500" b="0">
                <a:solidFill>
                  <a:srgbClr val="EEF3F3"/>
                </a:solidFill>
                <a:latin typeface="Calibri"/>
              </a:rPr>
              <a:t>A guarded rollout with explicit rule-audit and write-target checks at the serving boundary.</a:t>
            </a:r>
          </a:p>
        </p:txBody>
      </p:sp>
      <p:sp>
        <p:nvSpPr>
          <p:cNvPr id="11" name="TextBox 10"/>
          <p:cNvSpPr txBox="1"/>
          <p:nvPr/>
        </p:nvSpPr>
        <p:spPr>
          <a:xfrm>
            <a:off x="640080" y="5486400"/>
            <a:ext cx="10881360" cy="640080"/>
          </a:xfrm>
          <a:prstGeom prst="rect">
            <a:avLst/>
          </a:prstGeom>
          <a:noFill/>
        </p:spPr>
        <p:txBody>
          <a:bodyPr wrap="square" anchor="t">
            <a:spAutoFit/>
          </a:bodyPr>
          <a:lstStyle/>
          <a:p>
            <a:pPr algn="l">
              <a:lnSpc>
                <a:spcPct val="100000"/>
              </a:lnSpc>
              <a:spcAft>
                <a:spcPts val="0"/>
              </a:spcAft>
            </a:pPr>
            <a:r>
              <a:rPr sz="1300" b="0">
                <a:solidFill>
                  <a:srgbClr val="9FB2B6"/>
                </a:solidFill>
                <a:latin typeface="Calibri"/>
              </a:rPr>
              <a:t>Validate quality and sustained performance before a pilot. J11 corrects one instrument defect; the other review findings remain open.</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365760"/>
          </a:xfrm>
          <a:prstGeom prst="rect">
            <a:avLst/>
          </a:prstGeom>
          <a:noFill/>
        </p:spPr>
        <p:txBody>
          <a:bodyPr wrap="square" anchor="t">
            <a:spAutoFit/>
          </a:bodyPr>
          <a:lstStyle/>
          <a:p>
            <a:pPr algn="l">
              <a:lnSpc>
                <a:spcPct val="100000"/>
              </a:lnSpc>
              <a:spcAft>
                <a:spcPts val="0"/>
              </a:spcAft>
            </a:pPr>
            <a:r>
              <a:rPr sz="1300" b="1">
                <a:solidFill>
                  <a:srgbClr val="3FB0C6"/>
                </a:solidFill>
                <a:latin typeface="Consolas"/>
              </a:rPr>
              <a:t>DECISION</a:t>
            </a:r>
          </a:p>
        </p:txBody>
      </p:sp>
      <p:sp>
        <p:nvSpPr>
          <p:cNvPr id="4" name="TextBox 3"/>
          <p:cNvSpPr txBox="1"/>
          <p:nvPr/>
        </p:nvSpPr>
        <p:spPr>
          <a:xfrm>
            <a:off x="640080" y="841248"/>
            <a:ext cx="10881360" cy="1371600"/>
          </a:xfrm>
          <a:prstGeom prst="rect">
            <a:avLst/>
          </a:prstGeom>
          <a:noFill/>
        </p:spPr>
        <p:txBody>
          <a:bodyPr wrap="square" anchor="t">
            <a:spAutoFit/>
          </a:bodyPr>
          <a:lstStyle/>
          <a:p>
            <a:pPr algn="l">
              <a:lnSpc>
                <a:spcPct val="102000"/>
              </a:lnSpc>
              <a:spcAft>
                <a:spcPts val="0"/>
              </a:spcAft>
            </a:pPr>
            <a:r>
              <a:rPr sz="3400" b="1">
                <a:solidFill>
                  <a:srgbClr val="EEF3F3"/>
                </a:solidFill>
                <a:latin typeface="Georgia"/>
              </a:rPr>
              <a:t>Validate the deployment case</a:t>
            </a:r>
          </a:p>
        </p:txBody>
      </p:sp>
      <p:sp>
        <p:nvSpPr>
          <p:cNvPr id="5" name="TextBox 4"/>
          <p:cNvSpPr txBox="1"/>
          <p:nvPr/>
        </p:nvSpPr>
        <p:spPr>
          <a:xfrm>
            <a:off x="640080" y="2103120"/>
            <a:ext cx="9601200" cy="1463040"/>
          </a:xfrm>
          <a:prstGeom prst="rect">
            <a:avLst/>
          </a:prstGeom>
          <a:noFill/>
        </p:spPr>
        <p:txBody>
          <a:bodyPr wrap="square" anchor="t">
            <a:spAutoFit/>
          </a:bodyPr>
          <a:lstStyle/>
          <a:p>
            <a:pPr algn="l">
              <a:lnSpc>
                <a:spcPct val="110000"/>
              </a:lnSpc>
              <a:spcAft>
                <a:spcPts val="0"/>
              </a:spcAft>
            </a:pPr>
            <a:r>
              <a:rPr sz="3000" b="1">
                <a:solidFill>
                  <a:srgbClr val="FFFFFF"/>
                </a:solidFill>
                <a:latin typeface="Georgia"/>
              </a:rPr>
              <a:t>Fund validation of quality, sustained performance and cost before a guarded pilot.</a:t>
            </a:r>
          </a:p>
        </p:txBody>
      </p:sp>
      <p:sp>
        <p:nvSpPr>
          <p:cNvPr id="6" name="TextBox 5"/>
          <p:cNvSpPr txBox="1"/>
          <p:nvPr/>
        </p:nvSpPr>
        <p:spPr>
          <a:xfrm>
            <a:off x="640080" y="3840480"/>
            <a:ext cx="10241280" cy="1280160"/>
          </a:xfrm>
          <a:prstGeom prst="rect">
            <a:avLst/>
          </a:prstGeom>
          <a:noFill/>
        </p:spPr>
        <p:txBody>
          <a:bodyPr wrap="square" anchor="t">
            <a:spAutoFit/>
          </a:bodyPr>
          <a:lstStyle/>
          <a:p>
            <a:pPr algn="l">
              <a:lnSpc>
                <a:spcPct val="125000"/>
              </a:lnSpc>
              <a:spcAft>
                <a:spcPts val="0"/>
              </a:spcAft>
            </a:pPr>
            <a:r>
              <a:rPr sz="1700" b="0">
                <a:solidFill>
                  <a:srgbClr val="9FB2B6"/>
                </a:solidFill>
                <a:latin typeface="Calibri"/>
              </a:rPr>
              <a:t>H100 replay recorded 2x the target rate passing the latency criterion and +44% observed peak throughput. J11 withdrew the residency explanation. The corrected cost comparison does not establish cheaper-card substitution. Those open questions determine the next experiment.</a:t>
            </a:r>
          </a:p>
        </p:txBody>
      </p:sp>
      <p:sp>
        <p:nvSpPr>
          <p:cNvPr id="7" name="TextBox 6"/>
          <p:cNvSpPr txBox="1"/>
          <p:nvPr/>
        </p:nvSpPr>
        <p:spPr>
          <a:xfrm>
            <a:off x="640080" y="5669280"/>
            <a:ext cx="10881360" cy="457200"/>
          </a:xfrm>
          <a:prstGeom prst="rect">
            <a:avLst/>
          </a:prstGeom>
          <a:noFill/>
        </p:spPr>
        <p:txBody>
          <a:bodyPr wrap="square" anchor="t">
            <a:spAutoFit/>
          </a:bodyPr>
          <a:lstStyle/>
          <a:p>
            <a:pPr algn="l">
              <a:lnSpc>
                <a:spcPct val="100000"/>
              </a:lnSpc>
              <a:spcAft>
                <a:spcPts val="0"/>
              </a:spcAft>
            </a:pPr>
            <a:r>
              <a:rPr sz="1200" b="0">
                <a:solidFill>
                  <a:srgbClr val="3FB0C6"/>
                </a:solidFill>
                <a:latin typeface="Consolas"/>
              </a:rPr>
              <a:t>GitHub: arunmenon/gisting-coding-agent  ·  weights &amp; data on Hugging Face (private)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E141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457200"/>
            <a:ext cx="10881360" cy="365760"/>
          </a:xfrm>
          <a:prstGeom prst="rect">
            <a:avLst/>
          </a:prstGeom>
          <a:noFill/>
        </p:spPr>
        <p:txBody>
          <a:bodyPr wrap="square" anchor="t">
            <a:spAutoFit/>
          </a:bodyPr>
          <a:lstStyle/>
          <a:p>
            <a:pPr algn="l">
              <a:lnSpc>
                <a:spcPct val="100000"/>
              </a:lnSpc>
              <a:spcAft>
                <a:spcPts val="0"/>
              </a:spcAft>
            </a:pPr>
            <a:r>
              <a:rPr sz="1300" b="1">
                <a:solidFill>
                  <a:srgbClr val="3FB0C6"/>
                </a:solidFill>
                <a:latin typeface="Consolas"/>
              </a:rPr>
              <a:t>APPENDIX · THE FAILURE WE CAUGHT</a:t>
            </a:r>
          </a:p>
        </p:txBody>
      </p:sp>
      <p:sp>
        <p:nvSpPr>
          <p:cNvPr id="4" name="TextBox 3"/>
          <p:cNvSpPr txBox="1"/>
          <p:nvPr/>
        </p:nvSpPr>
        <p:spPr>
          <a:xfrm>
            <a:off x="640080" y="841248"/>
            <a:ext cx="10881360" cy="1371600"/>
          </a:xfrm>
          <a:prstGeom prst="rect">
            <a:avLst/>
          </a:prstGeom>
          <a:noFill/>
        </p:spPr>
        <p:txBody>
          <a:bodyPr wrap="square" anchor="t">
            <a:spAutoFit/>
          </a:bodyPr>
          <a:lstStyle/>
          <a:p>
            <a:pPr algn="l">
              <a:lnSpc>
                <a:spcPct val="102000"/>
              </a:lnSpc>
              <a:spcAft>
                <a:spcPts val="0"/>
              </a:spcAft>
            </a:pPr>
            <a:r>
              <a:rPr sz="3400" b="1">
                <a:solidFill>
                  <a:srgbClr val="EEF3F3"/>
                </a:solidFill>
                <a:latin typeface="Georgia"/>
              </a:rPr>
              <a:t>The failure that mattered, and the fix</a:t>
            </a:r>
          </a:p>
        </p:txBody>
      </p:sp>
      <p:sp>
        <p:nvSpPr>
          <p:cNvPr id="5" name="TextBox 4"/>
          <p:cNvSpPr txBox="1"/>
          <p:nvPr/>
        </p:nvSpPr>
        <p:spPr>
          <a:xfrm>
            <a:off x="640080" y="2331720"/>
            <a:ext cx="1280160" cy="457200"/>
          </a:xfrm>
          <a:prstGeom prst="rect">
            <a:avLst/>
          </a:prstGeom>
          <a:noFill/>
        </p:spPr>
        <p:txBody>
          <a:bodyPr wrap="square" anchor="t">
            <a:spAutoFit/>
          </a:bodyPr>
          <a:lstStyle/>
          <a:p>
            <a:pPr algn="l">
              <a:lnSpc>
                <a:spcPct val="100000"/>
              </a:lnSpc>
              <a:spcAft>
                <a:spcPts val="0"/>
              </a:spcAft>
            </a:pPr>
            <a:r>
              <a:rPr sz="1300" b="1">
                <a:solidFill>
                  <a:srgbClr val="E3B24C"/>
                </a:solidFill>
                <a:latin typeface="Consolas"/>
              </a:rPr>
              <a:t>BEFORE</a:t>
            </a:r>
          </a:p>
        </p:txBody>
      </p:sp>
      <p:sp>
        <p:nvSpPr>
          <p:cNvPr id="6" name="Rounded Rectangle 5"/>
          <p:cNvSpPr/>
          <p:nvPr/>
        </p:nvSpPr>
        <p:spPr>
          <a:xfrm>
            <a:off x="2011680" y="2194560"/>
            <a:ext cx="3931920" cy="749808"/>
          </a:xfrm>
          <a:prstGeom prst="roundRect">
            <a:avLst>
              <a:gd name="adj" fmla="val 6000"/>
            </a:avLst>
          </a:prstGeom>
          <a:solidFill>
            <a:srgbClr val="141D21"/>
          </a:solidFill>
          <a:ln w="12700">
            <a:solidFill>
              <a:srgbClr val="5A3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194560" y="2194560"/>
            <a:ext cx="3566160" cy="749808"/>
          </a:xfrm>
          <a:prstGeom prst="rect">
            <a:avLst/>
          </a:prstGeom>
          <a:noFill/>
        </p:spPr>
        <p:txBody>
          <a:bodyPr wrap="square" anchor="ctr">
            <a:spAutoFit/>
          </a:bodyPr>
          <a:lstStyle/>
          <a:p>
            <a:pPr algn="l">
              <a:lnSpc>
                <a:spcPct val="105000"/>
              </a:lnSpc>
              <a:spcAft>
                <a:spcPts val="0"/>
              </a:spcAft>
            </a:pPr>
            <a:r>
              <a:rPr sz="1300" b="0">
                <a:solidFill>
                  <a:srgbClr val="C39BE0"/>
                </a:solidFill>
                <a:latin typeface="Consolas"/>
              </a:rPr>
              <a:t>gist: rules + …/&lt;session-id&gt;/</a:t>
            </a:r>
          </a:p>
        </p:txBody>
      </p:sp>
      <p:sp>
        <p:nvSpPr>
          <p:cNvPr id="8" name="TextBox 7"/>
          <p:cNvSpPr txBox="1"/>
          <p:nvPr/>
        </p:nvSpPr>
        <p:spPr>
          <a:xfrm>
            <a:off x="6035040" y="2194560"/>
            <a:ext cx="457200" cy="749808"/>
          </a:xfrm>
          <a:prstGeom prst="rect">
            <a:avLst/>
          </a:prstGeom>
          <a:noFill/>
        </p:spPr>
        <p:txBody>
          <a:bodyPr wrap="square" anchor="ctr">
            <a:spAutoFit/>
          </a:bodyPr>
          <a:lstStyle/>
          <a:p>
            <a:pPr algn="ctr">
              <a:lnSpc>
                <a:spcPct val="100000"/>
              </a:lnSpc>
              <a:spcAft>
                <a:spcPts val="0"/>
              </a:spcAft>
            </a:pPr>
            <a:r>
              <a:rPr sz="2000" b="1">
                <a:solidFill>
                  <a:srgbClr val="3FB0C6"/>
                </a:solidFill>
                <a:latin typeface="Calibri"/>
              </a:rPr>
              <a:t>→</a:t>
            </a:r>
          </a:p>
        </p:txBody>
      </p:sp>
      <p:sp>
        <p:nvSpPr>
          <p:cNvPr id="9" name="Rounded Rectangle 8"/>
          <p:cNvSpPr/>
          <p:nvPr/>
        </p:nvSpPr>
        <p:spPr>
          <a:xfrm>
            <a:off x="6583680" y="2194560"/>
            <a:ext cx="4663440" cy="749808"/>
          </a:xfrm>
          <a:prstGeom prst="roundRect">
            <a:avLst>
              <a:gd name="adj" fmla="val 6000"/>
            </a:avLst>
          </a:prstGeom>
          <a:solidFill>
            <a:srgbClr val="141D21"/>
          </a:solidFill>
          <a:ln w="12700">
            <a:solidFill>
              <a:srgbClr val="6E3A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766560" y="2194560"/>
            <a:ext cx="4297679" cy="749808"/>
          </a:xfrm>
          <a:prstGeom prst="rect">
            <a:avLst/>
          </a:prstGeom>
          <a:noFill/>
        </p:spPr>
        <p:txBody>
          <a:bodyPr wrap="square" anchor="ctr">
            <a:spAutoFit/>
          </a:bodyPr>
          <a:lstStyle/>
          <a:p>
            <a:pPr algn="l">
              <a:lnSpc>
                <a:spcPct val="105000"/>
              </a:lnSpc>
              <a:spcAft>
                <a:spcPts val="0"/>
              </a:spcAft>
            </a:pPr>
            <a:r>
              <a:rPr sz="1300" b="0">
                <a:solidFill>
                  <a:srgbClr val="E79191"/>
                </a:solidFill>
                <a:latin typeface="Consolas"/>
              </a:rPr>
              <a:t>writes to an invented directory   ×</a:t>
            </a:r>
          </a:p>
        </p:txBody>
      </p:sp>
      <p:sp>
        <p:nvSpPr>
          <p:cNvPr id="11" name="TextBox 10"/>
          <p:cNvSpPr txBox="1"/>
          <p:nvPr/>
        </p:nvSpPr>
        <p:spPr>
          <a:xfrm>
            <a:off x="640080" y="3429000"/>
            <a:ext cx="1280160" cy="457200"/>
          </a:xfrm>
          <a:prstGeom prst="rect">
            <a:avLst/>
          </a:prstGeom>
          <a:noFill/>
        </p:spPr>
        <p:txBody>
          <a:bodyPr wrap="square" anchor="t">
            <a:spAutoFit/>
          </a:bodyPr>
          <a:lstStyle/>
          <a:p>
            <a:pPr algn="l">
              <a:lnSpc>
                <a:spcPct val="100000"/>
              </a:lnSpc>
              <a:spcAft>
                <a:spcPts val="0"/>
              </a:spcAft>
            </a:pPr>
            <a:r>
              <a:rPr sz="1300" b="1">
                <a:solidFill>
                  <a:srgbClr val="57C08A"/>
                </a:solidFill>
                <a:latin typeface="Consolas"/>
              </a:rPr>
              <a:t>AFTER</a:t>
            </a:r>
          </a:p>
        </p:txBody>
      </p:sp>
      <p:sp>
        <p:nvSpPr>
          <p:cNvPr id="12" name="Rounded Rectangle 11"/>
          <p:cNvSpPr/>
          <p:nvPr/>
        </p:nvSpPr>
        <p:spPr>
          <a:xfrm>
            <a:off x="2011680" y="3291840"/>
            <a:ext cx="2103120" cy="749808"/>
          </a:xfrm>
          <a:prstGeom prst="roundRect">
            <a:avLst>
              <a:gd name="adj" fmla="val 6000"/>
            </a:avLst>
          </a:prstGeom>
          <a:solidFill>
            <a:srgbClr val="141D21"/>
          </a:solidFill>
          <a:ln w="12700">
            <a:solidFill>
              <a:srgbClr val="5A3F6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94560" y="3291840"/>
            <a:ext cx="1737360" cy="749808"/>
          </a:xfrm>
          <a:prstGeom prst="rect">
            <a:avLst/>
          </a:prstGeom>
          <a:noFill/>
        </p:spPr>
        <p:txBody>
          <a:bodyPr wrap="square" anchor="ctr">
            <a:spAutoFit/>
          </a:bodyPr>
          <a:lstStyle/>
          <a:p>
            <a:pPr algn="l">
              <a:lnSpc>
                <a:spcPct val="105000"/>
              </a:lnSpc>
              <a:spcAft>
                <a:spcPts val="0"/>
              </a:spcAft>
            </a:pPr>
            <a:r>
              <a:rPr sz="1300" b="0">
                <a:solidFill>
                  <a:srgbClr val="C39BE0"/>
                </a:solidFill>
                <a:latin typeface="Consolas"/>
              </a:rPr>
              <a:t>gist: rules</a:t>
            </a:r>
          </a:p>
        </p:txBody>
      </p:sp>
      <p:sp>
        <p:nvSpPr>
          <p:cNvPr id="14" name="TextBox 13"/>
          <p:cNvSpPr txBox="1"/>
          <p:nvPr/>
        </p:nvSpPr>
        <p:spPr>
          <a:xfrm>
            <a:off x="4160520" y="3291840"/>
            <a:ext cx="365760" cy="749808"/>
          </a:xfrm>
          <a:prstGeom prst="rect">
            <a:avLst/>
          </a:prstGeom>
          <a:noFill/>
        </p:spPr>
        <p:txBody>
          <a:bodyPr wrap="square" anchor="ctr">
            <a:spAutoFit/>
          </a:bodyPr>
          <a:lstStyle/>
          <a:p>
            <a:pPr algn="ctr">
              <a:lnSpc>
                <a:spcPct val="100000"/>
              </a:lnSpc>
              <a:spcAft>
                <a:spcPts val="0"/>
              </a:spcAft>
            </a:pPr>
            <a:r>
              <a:rPr sz="2000" b="1">
                <a:solidFill>
                  <a:srgbClr val="9FB2B6"/>
                </a:solidFill>
                <a:latin typeface="Calibri"/>
              </a:rPr>
              <a:t>+</a:t>
            </a:r>
          </a:p>
        </p:txBody>
      </p:sp>
      <p:sp>
        <p:nvSpPr>
          <p:cNvPr id="15" name="Rounded Rectangle 14"/>
          <p:cNvSpPr/>
          <p:nvPr/>
        </p:nvSpPr>
        <p:spPr>
          <a:xfrm>
            <a:off x="4572000" y="3291840"/>
            <a:ext cx="3108960" cy="749808"/>
          </a:xfrm>
          <a:prstGeom prst="roundRect">
            <a:avLst>
              <a:gd name="adj" fmla="val 6000"/>
            </a:avLst>
          </a:prstGeom>
          <a:solidFill>
            <a:srgbClr val="141D21"/>
          </a:solidFill>
          <a:ln w="12700">
            <a:solidFill>
              <a:srgbClr val="25333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754880" y="3291840"/>
            <a:ext cx="2743200" cy="749808"/>
          </a:xfrm>
          <a:prstGeom prst="rect">
            <a:avLst/>
          </a:prstGeom>
          <a:noFill/>
        </p:spPr>
        <p:txBody>
          <a:bodyPr wrap="square" anchor="ctr">
            <a:spAutoFit/>
          </a:bodyPr>
          <a:lstStyle/>
          <a:p>
            <a:pPr algn="l">
              <a:lnSpc>
                <a:spcPct val="105000"/>
              </a:lnSpc>
              <a:spcAft>
                <a:spcPts val="0"/>
              </a:spcAft>
            </a:pPr>
            <a:r>
              <a:rPr sz="1300" b="0">
                <a:solidFill>
                  <a:srgbClr val="EEF3F3"/>
                </a:solidFill>
                <a:latin typeface="Consolas"/>
              </a:rPr>
              <a:t>raw: session path, date, model</a:t>
            </a:r>
          </a:p>
        </p:txBody>
      </p:sp>
      <p:sp>
        <p:nvSpPr>
          <p:cNvPr id="17" name="TextBox 16"/>
          <p:cNvSpPr txBox="1"/>
          <p:nvPr/>
        </p:nvSpPr>
        <p:spPr>
          <a:xfrm>
            <a:off x="7772400" y="3291840"/>
            <a:ext cx="457200" cy="749808"/>
          </a:xfrm>
          <a:prstGeom prst="rect">
            <a:avLst/>
          </a:prstGeom>
          <a:noFill/>
        </p:spPr>
        <p:txBody>
          <a:bodyPr wrap="square" anchor="ctr">
            <a:spAutoFit/>
          </a:bodyPr>
          <a:lstStyle/>
          <a:p>
            <a:pPr algn="ctr">
              <a:lnSpc>
                <a:spcPct val="100000"/>
              </a:lnSpc>
              <a:spcAft>
                <a:spcPts val="0"/>
              </a:spcAft>
            </a:pPr>
            <a:r>
              <a:rPr sz="2000" b="1">
                <a:solidFill>
                  <a:srgbClr val="3FB0C6"/>
                </a:solidFill>
                <a:latin typeface="Calibri"/>
              </a:rPr>
              <a:t>→</a:t>
            </a:r>
          </a:p>
        </p:txBody>
      </p:sp>
      <p:sp>
        <p:nvSpPr>
          <p:cNvPr id="18" name="Rounded Rectangle 17"/>
          <p:cNvSpPr/>
          <p:nvPr/>
        </p:nvSpPr>
        <p:spPr>
          <a:xfrm>
            <a:off x="8321040" y="3291840"/>
            <a:ext cx="2926080" cy="749808"/>
          </a:xfrm>
          <a:prstGeom prst="roundRect">
            <a:avLst>
              <a:gd name="adj" fmla="val 6000"/>
            </a:avLst>
          </a:prstGeom>
          <a:solidFill>
            <a:srgbClr val="141D21"/>
          </a:solidFill>
          <a:ln w="12700">
            <a:solidFill>
              <a:srgbClr val="2C504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19" y="3291840"/>
            <a:ext cx="2560320" cy="749808"/>
          </a:xfrm>
          <a:prstGeom prst="rect">
            <a:avLst/>
          </a:prstGeom>
          <a:noFill/>
        </p:spPr>
        <p:txBody>
          <a:bodyPr wrap="square" anchor="ctr">
            <a:spAutoFit/>
          </a:bodyPr>
          <a:lstStyle/>
          <a:p>
            <a:pPr algn="l">
              <a:lnSpc>
                <a:spcPct val="105000"/>
              </a:lnSpc>
              <a:spcAft>
                <a:spcPts val="0"/>
              </a:spcAft>
            </a:pPr>
            <a:r>
              <a:rPr sz="1300" b="0">
                <a:solidFill>
                  <a:srgbClr val="57C08A"/>
                </a:solidFill>
                <a:latin typeface="Consolas"/>
              </a:rPr>
              <a:t>writes correctly   ✓</a:t>
            </a:r>
          </a:p>
        </p:txBody>
      </p:sp>
      <p:sp>
        <p:nvSpPr>
          <p:cNvPr id="20" name="TextBox 19"/>
          <p:cNvSpPr txBox="1"/>
          <p:nvPr/>
        </p:nvSpPr>
        <p:spPr>
          <a:xfrm>
            <a:off x="640080" y="4526280"/>
            <a:ext cx="10881360" cy="731520"/>
          </a:xfrm>
          <a:prstGeom prst="rect">
            <a:avLst/>
          </a:prstGeom>
          <a:noFill/>
        </p:spPr>
        <p:txBody>
          <a:bodyPr wrap="square" anchor="t">
            <a:spAutoFit/>
          </a:bodyPr>
          <a:lstStyle/>
          <a:p>
            <a:pPr algn="l">
              <a:lnSpc>
                <a:spcPct val="120000"/>
              </a:lnSpc>
              <a:spcAft>
                <a:spcPts val="0"/>
              </a:spcAft>
            </a:pPr>
            <a:r>
              <a:rPr sz="1800" b="0">
                <a:solidFill>
                  <a:srgbClr val="EEF3F3"/>
                </a:solidFill>
                <a:latin typeface="Calibri"/>
              </a:rPr>
              <a:t>Keeping session-specific values raw restored the score 11/16 → 16/16 at 8:1.</a:t>
            </a:r>
          </a:p>
        </p:txBody>
      </p:sp>
      <p:sp>
        <p:nvSpPr>
          <p:cNvPr id="21" name="TextBox 20"/>
          <p:cNvSpPr txBox="1"/>
          <p:nvPr/>
        </p:nvSpPr>
        <p:spPr>
          <a:xfrm>
            <a:off x="640080" y="5440680"/>
            <a:ext cx="10881360" cy="548640"/>
          </a:xfrm>
          <a:prstGeom prst="rect">
            <a:avLst/>
          </a:prstGeom>
          <a:noFill/>
        </p:spPr>
        <p:txBody>
          <a:bodyPr wrap="square" anchor="t">
            <a:spAutoFit/>
          </a:bodyPr>
          <a:lstStyle/>
          <a:p>
            <a:pPr algn="l">
              <a:lnSpc>
                <a:spcPct val="100000"/>
              </a:lnSpc>
              <a:spcAft>
                <a:spcPts val="0"/>
              </a:spcAft>
            </a:pPr>
            <a:r>
              <a:rPr sz="1300" b="0">
                <a:solidFill>
                  <a:srgbClr val="9FB2B6"/>
                </a:solidFill>
                <a:latin typeface="Calibri"/>
              </a:rPr>
              <a:t>The productionization gotcha every deployment will hit, and evidence we were looking hard, not cherry-picking.</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